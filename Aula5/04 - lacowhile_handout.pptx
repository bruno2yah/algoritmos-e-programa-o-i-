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63" d="100"/>
          <a:sy n="163" d="100"/>
        </p:scale>
        <p:origin x="874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HERME DUARTE DE BARROS" userId="a2c79776-eeef-42d8-b602-835425da4449" providerId="ADAL" clId="{846CE302-9080-4FC3-99C8-DF5FB05FE98D}"/>
    <pc:docChg chg="modSld">
      <pc:chgData name="GUILHERME DUARTE DE BARROS" userId="a2c79776-eeef-42d8-b602-835425da4449" providerId="ADAL" clId="{846CE302-9080-4FC3-99C8-DF5FB05FE98D}" dt="2025-02-04T20:57:55.117" v="14" actId="20577"/>
      <pc:docMkLst>
        <pc:docMk/>
      </pc:docMkLst>
      <pc:sldChg chg="modSp mod">
        <pc:chgData name="GUILHERME DUARTE DE BARROS" userId="a2c79776-eeef-42d8-b602-835425da4449" providerId="ADAL" clId="{846CE302-9080-4FC3-99C8-DF5FB05FE98D}" dt="2025-02-04T20:57:43.848" v="12" actId="20577"/>
        <pc:sldMkLst>
          <pc:docMk/>
          <pc:sldMk cId="0" sldId="256"/>
        </pc:sldMkLst>
        <pc:spChg chg="mod">
          <ac:chgData name="GUILHERME DUARTE DE BARROS" userId="a2c79776-eeef-42d8-b602-835425da4449" providerId="ADAL" clId="{846CE302-9080-4FC3-99C8-DF5FB05FE98D}" dt="2025-02-04T20:57:43.848" v="12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GUILHERME DUARTE DE BARROS" userId="a2c79776-eeef-42d8-b602-835425da4449" providerId="ADAL" clId="{846CE302-9080-4FC3-99C8-DF5FB05FE98D}" dt="2025-02-04T20:57:55.117" v="14" actId="20577"/>
        <pc:sldMkLst>
          <pc:docMk/>
          <pc:sldMk cId="0" sldId="307"/>
        </pc:sldMkLst>
        <pc:spChg chg="mod">
          <ac:chgData name="GUILHERME DUARTE DE BARROS" userId="a2c79776-eeef-42d8-b602-835425da4449" providerId="ADAL" clId="{846CE302-9080-4FC3-99C8-DF5FB05FE98D}" dt="2025-02-04T20:57:55.117" v="14" actId="20577"/>
          <ac:spMkLst>
            <pc:docMk/>
            <pc:sldMk cId="0" sldId="30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520200" cy="3239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863"/>
            <a:ext cx="3190652" cy="266223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62135" y="1283646"/>
            <a:ext cx="2531745" cy="340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3901" y="2070217"/>
            <a:ext cx="2334895" cy="4565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61670" y="623872"/>
            <a:ext cx="2265045" cy="21609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-12"/>
            <a:ext cx="5760085" cy="76200"/>
          </a:xfrm>
          <a:custGeom>
            <a:avLst/>
            <a:gdLst/>
            <a:ahLst/>
            <a:cxnLst/>
            <a:rect l="l" t="t" r="r" b="b"/>
            <a:pathLst>
              <a:path w="5760085" h="76200">
                <a:moveTo>
                  <a:pt x="5759996" y="0"/>
                </a:moveTo>
                <a:lnTo>
                  <a:pt x="0" y="0"/>
                </a:lnTo>
                <a:lnTo>
                  <a:pt x="0" y="75920"/>
                </a:lnTo>
                <a:lnTo>
                  <a:pt x="5759996" y="7592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137868"/>
            <a:ext cx="385381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0AC8C"/>
                </a:solidFill>
                <a:latin typeface="Palatino Linotype"/>
                <a:cs typeface="Palatino Linotyp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608" y="1052611"/>
            <a:ext cx="2693035" cy="180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960372" y="3017710"/>
            <a:ext cx="1845056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51640" y="3027340"/>
            <a:ext cx="219341" cy="189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009380"/>
                </a:solidFill>
                <a:latin typeface="Calibri"/>
                <a:cs typeface="Calibri"/>
              </a:defRPr>
            </a:lvl1pPr>
          </a:lstStyle>
          <a:p>
            <a:pPr marL="102870">
              <a:lnSpc>
                <a:spcPct val="100000"/>
              </a:lnSpc>
              <a:spcBef>
                <a:spcPts val="120"/>
              </a:spcBef>
            </a:pPr>
            <a:fld id="{81D60167-4931-47E6-BA6A-407CBD079E47}" type="slidenum">
              <a:rPr spc="-50" dirty="0"/>
              <a:t>‹nº›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slide" Target="slide45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39.xml"/><Relationship Id="rId5" Type="http://schemas.openxmlformats.org/officeDocument/2006/relationships/slide" Target="slide18.xml"/><Relationship Id="rId4" Type="http://schemas.openxmlformats.org/officeDocument/2006/relationships/slide" Target="slide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3622255" cy="323999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87908" y="1557316"/>
            <a:ext cx="4650740" cy="1195199"/>
          </a:xfrm>
          <a:prstGeom prst="rect">
            <a:avLst/>
          </a:prstGeom>
        </p:spPr>
        <p:txBody>
          <a:bodyPr vert="horz" wrap="square" lIns="0" tIns="1320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sz="2050" b="1" dirty="0">
                <a:solidFill>
                  <a:srgbClr val="FFFFFF"/>
                </a:solidFill>
                <a:latin typeface="Palatino Linotype"/>
                <a:cs typeface="Palatino Linotype"/>
              </a:rPr>
              <a:t>Estrutura</a:t>
            </a:r>
            <a:r>
              <a:rPr sz="2050" b="1" spc="-1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2050" b="1" dirty="0">
                <a:solidFill>
                  <a:srgbClr val="FFFFFF"/>
                </a:solidFill>
                <a:latin typeface="Palatino Linotype"/>
                <a:cs typeface="Palatino Linotype"/>
              </a:rPr>
              <a:t>de Repetição:</a:t>
            </a:r>
            <a:r>
              <a:rPr sz="2050" b="1" spc="95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2050" b="1" spc="-25" dirty="0">
                <a:solidFill>
                  <a:srgbClr val="FFFFFF"/>
                </a:solidFill>
                <a:latin typeface="Palatino Linotype"/>
                <a:cs typeface="Palatino Linotype"/>
              </a:rPr>
              <a:t>while/do</a:t>
            </a:r>
            <a:r>
              <a:rPr sz="2050" b="1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2050" b="1" spc="-10" dirty="0">
                <a:solidFill>
                  <a:srgbClr val="FFFFFF"/>
                </a:solidFill>
                <a:latin typeface="Palatino Linotype"/>
                <a:cs typeface="Palatino Linotype"/>
              </a:rPr>
              <a:t>while</a:t>
            </a:r>
            <a:endParaRPr sz="2050" dirty="0">
              <a:latin typeface="Palatino Linotype"/>
              <a:cs typeface="Palatino Linotype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700" b="1" dirty="0">
                <a:solidFill>
                  <a:srgbClr val="FFFFFF"/>
                </a:solidFill>
                <a:latin typeface="Palatino Linotype"/>
                <a:cs typeface="Palatino Linotype"/>
              </a:rPr>
              <a:t>Programação</a:t>
            </a:r>
            <a:r>
              <a:rPr sz="1700" b="1" spc="-10" dirty="0">
                <a:solidFill>
                  <a:srgbClr val="FFFFFF"/>
                </a:solidFill>
                <a:latin typeface="Palatino Linotype"/>
                <a:cs typeface="Palatino Linotype"/>
              </a:rPr>
              <a:t> </a:t>
            </a:r>
            <a:r>
              <a:rPr sz="1700" b="1" dirty="0">
                <a:solidFill>
                  <a:srgbClr val="FFFFFF"/>
                </a:solidFill>
                <a:latin typeface="Palatino Linotype"/>
                <a:cs typeface="Palatino Linotype"/>
              </a:rPr>
              <a:t>de</a:t>
            </a:r>
            <a:r>
              <a:rPr sz="1700" b="1" spc="-10" dirty="0">
                <a:solidFill>
                  <a:srgbClr val="FFFFFF"/>
                </a:solidFill>
                <a:latin typeface="Palatino Linotype"/>
                <a:cs typeface="Palatino Linotype"/>
              </a:rPr>
              <a:t> Soluções Computacionais</a:t>
            </a:r>
            <a:endParaRPr sz="1700" dirty="0">
              <a:latin typeface="Palatino Linotype"/>
              <a:cs typeface="Palatino Linotype"/>
            </a:endParaRPr>
          </a:p>
          <a:p>
            <a:pPr marL="12700" marR="2040255">
              <a:spcBef>
                <a:spcPts val="1335"/>
              </a:spcBef>
            </a:pPr>
            <a:r>
              <a:rPr lang="pt-BR" sz="1400" spc="-35" dirty="0">
                <a:solidFill>
                  <a:srgbClr val="FFFFFF"/>
                </a:solidFill>
                <a:latin typeface="Arial"/>
                <a:cs typeface="Arial"/>
              </a:rPr>
              <a:t>Dr.</a:t>
            </a:r>
            <a:r>
              <a:rPr lang="pt-BR" sz="140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pt-BR" sz="1400" spc="-40" dirty="0">
                <a:solidFill>
                  <a:srgbClr val="FFFFFF"/>
                </a:solidFill>
                <a:latin typeface="Arial"/>
                <a:cs typeface="Arial"/>
              </a:rPr>
              <a:t>Guilherme Duarte de Barros</a:t>
            </a:r>
            <a:endParaRPr lang="pt-BR" sz="1400" spc="-1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285" y="597240"/>
            <a:ext cx="2857500" cy="20802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8415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latin typeface="Palatino Linotype"/>
                <a:cs typeface="Palatino Linotype"/>
                <a:hlinkClick r:id="rId2" action="ppaction://hlinksldjump"/>
              </a:rPr>
              <a:t>Relembrando:</a:t>
            </a:r>
            <a:r>
              <a:rPr sz="1400" b="1" spc="70" dirty="0"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1400" b="1" spc="-10" dirty="0">
                <a:latin typeface="Palatino Linotype"/>
                <a:cs typeface="Palatino Linotype"/>
                <a:hlinkClick r:id="rId2" action="ppaction://hlinksldjump"/>
              </a:rPr>
              <a:t>Desvio</a:t>
            </a:r>
            <a:r>
              <a:rPr sz="1400" b="1" spc="15" dirty="0">
                <a:latin typeface="Palatino Linotype"/>
                <a:cs typeface="Palatino Linotype"/>
                <a:hlinkClick r:id="rId2" action="ppaction://hlinksldjump"/>
              </a:rPr>
              <a:t> </a:t>
            </a:r>
            <a:r>
              <a:rPr sz="1400" b="1" spc="-10" dirty="0">
                <a:latin typeface="Palatino Linotype"/>
                <a:cs typeface="Palatino Linotype"/>
                <a:hlinkClick r:id="rId2" action="ppaction://hlinksldjump"/>
              </a:rPr>
              <a:t>Condicional</a:t>
            </a:r>
            <a:endParaRPr sz="1400">
              <a:latin typeface="Palatino Linotype"/>
              <a:cs typeface="Palatino Linotype"/>
            </a:endParaRPr>
          </a:p>
          <a:p>
            <a:pPr marL="12700" marR="923925" indent="5715">
              <a:lnSpc>
                <a:spcPct val="172100"/>
              </a:lnSpc>
            </a:pPr>
            <a:r>
              <a:rPr sz="1400" b="1" dirty="0">
                <a:latin typeface="Palatino Linotype"/>
                <a:cs typeface="Palatino Linotype"/>
                <a:hlinkClick r:id="rId3" action="ppaction://hlinksldjump"/>
              </a:rPr>
              <a:t>Estruturas</a:t>
            </a:r>
            <a:r>
              <a:rPr sz="1400" b="1" spc="110" dirty="0"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1400" b="1" dirty="0">
                <a:latin typeface="Palatino Linotype"/>
                <a:cs typeface="Palatino Linotype"/>
                <a:hlinkClick r:id="rId3" action="ppaction://hlinksldjump"/>
              </a:rPr>
              <a:t>de</a:t>
            </a:r>
            <a:r>
              <a:rPr sz="1400" b="1" spc="110" dirty="0">
                <a:latin typeface="Palatino Linotype"/>
                <a:cs typeface="Palatino Linotype"/>
                <a:hlinkClick r:id="rId3" action="ppaction://hlinksldjump"/>
              </a:rPr>
              <a:t> </a:t>
            </a:r>
            <a:r>
              <a:rPr sz="1400" b="1" spc="-10" dirty="0">
                <a:latin typeface="Palatino Linotype"/>
                <a:cs typeface="Palatino Linotype"/>
                <a:hlinkClick r:id="rId3" action="ppaction://hlinksldjump"/>
              </a:rPr>
              <a:t>repetição</a:t>
            </a:r>
            <a:r>
              <a:rPr sz="1400" b="1" spc="-10" dirty="0">
                <a:latin typeface="Palatino Linotype"/>
                <a:cs typeface="Palatino Linotype"/>
              </a:rPr>
              <a:t> </a:t>
            </a:r>
            <a:r>
              <a:rPr sz="1400" b="1" dirty="0">
                <a:latin typeface="Palatino Linotype"/>
                <a:cs typeface="Palatino Linotype"/>
                <a:hlinkClick r:id="rId4" action="ppaction://hlinksldjump"/>
              </a:rPr>
              <a:t>Tipos</a:t>
            </a:r>
            <a:r>
              <a:rPr sz="1400" b="1" spc="-25" dirty="0">
                <a:latin typeface="Palatino Linotype"/>
                <a:cs typeface="Palatino Linotype"/>
                <a:hlinkClick r:id="rId4" action="ppaction://hlinksldjump"/>
              </a:rPr>
              <a:t> </a:t>
            </a:r>
            <a:r>
              <a:rPr sz="1400" b="1" dirty="0">
                <a:latin typeface="Palatino Linotype"/>
                <a:cs typeface="Palatino Linotype"/>
                <a:hlinkClick r:id="rId4" action="ppaction://hlinksldjump"/>
              </a:rPr>
              <a:t>de</a:t>
            </a:r>
            <a:r>
              <a:rPr sz="1400" b="1" spc="-25" dirty="0">
                <a:latin typeface="Palatino Linotype"/>
                <a:cs typeface="Palatino Linotype"/>
                <a:hlinkClick r:id="rId4" action="ppaction://hlinksldjump"/>
              </a:rPr>
              <a:t> </a:t>
            </a:r>
            <a:r>
              <a:rPr sz="1400" b="1" spc="-10" dirty="0">
                <a:latin typeface="Palatino Linotype"/>
                <a:cs typeface="Palatino Linotype"/>
                <a:hlinkClick r:id="rId4" action="ppaction://hlinksldjump"/>
              </a:rPr>
              <a:t>Repetições</a:t>
            </a:r>
            <a:r>
              <a:rPr sz="1400" b="1" spc="-10" dirty="0">
                <a:latin typeface="Palatino Linotype"/>
                <a:cs typeface="Palatino Linotype"/>
              </a:rPr>
              <a:t> </a:t>
            </a:r>
            <a:r>
              <a:rPr sz="1400" b="1" dirty="0">
                <a:latin typeface="Palatino Linotype"/>
                <a:cs typeface="Palatino Linotype"/>
                <a:hlinkClick r:id="rId5" action="ppaction://hlinksldjump"/>
              </a:rPr>
              <a:t>Comando</a:t>
            </a:r>
            <a:r>
              <a:rPr sz="1400" b="1" spc="65" dirty="0">
                <a:latin typeface="Palatino Linotype"/>
                <a:cs typeface="Palatino Linotype"/>
                <a:hlinkClick r:id="rId5" action="ppaction://hlinksldjump"/>
              </a:rPr>
              <a:t> </a:t>
            </a:r>
            <a:r>
              <a:rPr sz="1400" b="1" spc="-10" dirty="0">
                <a:latin typeface="Palatino Linotype"/>
                <a:cs typeface="Palatino Linotype"/>
                <a:hlinkClick r:id="rId5" action="ppaction://hlinksldjump"/>
              </a:rPr>
              <a:t>while</a:t>
            </a:r>
            <a:r>
              <a:rPr sz="1400" b="1" spc="-10" dirty="0">
                <a:latin typeface="Palatino Linotype"/>
                <a:cs typeface="Palatino Linotype"/>
              </a:rPr>
              <a:t> </a:t>
            </a:r>
            <a:r>
              <a:rPr sz="1400" b="1" dirty="0">
                <a:latin typeface="Palatino Linotype"/>
                <a:cs typeface="Palatino Linotype"/>
                <a:hlinkClick r:id="rId6" action="ppaction://hlinksldjump"/>
              </a:rPr>
              <a:t>Comando</a:t>
            </a:r>
            <a:r>
              <a:rPr sz="1400" b="1" spc="65" dirty="0">
                <a:latin typeface="Palatino Linotype"/>
                <a:cs typeface="Palatino Linotype"/>
                <a:hlinkClick r:id="rId6" action="ppaction://hlinksldjump"/>
              </a:rPr>
              <a:t> </a:t>
            </a:r>
            <a:r>
              <a:rPr sz="1400" b="1" spc="-10" dirty="0">
                <a:latin typeface="Palatino Linotype"/>
                <a:cs typeface="Palatino Linotype"/>
                <a:hlinkClick r:id="rId6" action="ppaction://hlinksldjump"/>
              </a:rPr>
              <a:t>do..while</a:t>
            </a:r>
            <a:r>
              <a:rPr sz="1400" b="1" spc="-10" dirty="0">
                <a:latin typeface="Palatino Linotype"/>
                <a:cs typeface="Palatino Linotype"/>
              </a:rPr>
              <a:t> </a:t>
            </a:r>
            <a:r>
              <a:rPr sz="1400" b="1" spc="-10" dirty="0">
                <a:latin typeface="Palatino Linotype"/>
                <a:cs typeface="Palatino Linotype"/>
                <a:hlinkClick r:id="rId7" action="ppaction://hlinksldjump"/>
              </a:rPr>
              <a:t>Exercícios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542076" y="3030250"/>
            <a:ext cx="90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-50" dirty="0">
                <a:solidFill>
                  <a:srgbClr val="009380"/>
                </a:solidFill>
                <a:latin typeface="Calibri"/>
                <a:cs typeface="Calibri"/>
              </a:rPr>
              <a:t>2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008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PMingLiU"/>
                <a:cs typeface="PMingLiU"/>
              </a:rPr>
              <a:t>estrutura</a:t>
            </a:r>
            <a:r>
              <a:rPr sz="1400" spc="18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1400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Repeticao:</a:t>
            </a:r>
            <a:r>
              <a:rPr sz="1400" spc="39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PMingLiU"/>
                <a:cs typeface="PMingLiU"/>
              </a:rPr>
              <a:t>whiledo </a:t>
            </a:r>
            <a:r>
              <a:rPr sz="1400" spc="-10" dirty="0">
                <a:solidFill>
                  <a:srgbClr val="FFFFFF"/>
                </a:solidFill>
                <a:latin typeface="PMingLiU"/>
                <a:cs typeface="PMingLiU"/>
              </a:rPr>
              <a:t>while</a:t>
            </a:r>
            <a:endParaRPr sz="1400">
              <a:latin typeface="PMingLiU"/>
              <a:cs typeface="PMingLiU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65030" y="1205617"/>
            <a:ext cx="2326005" cy="555625"/>
          </a:xfrm>
          <a:prstGeom prst="rect">
            <a:avLst/>
          </a:prstGeom>
        </p:spPr>
        <p:txBody>
          <a:bodyPr vert="horz" wrap="square" lIns="0" tIns="111760" rIns="0" bIns="0" rtlCol="0">
            <a:spAutoFit/>
          </a:bodyPr>
          <a:lstStyle/>
          <a:p>
            <a:pPr marL="511175" marR="5080" indent="-499109">
              <a:lnSpc>
                <a:spcPct val="68800"/>
              </a:lnSpc>
              <a:spcBef>
                <a:spcPts val="880"/>
              </a:spcBef>
            </a:pPr>
            <a:r>
              <a:rPr sz="2050" spc="-90" dirty="0">
                <a:latin typeface="Arial"/>
                <a:cs typeface="Arial"/>
                <a:hlinkClick r:id="rId2" action="ppaction://hlinksldjump"/>
              </a:rPr>
              <a:t>Relembrando:</a:t>
            </a:r>
            <a:r>
              <a:rPr sz="2050" spc="-50" dirty="0">
                <a:latin typeface="Arial"/>
                <a:cs typeface="Arial"/>
                <a:hlinkClick r:id="rId2" action="ppaction://hlinksldjump"/>
              </a:rPr>
              <a:t> </a:t>
            </a:r>
            <a:r>
              <a:rPr sz="2050" spc="-80" dirty="0">
                <a:latin typeface="Arial"/>
                <a:cs typeface="Arial"/>
                <a:hlinkClick r:id="rId2" action="ppaction://hlinksldjump"/>
              </a:rPr>
              <a:t>Desvio</a:t>
            </a:r>
            <a:r>
              <a:rPr sz="2050" spc="-80" dirty="0">
                <a:latin typeface="Arial"/>
                <a:cs typeface="Arial"/>
              </a:rPr>
              <a:t> </a:t>
            </a:r>
            <a:r>
              <a:rPr sz="2050" spc="-10" dirty="0">
                <a:latin typeface="Arial"/>
                <a:cs typeface="Arial"/>
                <a:hlinkClick r:id="rId2" action="ppaction://hlinksldjump"/>
              </a:rPr>
              <a:t>Condicional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Relembrando:</a:t>
            </a:r>
            <a:r>
              <a:rPr spc="70" dirty="0"/>
              <a:t> </a:t>
            </a:r>
            <a:r>
              <a:rPr spc="-10" dirty="0"/>
              <a:t>Desvio</a:t>
            </a:r>
            <a:r>
              <a:rPr spc="15" dirty="0"/>
              <a:t> </a:t>
            </a:r>
            <a:r>
              <a:rPr spc="-10" dirty="0"/>
              <a:t>Condicional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925346"/>
            <a:ext cx="3011170" cy="127698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70" dirty="0">
                <a:latin typeface="Calibri"/>
                <a:cs typeface="Calibri"/>
              </a:rPr>
              <a:t>Ideia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geral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5" dirty="0">
                <a:latin typeface="Arial"/>
                <a:cs typeface="Arial"/>
              </a:rPr>
              <a:t>executar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bloco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código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Font typeface="Arial"/>
              <a:buChar char="–"/>
              <a:tabLst>
                <a:tab pos="313690" algn="l"/>
              </a:tabLst>
            </a:pPr>
            <a:r>
              <a:rPr sz="1200" b="1" dirty="0">
                <a:latin typeface="Calibri"/>
                <a:cs typeface="Calibri"/>
              </a:rPr>
              <a:t>se</a:t>
            </a:r>
            <a:r>
              <a:rPr sz="1200" b="1" spc="35" dirty="0">
                <a:latin typeface="Calibri"/>
                <a:cs typeface="Calibri"/>
              </a:rPr>
              <a:t> </a:t>
            </a:r>
            <a:r>
              <a:rPr sz="1200" spc="-55" dirty="0">
                <a:latin typeface="Arial"/>
                <a:cs typeface="Arial"/>
              </a:rPr>
              <a:t>uma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determinada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condição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atendida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0" dirty="0">
                <a:latin typeface="Arial"/>
                <a:cs typeface="Arial"/>
              </a:rPr>
              <a:t>caso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contrário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b="1" dirty="0">
                <a:latin typeface="Calibri"/>
                <a:cs typeface="Calibri"/>
              </a:rPr>
              <a:t>senão</a:t>
            </a:r>
            <a:r>
              <a:rPr sz="1200" dirty="0">
                <a:latin typeface="Arial"/>
                <a:cs typeface="Arial"/>
              </a:rPr>
              <a:t>)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7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6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5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55" dirty="0">
                <a:latin typeface="Arial"/>
                <a:cs typeface="Arial"/>
              </a:rPr>
              <a:t>execute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outro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bloco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código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5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Relembrando:</a:t>
            </a:r>
            <a:r>
              <a:rPr spc="90" dirty="0"/>
              <a:t> </a:t>
            </a:r>
            <a:r>
              <a:rPr spc="-10" dirty="0"/>
              <a:t>Desvio</a:t>
            </a:r>
            <a:r>
              <a:rPr spc="25" dirty="0"/>
              <a:t> </a:t>
            </a:r>
            <a:r>
              <a:rPr dirty="0"/>
              <a:t>Condicional</a:t>
            </a:r>
            <a:r>
              <a:rPr spc="30" dirty="0"/>
              <a:t> </a:t>
            </a:r>
            <a:r>
              <a:rPr b="0" spc="345" dirty="0">
                <a:latin typeface="Verdana"/>
                <a:cs typeface="Verdana"/>
              </a:rPr>
              <a:t>Ñ</a:t>
            </a:r>
            <a:r>
              <a:rPr b="0" spc="-110" dirty="0">
                <a:latin typeface="Verdana"/>
                <a:cs typeface="Verdana"/>
              </a:rPr>
              <a:t> </a:t>
            </a:r>
            <a:r>
              <a:rPr spc="-10" dirty="0"/>
              <a:t>Exemplo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839542"/>
            <a:ext cx="2447290" cy="14922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80" dirty="0">
                <a:latin typeface="Calibri"/>
                <a:cs typeface="Calibri"/>
              </a:rPr>
              <a:t>Faça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85" dirty="0">
                <a:latin typeface="Calibri"/>
                <a:cs typeface="Calibri"/>
              </a:rPr>
              <a:t>programa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que: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14" dirty="0">
                <a:latin typeface="Arial"/>
                <a:cs typeface="Arial"/>
              </a:rPr>
              <a:t>Peça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para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pessoa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digitar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idade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"/>
                <a:cs typeface="Arial"/>
              </a:rPr>
              <a:t>se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ela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maior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idade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20" dirty="0">
                <a:latin typeface="Arial"/>
                <a:cs typeface="Arial"/>
              </a:rPr>
              <a:t>imprima:</a:t>
            </a:r>
            <a:r>
              <a:rPr sz="1000" spc="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"Maior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idade"</a:t>
            </a:r>
            <a:endParaRPr sz="10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7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" dirty="0">
                <a:latin typeface="Arial"/>
                <a:cs typeface="Arial"/>
              </a:rPr>
              <a:t>senão</a:t>
            </a:r>
            <a:endParaRPr sz="12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20" dirty="0">
                <a:latin typeface="Arial"/>
                <a:cs typeface="Arial"/>
              </a:rPr>
              <a:t>imprima: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"Menor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idade"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Resolução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396" y="456265"/>
            <a:ext cx="2136140" cy="63944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60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600" spc="-13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import</a:t>
            </a:r>
            <a:r>
              <a:rPr sz="750" b="1" spc="6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spc="-10" dirty="0">
                <a:solidFill>
                  <a:srgbClr val="595959"/>
                </a:solidFill>
                <a:latin typeface="BIZ UDGothic"/>
                <a:cs typeface="BIZ UDGothic"/>
              </a:rPr>
              <a:t>java.util.Scanner;</a:t>
            </a:r>
            <a:endParaRPr sz="7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600" spc="-13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750" b="1" spc="6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750" b="1" spc="6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Idade</a:t>
            </a:r>
            <a:r>
              <a:rPr sz="750" spc="6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666666"/>
                </a:solidFill>
                <a:latin typeface="BIZ UDGothic"/>
                <a:cs typeface="BIZ UDGothic"/>
              </a:rPr>
              <a:t>5</a:t>
            </a:r>
            <a:r>
              <a:rPr sz="600" spc="185" dirty="0">
                <a:solidFill>
                  <a:srgbClr val="666666"/>
                </a:solidFill>
                <a:latin typeface="BIZ UDGothic"/>
                <a:cs typeface="BIZ UDGothic"/>
              </a:rPr>
              <a:t> 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750" b="1" spc="6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750" b="1" spc="6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750" b="1" spc="6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750" spc="6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750" spc="6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50">
              <a:latin typeface="BIZ UDGothic"/>
              <a:cs typeface="BIZ UD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38084" y="1115025"/>
          <a:ext cx="2426970" cy="1729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8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900">
                <a:tc>
                  <a:txBody>
                    <a:bodyPr/>
                    <a:lstStyle/>
                    <a:p>
                      <a:pPr marR="80645" algn="r">
                        <a:lnSpc>
                          <a:spcPts val="600"/>
                        </a:lnSpc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6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9539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7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90"/>
                        </a:lnSpc>
                      </a:pP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750" spc="6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</a:t>
                      </a:r>
                      <a:r>
                        <a:rPr sz="750" spc="6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750" spc="6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new</a:t>
                      </a:r>
                      <a:r>
                        <a:rPr sz="750" b="1" spc="6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System.in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680">
                <a:tc>
                  <a:txBody>
                    <a:bodyPr/>
                    <a:lstStyle/>
                    <a:p>
                      <a:pPr marR="80645" algn="r">
                        <a:lnSpc>
                          <a:spcPts val="695"/>
                        </a:lnSpc>
                        <a:spcBef>
                          <a:spcPts val="45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8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110">
                <a:tc>
                  <a:txBody>
                    <a:bodyPr/>
                    <a:lstStyle/>
                    <a:p>
                      <a:pPr marR="80645" algn="r">
                        <a:lnSpc>
                          <a:spcPts val="700"/>
                        </a:lnSpc>
                        <a:spcBef>
                          <a:spcPts val="130"/>
                        </a:spcBef>
                      </a:pPr>
                      <a:r>
                        <a:rPr sz="6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9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30"/>
                        </a:lnSpc>
                      </a:pP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("Digite</a:t>
                      </a:r>
                      <a:r>
                        <a:rPr sz="750" spc="1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750" spc="1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sua</a:t>
                      </a:r>
                      <a:r>
                        <a:rPr sz="750" spc="1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idade")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7635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10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80"/>
                        </a:lnSpc>
                      </a:pPr>
                      <a:r>
                        <a:rPr sz="75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int</a:t>
                      </a:r>
                      <a:r>
                        <a:rPr sz="750" b="1" spc="4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idade</a:t>
                      </a:r>
                      <a:r>
                        <a:rPr sz="750" spc="4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750" spc="4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entrada.nextInt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410">
                <a:tc>
                  <a:txBody>
                    <a:bodyPr/>
                    <a:lstStyle/>
                    <a:p>
                      <a:pPr marR="80645" algn="r">
                        <a:lnSpc>
                          <a:spcPts val="685"/>
                        </a:lnSpc>
                        <a:spcBef>
                          <a:spcPts val="4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11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1285">
                <a:tc>
                  <a:txBody>
                    <a:bodyPr/>
                    <a:lstStyle/>
                    <a:p>
                      <a:pPr marR="80645" algn="r">
                        <a:lnSpc>
                          <a:spcPts val="715"/>
                        </a:lnSpc>
                        <a:spcBef>
                          <a:spcPts val="14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12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55"/>
                        </a:lnSpc>
                      </a:pPr>
                      <a:r>
                        <a:rPr sz="75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if</a:t>
                      </a:r>
                      <a:r>
                        <a:rPr sz="750" b="1" spc="4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idade</a:t>
                      </a:r>
                      <a:r>
                        <a:rPr sz="750" spc="4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&gt;=</a:t>
                      </a:r>
                      <a:r>
                        <a:rPr sz="750" spc="4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18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750" spc="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{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 marR="80645" algn="r">
                        <a:lnSpc>
                          <a:spcPts val="700"/>
                        </a:lnSpc>
                        <a:spcBef>
                          <a:spcPts val="11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13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815"/>
                        </a:lnSpc>
                      </a:pP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("Maior</a:t>
                      </a:r>
                      <a:r>
                        <a:rPr sz="750" spc="16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de</a:t>
                      </a:r>
                      <a:r>
                        <a:rPr sz="750" spc="16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idade")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marR="80645" algn="r">
                        <a:lnSpc>
                          <a:spcPts val="715"/>
                        </a:lnSpc>
                        <a:spcBef>
                          <a:spcPts val="12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14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40"/>
                        </a:lnSpc>
                      </a:pPr>
                      <a:r>
                        <a:rPr sz="750" b="1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r>
                        <a:rPr sz="75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else</a:t>
                      </a:r>
                      <a:r>
                        <a:rPr sz="750" b="1" spc="6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{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 marR="80645" algn="r">
                        <a:lnSpc>
                          <a:spcPts val="700"/>
                        </a:lnSpc>
                        <a:spcBef>
                          <a:spcPts val="11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15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7950">
                        <a:lnSpc>
                          <a:spcPts val="815"/>
                        </a:lnSpc>
                      </a:pPr>
                      <a:r>
                        <a:rPr sz="7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("Menor</a:t>
                      </a:r>
                      <a:r>
                        <a:rPr sz="750" spc="16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de</a:t>
                      </a:r>
                      <a:r>
                        <a:rPr sz="750" spc="16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idade")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7635">
                <a:tc>
                  <a:txBody>
                    <a:bodyPr/>
                    <a:lstStyle/>
                    <a:p>
                      <a:pPr marR="8064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16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80"/>
                        </a:lnSpc>
                      </a:pPr>
                      <a:r>
                        <a:rPr sz="75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6680">
                <a:tc>
                  <a:txBody>
                    <a:bodyPr/>
                    <a:lstStyle/>
                    <a:p>
                      <a:pPr marR="80645" algn="r">
                        <a:lnSpc>
                          <a:spcPts val="695"/>
                        </a:lnSpc>
                        <a:spcBef>
                          <a:spcPts val="4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17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8110">
                <a:tc>
                  <a:txBody>
                    <a:bodyPr/>
                    <a:lstStyle/>
                    <a:p>
                      <a:pPr marR="80645" algn="r">
                        <a:lnSpc>
                          <a:spcPts val="700"/>
                        </a:lnSpc>
                        <a:spcBef>
                          <a:spcPts val="130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18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30"/>
                        </a:lnSpc>
                      </a:pPr>
                      <a:r>
                        <a:rPr sz="7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entrada.close</a:t>
                      </a:r>
                      <a:r>
                        <a:rPr sz="75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75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6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19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  <a:p>
                      <a:pPr marL="31750">
                        <a:lnSpc>
                          <a:spcPts val="795"/>
                        </a:lnSpc>
                        <a:spcBef>
                          <a:spcPts val="60"/>
                        </a:spcBef>
                      </a:pPr>
                      <a:r>
                        <a:rPr sz="60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20</a:t>
                      </a:r>
                      <a:r>
                        <a:rPr sz="600" spc="-13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5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 marL="19050">
                        <a:lnSpc>
                          <a:spcPts val="880"/>
                        </a:lnSpc>
                      </a:pPr>
                      <a:r>
                        <a:rPr sz="75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7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7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008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PMingLiU"/>
                <a:cs typeface="PMingLiU"/>
              </a:rPr>
              <a:t>estrutura</a:t>
            </a:r>
            <a:r>
              <a:rPr sz="1400" spc="18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1400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Repeticao:</a:t>
            </a:r>
            <a:r>
              <a:rPr sz="1400" spc="39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PMingLiU"/>
                <a:cs typeface="PMingLiU"/>
              </a:rPr>
              <a:t>whiledo </a:t>
            </a:r>
            <a:r>
              <a:rPr sz="1400" spc="-10" dirty="0">
                <a:solidFill>
                  <a:srgbClr val="FFFFFF"/>
                </a:solidFill>
                <a:latin typeface="PMingLiU"/>
                <a:cs typeface="PMingLiU"/>
              </a:rPr>
              <a:t>while</a:t>
            </a:r>
            <a:endParaRPr sz="14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0" spc="-5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Estruturas</a:t>
            </a:r>
            <a:r>
              <a:rPr sz="2050" b="0" spc="-7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2050" b="0" spc="-13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de</a:t>
            </a:r>
            <a:r>
              <a:rPr sz="2050" b="0" spc="-5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2050" b="0" spc="-6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repetição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Estrutura</a:t>
            </a:r>
            <a:r>
              <a:rPr spc="95" dirty="0"/>
              <a:t> </a:t>
            </a:r>
            <a:r>
              <a:rPr dirty="0"/>
              <a:t>de</a:t>
            </a:r>
            <a:r>
              <a:rPr spc="100" dirty="0"/>
              <a:t> </a:t>
            </a:r>
            <a:r>
              <a:rPr spc="-10" dirty="0"/>
              <a:t>Repetição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09420"/>
            <a:ext cx="530606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70" dirty="0">
                <a:latin typeface="Calibri"/>
                <a:cs typeface="Calibri"/>
              </a:rPr>
              <a:t>Estrutura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repetição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</a:t>
            </a:r>
            <a:r>
              <a:rPr sz="1400" b="1" i="1" spc="-10" dirty="0">
                <a:latin typeface="Utopia Std Caption"/>
                <a:cs typeface="Utopia Std Caption"/>
              </a:rPr>
              <a:t>loop</a:t>
            </a:r>
            <a:r>
              <a:rPr sz="1400" b="1" spc="-10" dirty="0">
                <a:latin typeface="Calibri"/>
                <a:cs typeface="Calibri"/>
              </a:rPr>
              <a:t>):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0" dirty="0">
                <a:latin typeface="Arial"/>
                <a:cs typeface="Arial"/>
              </a:rPr>
              <a:t>utilizamos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quando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queremos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repetir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conjunto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instruções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múltiplas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vezes.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0" dirty="0">
                <a:latin typeface="Arial"/>
                <a:cs typeface="Arial"/>
              </a:rPr>
              <a:t>evita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trabalho </a:t>
            </a:r>
            <a:r>
              <a:rPr sz="1200" spc="-40" dirty="0">
                <a:latin typeface="Arial"/>
                <a:cs typeface="Arial"/>
              </a:rPr>
              <a:t>manual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reescrever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trecho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código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múltiplas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vezes.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Estrutura</a:t>
            </a:r>
            <a:r>
              <a:rPr spc="95" dirty="0"/>
              <a:t> </a:t>
            </a:r>
            <a:r>
              <a:rPr dirty="0"/>
              <a:t>de</a:t>
            </a:r>
            <a:r>
              <a:rPr spc="100" dirty="0"/>
              <a:t> </a:t>
            </a:r>
            <a:r>
              <a:rPr spc="-10" dirty="0"/>
              <a:t>Repetição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23785"/>
            <a:ext cx="4871720" cy="5645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70" dirty="0">
                <a:latin typeface="Calibri"/>
                <a:cs typeface="Calibri"/>
              </a:rPr>
              <a:t>Exemplo:</a:t>
            </a:r>
            <a:endParaRPr sz="14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27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Suponha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desejamos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fazer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programa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leia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nota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10</a:t>
            </a:r>
            <a:r>
              <a:rPr sz="1200" spc="-30" dirty="0">
                <a:latin typeface="Arial"/>
                <a:cs typeface="Arial"/>
              </a:rPr>
              <a:t> alunos.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75297" y="1231719"/>
            <a:ext cx="267525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2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Como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poderíamos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fazer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esse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programa?</a:t>
            </a:r>
            <a:endParaRPr sz="1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93505" y="1120255"/>
            <a:ext cx="573405" cy="16484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650" spc="-1710" dirty="0">
                <a:latin typeface="Arial"/>
                <a:cs typeface="Arial"/>
              </a:rPr>
              <a:t>?</a:t>
            </a:r>
            <a:endParaRPr sz="1065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Estrutura</a:t>
            </a:r>
            <a:r>
              <a:rPr spc="95" dirty="0"/>
              <a:t> </a:t>
            </a:r>
            <a:r>
              <a:rPr dirty="0"/>
              <a:t>de</a:t>
            </a:r>
            <a:r>
              <a:rPr spc="100" dirty="0"/>
              <a:t> </a:t>
            </a:r>
            <a:r>
              <a:rPr spc="-10" dirty="0"/>
              <a:t>Repetição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3450" y="784750"/>
            <a:ext cx="1657985" cy="40894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450" spc="-11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import</a:t>
            </a:r>
            <a:r>
              <a:rPr sz="600" b="1" spc="-1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java.util.Scanner;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45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ts val="720"/>
              </a:lnSpc>
              <a:spcBef>
                <a:spcPts val="25"/>
              </a:spcBef>
            </a:pP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450" spc="-11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6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600" b="1" spc="-1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ts val="720"/>
              </a:lnSpc>
            </a:pP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r>
              <a:rPr sz="450" spc="40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600" b="1" spc="-1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6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600" b="1" spc="-1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600" spc="-2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600" spc="-1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b="1" spc="-6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600">
              <a:latin typeface="BIZ UDGothic"/>
              <a:cs typeface="BIZ UD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6417" y="803728"/>
            <a:ext cx="2060575" cy="3898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20"/>
              </a:lnSpc>
              <a:spcBef>
                <a:spcPts val="95"/>
              </a:spcBef>
              <a:tabLst>
                <a:tab pos="224790" algn="l"/>
              </a:tabLst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21</a:t>
            </a: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("Informe</a:t>
            </a:r>
            <a:r>
              <a:rPr sz="6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a</a:t>
            </a:r>
            <a:r>
              <a:rPr sz="6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nota</a:t>
            </a:r>
            <a:r>
              <a:rPr sz="6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do</a:t>
            </a:r>
            <a:r>
              <a:rPr sz="6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aluno</a:t>
            </a:r>
            <a:r>
              <a:rPr sz="6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spc="-20" dirty="0">
                <a:solidFill>
                  <a:srgbClr val="B25900"/>
                </a:solidFill>
                <a:latin typeface="BIZ UDGothic"/>
                <a:cs typeface="BIZ UDGothic"/>
              </a:rPr>
              <a:t>5")</a:t>
            </a:r>
            <a:r>
              <a:rPr sz="600" spc="-2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ts val="720"/>
              </a:lnSpc>
              <a:tabLst>
                <a:tab pos="224790" algn="l"/>
              </a:tabLst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22</a:t>
            </a: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n5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 entrada.nextInt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()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23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224790" algn="l"/>
              </a:tabLst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24</a:t>
            </a: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("Informe</a:t>
            </a:r>
            <a:r>
              <a:rPr sz="6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a</a:t>
            </a:r>
            <a:r>
              <a:rPr sz="6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nota</a:t>
            </a:r>
            <a:r>
              <a:rPr sz="6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do</a:t>
            </a:r>
            <a:r>
              <a:rPr sz="6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aluno</a:t>
            </a:r>
            <a:r>
              <a:rPr sz="6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spc="-20" dirty="0">
                <a:solidFill>
                  <a:srgbClr val="B25900"/>
                </a:solidFill>
                <a:latin typeface="BIZ UDGothic"/>
                <a:cs typeface="BIZ UDGothic"/>
              </a:rPr>
              <a:t>6")</a:t>
            </a:r>
            <a:r>
              <a:rPr sz="600" spc="-2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600">
              <a:latin typeface="BIZ UDGothic"/>
              <a:cs typeface="BIZ UDGothic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06460" y="1191464"/>
          <a:ext cx="4951095" cy="1350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62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1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4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2075">
                <a:tc>
                  <a:txBody>
                    <a:bodyPr/>
                    <a:lstStyle/>
                    <a:p>
                      <a:pPr marR="18415"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4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5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30"/>
                        </a:lnSpc>
                      </a:pP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new</a:t>
                      </a:r>
                      <a:r>
                        <a:rPr sz="600" b="1" spc="-1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System.in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25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8255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30"/>
                        </a:lnSpc>
                      </a:pP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n6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entrada.nextInt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915">
                <a:tc>
                  <a:txBody>
                    <a:bodyPr/>
                    <a:lstStyle/>
                    <a:p>
                      <a:pPr marR="18415" algn="ctr">
                        <a:lnSpc>
                          <a:spcPts val="495"/>
                        </a:lnSpc>
                        <a:spcBef>
                          <a:spcPts val="50"/>
                        </a:spcBef>
                      </a:pPr>
                      <a:r>
                        <a:rPr sz="4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6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495"/>
                        </a:lnSpc>
                        <a:spcBef>
                          <a:spcPts val="50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26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3345">
                <a:tc>
                  <a:txBody>
                    <a:bodyPr/>
                    <a:lstStyle/>
                    <a:p>
                      <a:pPr marR="18415" algn="ctr">
                        <a:lnSpc>
                          <a:spcPts val="515"/>
                        </a:lnSpc>
                        <a:spcBef>
                          <a:spcPts val="120"/>
                        </a:spcBef>
                      </a:pPr>
                      <a:r>
                        <a:rPr sz="4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7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40"/>
                        </a:lnSpc>
                      </a:pPr>
                      <a:r>
                        <a:rPr sz="6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int</a:t>
                      </a:r>
                      <a:r>
                        <a:rPr sz="600" b="1" spc="-1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n1,</a:t>
                      </a:r>
                      <a:r>
                        <a:rPr sz="600" spc="-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n2,</a:t>
                      </a:r>
                      <a:r>
                        <a:rPr sz="600" spc="-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n3,</a:t>
                      </a:r>
                      <a:r>
                        <a:rPr sz="600" spc="-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n4,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n5,</a:t>
                      </a:r>
                      <a:r>
                        <a:rPr sz="600" spc="-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n6,</a:t>
                      </a:r>
                      <a:r>
                        <a:rPr sz="600" spc="-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n7,</a:t>
                      </a:r>
                      <a:r>
                        <a:rPr sz="600" spc="-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n8,</a:t>
                      </a:r>
                      <a:r>
                        <a:rPr sz="600" spc="-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n9,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n10;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15"/>
                        </a:lnSpc>
                        <a:spcBef>
                          <a:spcPts val="120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27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40"/>
                        </a:lnSpc>
                      </a:pP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("Informe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aluno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7")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170">
                <a:tc>
                  <a:txBody>
                    <a:bodyPr/>
                    <a:lstStyle/>
                    <a:p>
                      <a:pPr marR="18415" algn="ctr">
                        <a:lnSpc>
                          <a:spcPts val="509"/>
                        </a:lnSpc>
                        <a:spcBef>
                          <a:spcPts val="100"/>
                        </a:spcBef>
                      </a:pPr>
                      <a:r>
                        <a:rPr sz="4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8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09"/>
                        </a:lnSpc>
                        <a:spcBef>
                          <a:spcPts val="100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28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15"/>
                        </a:lnSpc>
                      </a:pP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n7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entrada.nextInt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 marR="18415" algn="ctr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9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15"/>
                        </a:lnSpc>
                      </a:pP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("Informe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aluno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1")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29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 marR="48895" algn="ctr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10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15"/>
                        </a:lnSpc>
                      </a:pP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n1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entrada.nextInt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30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15"/>
                        </a:lnSpc>
                      </a:pP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("Informe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aluno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8")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 marR="48895" algn="ctr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11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31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15"/>
                        </a:lnSpc>
                      </a:pP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n8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entrada.nextInt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 marR="48895" algn="ctr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12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15"/>
                        </a:lnSpc>
                      </a:pP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("Informe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aluno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2")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32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 marR="48895" algn="ctr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13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15"/>
                        </a:lnSpc>
                      </a:pP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n2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entrada.nextInt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33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15"/>
                        </a:lnSpc>
                      </a:pP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("Informe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aluno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9")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 marR="48895" algn="ctr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14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34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15"/>
                        </a:lnSpc>
                      </a:pP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n9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entrada.nextInt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 marR="48895" algn="ctr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15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15"/>
                        </a:lnSpc>
                      </a:pP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("Informe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aluno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3")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35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0805">
                <a:tc>
                  <a:txBody>
                    <a:bodyPr/>
                    <a:lstStyle/>
                    <a:p>
                      <a:pPr marR="48895" algn="ctr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16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15"/>
                        </a:lnSpc>
                      </a:pP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n3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entrada.nextInt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09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36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15"/>
                        </a:lnSpc>
                      </a:pP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("Informe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aluno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10")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9535">
                <a:tc>
                  <a:txBody>
                    <a:bodyPr/>
                    <a:lstStyle/>
                    <a:p>
                      <a:pPr marR="48895" algn="ctr">
                        <a:lnSpc>
                          <a:spcPts val="505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17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05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37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14604">
                        <a:lnSpc>
                          <a:spcPts val="610"/>
                        </a:lnSpc>
                      </a:pP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n10</a:t>
                      </a:r>
                      <a:r>
                        <a:rPr sz="600" spc="-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entrada.nextInt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1440">
                <a:tc>
                  <a:txBody>
                    <a:bodyPr/>
                    <a:lstStyle/>
                    <a:p>
                      <a:pPr marR="48895" algn="ctr">
                        <a:lnSpc>
                          <a:spcPts val="509"/>
                        </a:lnSpc>
                        <a:spcBef>
                          <a:spcPts val="110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18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620"/>
                        </a:lnSpc>
                      </a:pP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("Informe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aluno</a:t>
                      </a:r>
                      <a:r>
                        <a:rPr sz="600" spc="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4")</a:t>
                      </a:r>
                      <a:r>
                        <a:rPr sz="6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620"/>
                        </a:lnSpc>
                      </a:pPr>
                      <a:r>
                        <a:rPr sz="4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38</a:t>
                      </a:r>
                      <a:r>
                        <a:rPr sz="450" spc="45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85090">
                <a:tc>
                  <a:txBody>
                    <a:bodyPr/>
                    <a:lstStyle/>
                    <a:p>
                      <a:pPr marR="48895" algn="ctr">
                        <a:lnSpc>
                          <a:spcPts val="465"/>
                        </a:lnSpc>
                        <a:spcBef>
                          <a:spcPts val="105"/>
                        </a:spcBef>
                      </a:pPr>
                      <a:r>
                        <a:rPr sz="4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19</a:t>
                      </a:r>
                      <a:endParaRPr sz="4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570"/>
                        </a:lnSpc>
                      </a:pP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n4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entrada.nextInt</a:t>
                      </a:r>
                      <a:r>
                        <a:rPr sz="6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6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63855">
                        <a:lnSpc>
                          <a:spcPts val="570"/>
                        </a:lnSpc>
                      </a:pPr>
                      <a:r>
                        <a:rPr sz="4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39</a:t>
                      </a:r>
                      <a:r>
                        <a:rPr sz="450" spc="-8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6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6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Estrutura</a:t>
            </a:r>
            <a:r>
              <a:rPr spc="95" dirty="0"/>
              <a:t> </a:t>
            </a:r>
            <a:r>
              <a:rPr dirty="0"/>
              <a:t>de</a:t>
            </a:r>
            <a:r>
              <a:rPr spc="100" dirty="0"/>
              <a:t> </a:t>
            </a:r>
            <a:r>
              <a:rPr spc="-10" dirty="0"/>
              <a:t>Repetição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022930"/>
            <a:ext cx="3135630" cy="10668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100" dirty="0">
                <a:latin typeface="Calibri"/>
                <a:cs typeface="Calibri"/>
              </a:rPr>
              <a:t>Qual </a:t>
            </a:r>
            <a:r>
              <a:rPr sz="1400" b="1" spc="60" dirty="0">
                <a:latin typeface="Calibri"/>
                <a:cs typeface="Calibri"/>
              </a:rPr>
              <a:t>o</a:t>
            </a:r>
            <a:r>
              <a:rPr sz="1400" b="1" spc="105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problema</a:t>
            </a:r>
            <a:r>
              <a:rPr sz="1400" b="1" spc="10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dessa</a:t>
            </a:r>
            <a:r>
              <a:rPr sz="1400" b="1" spc="105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abordagem?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dirty="0">
                <a:latin typeface="Arial"/>
                <a:cs typeface="Arial"/>
              </a:rPr>
              <a:t>muito</a:t>
            </a:r>
            <a:r>
              <a:rPr sz="1200" spc="-40" dirty="0">
                <a:latin typeface="Arial"/>
                <a:cs typeface="Arial"/>
              </a:rPr>
              <a:t> trabalhoso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8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8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5" dirty="0">
                <a:latin typeface="Arial"/>
                <a:cs typeface="Arial"/>
              </a:rPr>
              <a:t>propício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cometer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erros.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se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tivéssesmos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100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alunos?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Estrutura</a:t>
            </a:r>
            <a:r>
              <a:rPr spc="95" dirty="0"/>
              <a:t> </a:t>
            </a:r>
            <a:r>
              <a:rPr dirty="0"/>
              <a:t>de</a:t>
            </a:r>
            <a:r>
              <a:rPr spc="100" dirty="0"/>
              <a:t> </a:t>
            </a:r>
            <a:r>
              <a:rPr spc="-10" dirty="0"/>
              <a:t>Repetição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23390"/>
            <a:ext cx="387731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125" dirty="0">
                <a:latin typeface="Calibri"/>
                <a:cs typeface="Calibri"/>
              </a:rPr>
              <a:t>Há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formas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melhores</a:t>
            </a:r>
            <a:r>
              <a:rPr sz="1400" b="1" spc="55" dirty="0">
                <a:latin typeface="Calibri"/>
                <a:cs typeface="Calibri"/>
              </a:rPr>
              <a:t> de </a:t>
            </a:r>
            <a:r>
              <a:rPr sz="1400" b="1" spc="80" dirty="0">
                <a:latin typeface="Calibri"/>
                <a:cs typeface="Calibri"/>
              </a:rPr>
              <a:t>fazer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isso.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0" dirty="0">
                <a:latin typeface="Arial"/>
                <a:cs typeface="Arial"/>
              </a:rPr>
              <a:t>podemos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usar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uma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estrutura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repetição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como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00AC8C"/>
                </a:solidFill>
                <a:latin typeface="Calibri"/>
                <a:cs typeface="Calibri"/>
              </a:rPr>
              <a:t>while</a:t>
            </a:r>
            <a:r>
              <a:rPr sz="1200" spc="-1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0" dirty="0">
                <a:latin typeface="Arial"/>
                <a:cs typeface="Arial"/>
              </a:rPr>
              <a:t>ou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b="1" spc="50" dirty="0">
                <a:solidFill>
                  <a:srgbClr val="00AC8C"/>
                </a:solidFill>
                <a:latin typeface="Calibri"/>
                <a:cs typeface="Calibri"/>
              </a:rPr>
              <a:t>for </a:t>
            </a:r>
            <a:r>
              <a:rPr sz="1200" spc="-50" dirty="0">
                <a:latin typeface="Arial"/>
                <a:cs typeface="Arial"/>
              </a:rPr>
              <a:t>ou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C8C"/>
                </a:solidFill>
                <a:latin typeface="Calibri"/>
                <a:cs typeface="Calibri"/>
              </a:rPr>
              <a:t>do</a:t>
            </a:r>
            <a:r>
              <a:rPr sz="1200" b="1" spc="50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AC8C"/>
                </a:solidFill>
                <a:latin typeface="Calibri"/>
                <a:cs typeface="Calibri"/>
              </a:rPr>
              <a:t>while</a:t>
            </a:r>
            <a:r>
              <a:rPr sz="1200" spc="-1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Estrutura</a:t>
            </a:r>
            <a:r>
              <a:rPr spc="95" dirty="0"/>
              <a:t> </a:t>
            </a:r>
            <a:r>
              <a:rPr dirty="0"/>
              <a:t>de</a:t>
            </a:r>
            <a:r>
              <a:rPr spc="100" dirty="0"/>
              <a:t> </a:t>
            </a:r>
            <a:r>
              <a:rPr spc="-10" dirty="0"/>
              <a:t>Repetição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024165"/>
            <a:ext cx="4523105" cy="10287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-10" dirty="0">
                <a:latin typeface="Calibri"/>
                <a:cs typeface="Calibri"/>
              </a:rPr>
              <a:t>Vantagens</a:t>
            </a:r>
            <a:r>
              <a:rPr sz="1400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algoritmo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passa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ter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tamanho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menor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se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torna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mais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legível.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60" dirty="0">
                <a:latin typeface="Arial"/>
                <a:cs typeface="Arial"/>
              </a:rPr>
              <a:t>É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possível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aumentar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escalabilidade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projeto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2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5" dirty="0">
                <a:latin typeface="Arial"/>
                <a:cs typeface="Arial"/>
              </a:rPr>
              <a:t>sem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fazer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grandes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alterações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no</a:t>
            </a:r>
            <a:r>
              <a:rPr sz="1200" spc="-10" dirty="0">
                <a:latin typeface="Arial"/>
                <a:cs typeface="Arial"/>
              </a:rPr>
              <a:t> código.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008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PMingLiU"/>
                <a:cs typeface="PMingLiU"/>
              </a:rPr>
              <a:t>estrutura</a:t>
            </a:r>
            <a:r>
              <a:rPr sz="1400" spc="18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1400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Repeticao:</a:t>
            </a:r>
            <a:r>
              <a:rPr sz="1400" spc="39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PMingLiU"/>
                <a:cs typeface="PMingLiU"/>
              </a:rPr>
              <a:t>whiledo </a:t>
            </a:r>
            <a:r>
              <a:rPr sz="1400" spc="-10" dirty="0">
                <a:solidFill>
                  <a:srgbClr val="FFFFFF"/>
                </a:solidFill>
                <a:latin typeface="PMingLiU"/>
                <a:cs typeface="PMingLiU"/>
              </a:rPr>
              <a:t>while</a:t>
            </a:r>
            <a:endParaRPr sz="14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95580">
              <a:lnSpc>
                <a:spcPct val="100000"/>
              </a:lnSpc>
              <a:spcBef>
                <a:spcPts val="114"/>
              </a:spcBef>
            </a:pPr>
            <a:r>
              <a:rPr sz="2050" b="0" spc="-9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Tipos</a:t>
            </a:r>
            <a:r>
              <a:rPr sz="2050" b="0" spc="-4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2050" b="0" spc="-13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de</a:t>
            </a:r>
            <a:r>
              <a:rPr sz="2050" b="0" spc="-4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2050" b="0" spc="-11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Repetições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Tipos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repetições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09725"/>
            <a:ext cx="471678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65" dirty="0">
                <a:latin typeface="Calibri"/>
                <a:cs typeface="Calibri"/>
              </a:rPr>
              <a:t>Basicamente,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temos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dois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tipos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35" dirty="0">
                <a:latin typeface="Calibri"/>
                <a:cs typeface="Calibri"/>
              </a:rPr>
              <a:t>repetições: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5" dirty="0">
                <a:latin typeface="Arial"/>
                <a:cs typeface="Arial"/>
              </a:rPr>
              <a:t>situações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nas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quais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sabemos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b="1" dirty="0">
                <a:latin typeface="Calibri"/>
                <a:cs typeface="Calibri"/>
              </a:rPr>
              <a:t>total</a:t>
            </a:r>
            <a:r>
              <a:rPr sz="1200" b="1" spc="55" dirty="0">
                <a:latin typeface="Calibri"/>
                <a:cs typeface="Calibri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repetições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serem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executadas.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5" dirty="0">
                <a:latin typeface="Arial"/>
                <a:cs typeface="Arial"/>
              </a:rPr>
              <a:t>situações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nas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quais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não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sabemos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número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repetições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necessárias.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Tipos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repetições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009141"/>
            <a:ext cx="4730750" cy="10668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190" dirty="0">
                <a:latin typeface="Calibri"/>
                <a:cs typeface="Calibri"/>
              </a:rPr>
              <a:t>O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85" dirty="0">
                <a:solidFill>
                  <a:srgbClr val="00AC8C"/>
                </a:solidFill>
                <a:latin typeface="Calibri"/>
                <a:cs typeface="Calibri"/>
              </a:rPr>
              <a:t>while</a:t>
            </a:r>
            <a:r>
              <a:rPr sz="1400" b="1" spc="65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pode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50" dirty="0">
                <a:latin typeface="Calibri"/>
                <a:cs typeface="Calibri"/>
              </a:rPr>
              <a:t>ser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utilizado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em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ambos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os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casos.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5" dirty="0">
                <a:latin typeface="Arial"/>
                <a:cs typeface="Arial"/>
              </a:rPr>
              <a:t>mais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indicado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para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situações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em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número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repetições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incerto.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0" dirty="0">
                <a:latin typeface="Arial"/>
                <a:cs typeface="Arial"/>
              </a:rPr>
              <a:t>ou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seja,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devemos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repetir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bloco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instruções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Font typeface="Arial"/>
              <a:buChar char="–"/>
              <a:tabLst>
                <a:tab pos="313690" algn="l"/>
              </a:tabLst>
            </a:pPr>
            <a:r>
              <a:rPr sz="1200" b="1" dirty="0">
                <a:solidFill>
                  <a:srgbClr val="00AC8C"/>
                </a:solidFill>
                <a:latin typeface="Calibri"/>
                <a:cs typeface="Calibri"/>
              </a:rPr>
              <a:t>enquanto</a:t>
            </a:r>
            <a:r>
              <a:rPr sz="1200" b="1" spc="85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200" spc="-55" dirty="0">
                <a:latin typeface="Arial"/>
                <a:cs typeface="Arial"/>
              </a:rPr>
              <a:t>uma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condição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não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atendida.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17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Tipos</a:t>
            </a:r>
            <a:r>
              <a:rPr spc="-2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repetições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009293"/>
            <a:ext cx="3993515" cy="106680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155" dirty="0">
                <a:latin typeface="Calibri"/>
                <a:cs typeface="Calibri"/>
              </a:rPr>
              <a:t>E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se</a:t>
            </a:r>
            <a:r>
              <a:rPr sz="1400" b="1" spc="60" dirty="0">
                <a:latin typeface="Calibri"/>
                <a:cs typeface="Calibri"/>
              </a:rPr>
              <a:t> o </a:t>
            </a:r>
            <a:r>
              <a:rPr sz="1400" b="1" spc="80" dirty="0">
                <a:latin typeface="Calibri"/>
                <a:cs typeface="Calibri"/>
              </a:rPr>
              <a:t>número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 repetições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for</a:t>
            </a:r>
            <a:r>
              <a:rPr sz="1400" b="1" spc="60" dirty="0">
                <a:latin typeface="Calibri"/>
                <a:cs typeface="Calibri"/>
              </a:rPr>
              <a:t> conhecido?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80" dirty="0">
                <a:latin typeface="Arial"/>
                <a:cs typeface="Arial"/>
              </a:rPr>
              <a:t>podemos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utilizar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while.</a:t>
            </a:r>
            <a:r>
              <a:rPr sz="1200" spc="-16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6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0" dirty="0">
                <a:latin typeface="Arial"/>
                <a:cs typeface="Arial"/>
              </a:rPr>
              <a:t>mas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existe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outra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estrutura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repetição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mais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apropriada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7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laço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b="1" spc="50" dirty="0">
                <a:solidFill>
                  <a:srgbClr val="00AC8C"/>
                </a:solidFill>
                <a:latin typeface="Calibri"/>
                <a:cs typeface="Calibri"/>
              </a:rPr>
              <a:t>for</a:t>
            </a:r>
            <a:r>
              <a:rPr sz="1200" b="1" spc="30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latin typeface="Arial"/>
                <a:cs typeface="Arial"/>
              </a:rPr>
              <a:t>por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exemplo.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008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PMingLiU"/>
                <a:cs typeface="PMingLiU"/>
              </a:rPr>
              <a:t>estrutura</a:t>
            </a:r>
            <a:r>
              <a:rPr sz="1400" spc="18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1400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Repeticao:</a:t>
            </a:r>
            <a:r>
              <a:rPr sz="1400" spc="39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PMingLiU"/>
                <a:cs typeface="PMingLiU"/>
              </a:rPr>
              <a:t>whiledo </a:t>
            </a:r>
            <a:r>
              <a:rPr sz="1400" spc="-10" dirty="0">
                <a:solidFill>
                  <a:srgbClr val="FFFFFF"/>
                </a:solidFill>
                <a:latin typeface="PMingLiU"/>
                <a:cs typeface="PMingLiU"/>
              </a:rPr>
              <a:t>while</a:t>
            </a:r>
            <a:endParaRPr sz="14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410209">
              <a:lnSpc>
                <a:spcPct val="100000"/>
              </a:lnSpc>
              <a:spcBef>
                <a:spcPts val="114"/>
              </a:spcBef>
            </a:pPr>
            <a:r>
              <a:rPr sz="2050" b="0" spc="-9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Comando</a:t>
            </a:r>
            <a:r>
              <a:rPr sz="2050" b="0" spc="-1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2050" b="0" spc="-1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while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137868"/>
            <a:ext cx="19088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00AC8C"/>
                </a:solidFill>
                <a:latin typeface="Palatino Linotype"/>
                <a:cs typeface="Palatino Linotype"/>
              </a:rPr>
              <a:t>Estrutura</a:t>
            </a:r>
            <a:r>
              <a:rPr sz="1400" b="1" spc="95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1400" b="1" dirty="0">
                <a:solidFill>
                  <a:srgbClr val="00AC8C"/>
                </a:solidFill>
                <a:latin typeface="Palatino Linotype"/>
                <a:cs typeface="Palatino Linotype"/>
              </a:rPr>
              <a:t>de</a:t>
            </a:r>
            <a:r>
              <a:rPr sz="1400" b="1" spc="100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1400" b="1" spc="-10" dirty="0">
                <a:solidFill>
                  <a:srgbClr val="00AC8C"/>
                </a:solidFill>
                <a:latin typeface="Palatino Linotype"/>
                <a:cs typeface="Palatino Linotype"/>
              </a:rPr>
              <a:t>Repetição</a:t>
            </a:r>
            <a:endParaRPr sz="1400">
              <a:latin typeface="Palatino Linotype"/>
              <a:cs typeface="Palatino Linotyp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4149" y="541372"/>
            <a:ext cx="2351693" cy="229824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Sintaxe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378" y="1159002"/>
            <a:ext cx="76200" cy="48133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8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endParaRPr sz="8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endParaRPr sz="800">
              <a:latin typeface="BIZ UDGothic"/>
              <a:cs typeface="BIZ UD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2916" y="1164061"/>
            <a:ext cx="1354455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009380"/>
                </a:solidFill>
                <a:latin typeface="BIZ UDGothic"/>
                <a:cs typeface="BIZ UDGothic"/>
              </a:rPr>
              <a:t>//bloco</a:t>
            </a:r>
            <a:r>
              <a:rPr sz="1000" spc="-3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1000" dirty="0">
                <a:solidFill>
                  <a:srgbClr val="009380"/>
                </a:solidFill>
                <a:latin typeface="BIZ UDGothic"/>
                <a:cs typeface="BIZ UDGothic"/>
              </a:rPr>
              <a:t>de</a:t>
            </a:r>
            <a:r>
              <a:rPr sz="1000" spc="-2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1000" spc="-10" dirty="0">
                <a:solidFill>
                  <a:srgbClr val="009380"/>
                </a:solidFill>
                <a:latin typeface="BIZ UDGothic"/>
                <a:cs typeface="BIZ UDGothic"/>
              </a:rPr>
              <a:t>instrucoes </a:t>
            </a: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instrucao1; instrucao2;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5378" y="1711096"/>
            <a:ext cx="392430" cy="48640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5</a:t>
            </a:r>
            <a:endParaRPr sz="8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6</a:t>
            </a:r>
            <a:endParaRPr sz="8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  <a:tabLst>
                <a:tab pos="316230" algn="l"/>
              </a:tabLst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7</a:t>
            </a:r>
            <a:r>
              <a:rPr sz="80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100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2916" y="1665546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595959"/>
                </a:solidFill>
                <a:latin typeface="BIZ UDGothic"/>
                <a:cs typeface="BIZ UDGothic"/>
              </a:rPr>
              <a:t>.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32916" y="1716156"/>
            <a:ext cx="72136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spc="-50" dirty="0">
                <a:solidFill>
                  <a:srgbClr val="595959"/>
                </a:solidFill>
                <a:latin typeface="BIZ UDGothic"/>
                <a:cs typeface="BIZ UDGothic"/>
              </a:rPr>
              <a:t>.</a:t>
            </a:r>
            <a:endParaRPr sz="1000">
              <a:latin typeface="BIZ UDGothic"/>
              <a:cs typeface="BIZ UDGothic"/>
            </a:endParaRPr>
          </a:p>
          <a:p>
            <a:pPr marL="12700">
              <a:lnSpc>
                <a:spcPts val="1200"/>
              </a:lnSpc>
            </a:pP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instrucaon;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5378" y="2171641"/>
            <a:ext cx="14681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6230" algn="l"/>
              </a:tabLst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8</a:t>
            </a:r>
            <a:r>
              <a:rPr sz="80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proxima_instrucao;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773029" y="672654"/>
            <a:ext cx="2753995" cy="473075"/>
          </a:xfrm>
          <a:custGeom>
            <a:avLst/>
            <a:gdLst/>
            <a:ahLst/>
            <a:cxnLst/>
            <a:rect l="l" t="t" r="r" b="b"/>
            <a:pathLst>
              <a:path w="2753995" h="473075">
                <a:moveTo>
                  <a:pt x="1132187" y="237541"/>
                </a:moveTo>
                <a:lnTo>
                  <a:pt x="20482" y="468482"/>
                </a:lnTo>
                <a:lnTo>
                  <a:pt x="5100" y="471735"/>
                </a:lnTo>
                <a:lnTo>
                  <a:pt x="0" y="472954"/>
                </a:lnTo>
                <a:lnTo>
                  <a:pt x="5176" y="472114"/>
                </a:lnTo>
                <a:lnTo>
                  <a:pt x="20626" y="469194"/>
                </a:lnTo>
                <a:lnTo>
                  <a:pt x="1222187" y="237541"/>
                </a:lnTo>
                <a:lnTo>
                  <a:pt x="2703009" y="237541"/>
                </a:lnTo>
                <a:lnTo>
                  <a:pt x="2722709" y="233564"/>
                </a:lnTo>
                <a:lnTo>
                  <a:pt x="2738796" y="222717"/>
                </a:lnTo>
                <a:lnTo>
                  <a:pt x="2749642" y="206630"/>
                </a:lnTo>
                <a:lnTo>
                  <a:pt x="2753620" y="186930"/>
                </a:lnTo>
                <a:lnTo>
                  <a:pt x="2753620" y="50610"/>
                </a:lnTo>
                <a:lnTo>
                  <a:pt x="2749642" y="30910"/>
                </a:lnTo>
                <a:lnTo>
                  <a:pt x="2738796" y="14823"/>
                </a:lnTo>
                <a:lnTo>
                  <a:pt x="2722709" y="3977"/>
                </a:lnTo>
                <a:lnTo>
                  <a:pt x="2703009" y="0"/>
                </a:lnTo>
                <a:lnTo>
                  <a:pt x="838900" y="0"/>
                </a:lnTo>
                <a:lnTo>
                  <a:pt x="819200" y="3977"/>
                </a:lnTo>
                <a:lnTo>
                  <a:pt x="803113" y="14823"/>
                </a:lnTo>
                <a:lnTo>
                  <a:pt x="792266" y="30910"/>
                </a:lnTo>
                <a:lnTo>
                  <a:pt x="788289" y="50610"/>
                </a:lnTo>
                <a:lnTo>
                  <a:pt x="788289" y="186930"/>
                </a:lnTo>
                <a:lnTo>
                  <a:pt x="792266" y="206630"/>
                </a:lnTo>
                <a:lnTo>
                  <a:pt x="803113" y="222717"/>
                </a:lnTo>
                <a:lnTo>
                  <a:pt x="819200" y="233564"/>
                </a:lnTo>
                <a:lnTo>
                  <a:pt x="838900" y="237541"/>
                </a:lnTo>
                <a:lnTo>
                  <a:pt x="1132187" y="237541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5892" y="625243"/>
            <a:ext cx="4398645" cy="564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917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Font typeface="Arial"/>
              <a:buChar char="•"/>
              <a:tabLst>
                <a:tab pos="191770" algn="l"/>
              </a:tabLst>
            </a:pPr>
            <a:r>
              <a:rPr sz="2100" b="1" spc="104" baseline="-31746" dirty="0">
                <a:latin typeface="Calibri"/>
                <a:cs typeface="Calibri"/>
              </a:rPr>
              <a:t>Sintaxe</a:t>
            </a:r>
            <a:r>
              <a:rPr sz="2100" b="1" spc="67" baseline="-31746" dirty="0">
                <a:latin typeface="Calibri"/>
                <a:cs typeface="Calibri"/>
              </a:rPr>
              <a:t> </a:t>
            </a:r>
            <a:r>
              <a:rPr sz="2100" b="1" spc="112" baseline="-31746" dirty="0">
                <a:latin typeface="Calibri"/>
                <a:cs typeface="Calibri"/>
              </a:rPr>
              <a:t>do</a:t>
            </a:r>
            <a:r>
              <a:rPr sz="2100" b="1" spc="75" baseline="-31746" dirty="0">
                <a:latin typeface="Calibri"/>
                <a:cs typeface="Calibri"/>
              </a:rPr>
              <a:t> </a:t>
            </a:r>
            <a:r>
              <a:rPr sz="2100" b="1" spc="127" baseline="-31746" dirty="0">
                <a:latin typeface="Calibri"/>
                <a:cs typeface="Calibri"/>
              </a:rPr>
              <a:t>comando</a:t>
            </a:r>
            <a:r>
              <a:rPr sz="2100" b="1" spc="75" baseline="-31746" dirty="0">
                <a:latin typeface="Calibri"/>
                <a:cs typeface="Calibri"/>
              </a:rPr>
              <a:t> </a:t>
            </a:r>
            <a:r>
              <a:rPr sz="2100" b="1" spc="104" baseline="-31746" dirty="0">
                <a:latin typeface="Calibri"/>
                <a:cs typeface="Calibri"/>
              </a:rPr>
              <a:t>while:</a:t>
            </a:r>
            <a:r>
              <a:rPr sz="2100" b="1" spc="577" baseline="-31746" dirty="0">
                <a:latin typeface="Calibri"/>
                <a:cs typeface="Calibri"/>
              </a:rPr>
              <a:t> </a:t>
            </a:r>
            <a:r>
              <a:rPr sz="1000" spc="-35" dirty="0">
                <a:latin typeface="Arial"/>
                <a:cs typeface="Arial"/>
              </a:rPr>
              <a:t>enquanto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condição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for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verdadeira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5"/>
              </a:spcBef>
            </a:pPr>
            <a:endParaRPr sz="1000">
              <a:latin typeface="Arial"/>
              <a:cs typeface="Arial"/>
            </a:endParaRPr>
          </a:p>
          <a:p>
            <a:pPr marL="321945">
              <a:lnSpc>
                <a:spcPct val="100000"/>
              </a:lnSpc>
              <a:tabLst>
                <a:tab pos="625475" algn="l"/>
              </a:tabLst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80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1000" b="1" spc="-10" dirty="0">
                <a:solidFill>
                  <a:srgbClr val="00AC8C"/>
                </a:solidFill>
                <a:latin typeface="BIZ UDGothic"/>
                <a:cs typeface="BIZ UDGothic"/>
              </a:rPr>
              <a:t>while</a:t>
            </a:r>
            <a:r>
              <a:rPr sz="1000" spc="-1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condicao</a:t>
            </a:r>
            <a:r>
              <a:rPr sz="1000" spc="-1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1000" b="1" spc="-1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1120" y="1490434"/>
            <a:ext cx="2590800" cy="233045"/>
          </a:xfrm>
          <a:custGeom>
            <a:avLst/>
            <a:gdLst/>
            <a:ahLst/>
            <a:cxnLst/>
            <a:rect l="l" t="t" r="r" b="b"/>
            <a:pathLst>
              <a:path w="2590800" h="233044">
                <a:moveTo>
                  <a:pt x="950086" y="95611"/>
                </a:moveTo>
                <a:lnTo>
                  <a:pt x="20991" y="115415"/>
                </a:lnTo>
                <a:lnTo>
                  <a:pt x="5264" y="116114"/>
                </a:lnTo>
                <a:lnTo>
                  <a:pt x="0" y="117220"/>
                </a:lnTo>
                <a:lnTo>
                  <a:pt x="5203" y="118584"/>
                </a:lnTo>
                <a:lnTo>
                  <a:pt x="20877" y="120055"/>
                </a:lnTo>
                <a:lnTo>
                  <a:pt x="950086" y="185612"/>
                </a:lnTo>
                <a:lnTo>
                  <a:pt x="950086" y="182375"/>
                </a:lnTo>
                <a:lnTo>
                  <a:pt x="954063" y="202075"/>
                </a:lnTo>
                <a:lnTo>
                  <a:pt x="964909" y="218162"/>
                </a:lnTo>
                <a:lnTo>
                  <a:pt x="980996" y="229009"/>
                </a:lnTo>
                <a:lnTo>
                  <a:pt x="1000696" y="232986"/>
                </a:lnTo>
                <a:lnTo>
                  <a:pt x="2540137" y="232986"/>
                </a:lnTo>
                <a:lnTo>
                  <a:pt x="2559837" y="229009"/>
                </a:lnTo>
                <a:lnTo>
                  <a:pt x="2575925" y="218162"/>
                </a:lnTo>
                <a:lnTo>
                  <a:pt x="2586771" y="202075"/>
                </a:lnTo>
                <a:lnTo>
                  <a:pt x="2590748" y="182375"/>
                </a:lnTo>
                <a:lnTo>
                  <a:pt x="2590748" y="50610"/>
                </a:lnTo>
                <a:lnTo>
                  <a:pt x="2586771" y="30910"/>
                </a:lnTo>
                <a:lnTo>
                  <a:pt x="2575925" y="14823"/>
                </a:lnTo>
                <a:lnTo>
                  <a:pt x="2559837" y="3977"/>
                </a:lnTo>
                <a:lnTo>
                  <a:pt x="2540137" y="0"/>
                </a:lnTo>
                <a:lnTo>
                  <a:pt x="1000696" y="0"/>
                </a:lnTo>
                <a:lnTo>
                  <a:pt x="980996" y="3977"/>
                </a:lnTo>
                <a:lnTo>
                  <a:pt x="964909" y="14823"/>
                </a:lnTo>
                <a:lnTo>
                  <a:pt x="954063" y="30910"/>
                </a:lnTo>
                <a:lnTo>
                  <a:pt x="950086" y="50610"/>
                </a:lnTo>
                <a:lnTo>
                  <a:pt x="950086" y="95611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2569210" y="1498681"/>
            <a:ext cx="15449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latin typeface="Arial"/>
                <a:cs typeface="Arial"/>
              </a:rPr>
              <a:t>execute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bloco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instruções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Condição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821308"/>
            <a:ext cx="5184140" cy="153924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150" dirty="0">
                <a:latin typeface="Calibri"/>
                <a:cs typeface="Calibri"/>
              </a:rPr>
              <a:t>A</a:t>
            </a:r>
            <a:r>
              <a:rPr sz="1400" b="1" spc="75" dirty="0">
                <a:latin typeface="Calibri"/>
                <a:cs typeface="Calibri"/>
              </a:rPr>
              <a:t> condição </a:t>
            </a:r>
            <a:r>
              <a:rPr sz="1400" b="1" spc="55" dirty="0">
                <a:latin typeface="Calibri"/>
                <a:cs typeface="Calibri"/>
              </a:rPr>
              <a:t>de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repetição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é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verificada </a:t>
            </a:r>
            <a:r>
              <a:rPr sz="1400" b="1" dirty="0">
                <a:solidFill>
                  <a:srgbClr val="00AC8C"/>
                </a:solidFill>
                <a:latin typeface="Calibri"/>
                <a:cs typeface="Calibri"/>
              </a:rPr>
              <a:t>antes</a:t>
            </a:r>
            <a:r>
              <a:rPr sz="1400" b="1" spc="75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entrar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no</a:t>
            </a:r>
            <a:r>
              <a:rPr sz="1400" b="1" spc="75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Utopia Std Caption"/>
                <a:cs typeface="Utopia Std Caption"/>
              </a:rPr>
              <a:t>loop</a:t>
            </a:r>
            <a:r>
              <a:rPr sz="1400" b="1" spc="-10" dirty="0">
                <a:latin typeface="Calibri"/>
                <a:cs typeface="Calibri"/>
              </a:rPr>
              <a:t>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45" dirty="0">
                <a:latin typeface="Arial"/>
                <a:cs typeface="Arial"/>
              </a:rPr>
              <a:t>enquanto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resultado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da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condição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verdadeiro</a:t>
            </a:r>
            <a:r>
              <a:rPr sz="1200" spc="-10" dirty="0">
                <a:latin typeface="Arial"/>
                <a:cs typeface="Arial"/>
              </a:rPr>
              <a:t>;</a:t>
            </a:r>
            <a:endParaRPr sz="12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30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55" dirty="0">
                <a:latin typeface="Arial"/>
                <a:cs typeface="Arial"/>
              </a:rPr>
              <a:t>execute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bloco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instruções.</a:t>
            </a:r>
            <a:endParaRPr sz="10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7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5" dirty="0">
                <a:latin typeface="Arial"/>
                <a:cs typeface="Arial"/>
              </a:rPr>
              <a:t>quando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condição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se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tornar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falsa</a:t>
            </a:r>
            <a:r>
              <a:rPr sz="1200" spc="-10" dirty="0">
                <a:latin typeface="Arial"/>
                <a:cs typeface="Arial"/>
              </a:rPr>
              <a:t>;</a:t>
            </a:r>
            <a:endParaRPr sz="12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b="0" i="1" dirty="0">
                <a:latin typeface="Kepler Std Medium"/>
                <a:cs typeface="Kepler Std Medium"/>
              </a:rPr>
              <a:t>loop</a:t>
            </a:r>
            <a:r>
              <a:rPr sz="1000" b="0" i="1" spc="55" dirty="0">
                <a:latin typeface="Kepler Std Medium"/>
                <a:cs typeface="Kepler Std Medium"/>
              </a:rPr>
              <a:t> </a:t>
            </a:r>
            <a:r>
              <a:rPr sz="1000" spc="-105" dirty="0">
                <a:latin typeface="Arial"/>
                <a:cs typeface="Arial"/>
              </a:rPr>
              <a:t>é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encerrado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fluxo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vai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para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próxima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instrução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do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algoritmo.</a:t>
            </a:r>
            <a:endParaRPr sz="10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spcBef>
                <a:spcPts val="660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50" dirty="0">
                <a:latin typeface="Calibri"/>
                <a:cs typeface="Calibri"/>
              </a:rPr>
              <a:t>Portanto,</a:t>
            </a:r>
            <a:r>
              <a:rPr sz="1400" b="1" spc="10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</a:t>
            </a:r>
            <a:r>
              <a:rPr sz="1400" b="1" spc="110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condição</a:t>
            </a:r>
            <a:r>
              <a:rPr sz="1400" b="1" spc="10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é</a:t>
            </a:r>
            <a:r>
              <a:rPr sz="1400" b="1" spc="1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testada</a:t>
            </a:r>
            <a:r>
              <a:rPr sz="1400" b="1" spc="10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</a:t>
            </a:r>
            <a:r>
              <a:rPr sz="1400" b="1" spc="110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cada</a:t>
            </a:r>
            <a:r>
              <a:rPr sz="1400" b="1" spc="105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iteração</a:t>
            </a:r>
            <a:r>
              <a:rPr sz="1400" b="1" spc="11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(volta).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Bloco</a:t>
            </a:r>
            <a:r>
              <a:rPr spc="15" dirty="0"/>
              <a:t> </a:t>
            </a:r>
            <a:r>
              <a:rPr dirty="0"/>
              <a:t>de</a:t>
            </a:r>
            <a:r>
              <a:rPr spc="20" dirty="0"/>
              <a:t> </a:t>
            </a:r>
            <a:r>
              <a:rPr spc="-10" dirty="0"/>
              <a:t>instruções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09572"/>
            <a:ext cx="422910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95" dirty="0">
                <a:latin typeface="Calibri"/>
                <a:cs typeface="Calibri"/>
              </a:rPr>
              <a:t>Bloco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</a:t>
            </a:r>
            <a:r>
              <a:rPr sz="1400" b="1" spc="65" dirty="0">
                <a:latin typeface="Calibri"/>
                <a:cs typeface="Calibri"/>
              </a:rPr>
              <a:t> instruções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dentro </a:t>
            </a:r>
            <a:r>
              <a:rPr sz="1400" b="1" spc="75" dirty="0">
                <a:latin typeface="Calibri"/>
                <a:cs typeface="Calibri"/>
              </a:rPr>
              <a:t>do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i="1" dirty="0">
                <a:latin typeface="Utopia Std Caption"/>
                <a:cs typeface="Utopia Std Caption"/>
              </a:rPr>
              <a:t>Loop</a:t>
            </a:r>
            <a:r>
              <a:rPr sz="1400" b="1" i="1" spc="95" dirty="0">
                <a:latin typeface="Utopia Std Caption"/>
                <a:cs typeface="Utopia Std Caption"/>
              </a:rPr>
              <a:t> </a:t>
            </a:r>
            <a:r>
              <a:rPr sz="1400" b="1" spc="75" dirty="0">
                <a:latin typeface="Calibri"/>
                <a:cs typeface="Calibri"/>
              </a:rPr>
              <a:t>ou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laço: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bloco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instruções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será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executado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b="1" dirty="0">
                <a:latin typeface="Calibri"/>
                <a:cs typeface="Calibri"/>
              </a:rPr>
              <a:t>repetidas</a:t>
            </a:r>
            <a:r>
              <a:rPr sz="1200" b="1" spc="7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vezes</a:t>
            </a:r>
            <a:r>
              <a:rPr sz="1200" spc="-10" dirty="0">
                <a:latin typeface="Arial"/>
                <a:cs typeface="Arial"/>
              </a:rPr>
              <a:t>;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está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contido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em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uma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b="1" dirty="0">
                <a:latin typeface="Calibri"/>
                <a:cs typeface="Calibri"/>
              </a:rPr>
              <a:t>estrutura</a:t>
            </a:r>
            <a:r>
              <a:rPr sz="1200" b="1" spc="80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de</a:t>
            </a:r>
            <a:r>
              <a:rPr sz="1200" b="1" spc="80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repetição</a:t>
            </a:r>
            <a:r>
              <a:rPr sz="1200" spc="-1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82381" y="1116608"/>
            <a:ext cx="1803400" cy="569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50" b="0" spc="-80" dirty="0">
                <a:solidFill>
                  <a:srgbClr val="000000"/>
                </a:solidFill>
                <a:latin typeface="Arial"/>
                <a:cs typeface="Arial"/>
              </a:rPr>
              <a:t>Contador</a:t>
            </a:r>
            <a:endParaRPr sz="35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24</a:t>
            </a: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Contador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09725"/>
            <a:ext cx="4914900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60" dirty="0">
                <a:latin typeface="Calibri"/>
                <a:cs typeface="Calibri"/>
              </a:rPr>
              <a:t>Muitas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vezes</a:t>
            </a:r>
            <a:r>
              <a:rPr sz="1400" b="1" spc="55" dirty="0">
                <a:latin typeface="Calibri"/>
                <a:cs typeface="Calibri"/>
              </a:rPr>
              <a:t> teremos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90" dirty="0">
                <a:latin typeface="Calibri"/>
                <a:cs typeface="Calibri"/>
              </a:rPr>
              <a:t>uma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sequência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finita</a:t>
            </a:r>
            <a:r>
              <a:rPr sz="1400" b="1" spc="55" dirty="0">
                <a:latin typeface="Calibri"/>
                <a:cs typeface="Calibri"/>
              </a:rPr>
              <a:t> de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35" dirty="0">
                <a:latin typeface="Calibri"/>
                <a:cs typeface="Calibri"/>
              </a:rPr>
              <a:t>repetições: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comum</a:t>
            </a:r>
            <a:r>
              <a:rPr sz="1200" spc="-25" dirty="0">
                <a:latin typeface="Arial"/>
                <a:cs typeface="Arial"/>
              </a:rPr>
              <a:t> utilizarmos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contador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para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determinar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se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b="0" i="1" dirty="0">
                <a:latin typeface="Kepler Std Medium"/>
                <a:cs typeface="Kepler Std Medium"/>
              </a:rPr>
              <a:t>loop</a:t>
            </a:r>
            <a:r>
              <a:rPr sz="1200" b="0" i="1" spc="70" dirty="0">
                <a:latin typeface="Kepler Std Medium"/>
                <a:cs typeface="Kepler Std Medium"/>
              </a:rPr>
              <a:t> </a:t>
            </a:r>
            <a:r>
              <a:rPr sz="1200" spc="-10" dirty="0">
                <a:latin typeface="Arial"/>
                <a:cs typeface="Arial"/>
              </a:rPr>
              <a:t>terminou.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0" dirty="0">
                <a:latin typeface="Arial"/>
                <a:cs typeface="Arial"/>
              </a:rPr>
              <a:t>mas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contador?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Contador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907338"/>
            <a:ext cx="5022850" cy="136017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190" dirty="0">
                <a:latin typeface="Calibri"/>
                <a:cs typeface="Calibri"/>
              </a:rPr>
              <a:t>O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contador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é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90" dirty="0">
                <a:latin typeface="Calibri"/>
                <a:cs typeface="Calibri"/>
              </a:rPr>
              <a:t>uma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variável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comum: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40" dirty="0">
                <a:latin typeface="Arial"/>
                <a:cs typeface="Arial"/>
              </a:rPr>
              <a:t>normalmente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contador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uma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variável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tipo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int</a:t>
            </a:r>
            <a:r>
              <a:rPr sz="1200" spc="-20" dirty="0">
                <a:latin typeface="Arial"/>
                <a:cs typeface="Arial"/>
              </a:rPr>
              <a:t>;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20" dirty="0">
                <a:latin typeface="Arial"/>
                <a:cs typeface="Arial"/>
              </a:rPr>
              <a:t>utilizada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para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contar </a:t>
            </a:r>
            <a:r>
              <a:rPr sz="1200" spc="-85" dirty="0">
                <a:latin typeface="Arial"/>
                <a:cs typeface="Arial"/>
              </a:rPr>
              <a:t>cada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repetição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em</a:t>
            </a:r>
            <a:r>
              <a:rPr sz="1200" spc="-20" dirty="0">
                <a:latin typeface="Arial"/>
                <a:cs typeface="Arial"/>
              </a:rPr>
              <a:t> um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b="0" i="1" spc="-20" dirty="0">
                <a:latin typeface="Kepler Std Medium"/>
                <a:cs typeface="Kepler Std Medium"/>
              </a:rPr>
              <a:t>loop</a:t>
            </a:r>
            <a:r>
              <a:rPr sz="1200" spc="-20" dirty="0">
                <a:latin typeface="Arial"/>
                <a:cs typeface="Arial"/>
              </a:rPr>
              <a:t>;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mais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comum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incrementar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contador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até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alcance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30" dirty="0">
                <a:latin typeface="Arial"/>
                <a:cs typeface="Arial"/>
              </a:rPr>
              <a:t> valor máximo;</a:t>
            </a:r>
            <a:endParaRPr sz="12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80" dirty="0">
                <a:latin typeface="Calibri"/>
                <a:cs typeface="Calibri"/>
              </a:rPr>
              <a:t>Devemos</a:t>
            </a:r>
            <a:r>
              <a:rPr sz="1400" b="1" spc="90" dirty="0">
                <a:latin typeface="Calibri"/>
                <a:cs typeface="Calibri"/>
              </a:rPr>
              <a:t> </a:t>
            </a:r>
            <a:r>
              <a:rPr sz="1400" b="1" spc="90" dirty="0">
                <a:solidFill>
                  <a:srgbClr val="00AC8C"/>
                </a:solidFill>
                <a:latin typeface="Calibri"/>
                <a:cs typeface="Calibri"/>
              </a:rPr>
              <a:t>inicializar </a:t>
            </a:r>
            <a:r>
              <a:rPr sz="1400" b="1" spc="60" dirty="0">
                <a:latin typeface="Calibri"/>
                <a:cs typeface="Calibri"/>
              </a:rPr>
              <a:t>o</a:t>
            </a:r>
            <a:r>
              <a:rPr sz="1400" b="1" spc="90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contador</a:t>
            </a:r>
            <a:r>
              <a:rPr sz="1400" b="1" spc="9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antes</a:t>
            </a:r>
            <a:r>
              <a:rPr sz="1400" b="1" spc="9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</a:t>
            </a:r>
            <a:r>
              <a:rPr sz="1400" b="1" spc="90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utilizá-</a:t>
            </a:r>
            <a:r>
              <a:rPr sz="1400" b="1" spc="40" dirty="0">
                <a:latin typeface="Calibri"/>
                <a:cs typeface="Calibri"/>
              </a:rPr>
              <a:t>lo!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26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Exemplo</a:t>
            </a:r>
            <a:r>
              <a:rPr spc="170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66747"/>
            <a:ext cx="5496560" cy="7550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3195" marR="5080" indent="-151130">
              <a:lnSpc>
                <a:spcPct val="100800"/>
              </a:lnSpc>
              <a:spcBef>
                <a:spcPts val="120"/>
              </a:spcBef>
              <a:buChar char="•"/>
              <a:tabLst>
                <a:tab pos="163195" algn="l"/>
                <a:tab pos="165735" algn="l"/>
              </a:tabLst>
            </a:pPr>
            <a:r>
              <a:rPr sz="1400" dirty="0">
                <a:solidFill>
                  <a:srgbClr val="00AC8C"/>
                </a:solidFill>
                <a:latin typeface="Arial"/>
                <a:cs typeface="Arial"/>
              </a:rPr>
              <a:t>	</a:t>
            </a:r>
            <a:r>
              <a:rPr sz="1400" spc="-110" dirty="0">
                <a:latin typeface="Arial"/>
                <a:cs typeface="Arial"/>
              </a:rPr>
              <a:t>Escreva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um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algoritmo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que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imprima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10" dirty="0">
                <a:latin typeface="Arial"/>
                <a:cs typeface="Arial"/>
              </a:rPr>
              <a:t>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sequência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dos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números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inteiros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de </a:t>
            </a:r>
            <a:r>
              <a:rPr sz="1400" spc="-114" dirty="0">
                <a:latin typeface="Arial"/>
                <a:cs typeface="Arial"/>
              </a:rPr>
              <a:t>1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100.</a:t>
            </a:r>
            <a:endParaRPr sz="1400">
              <a:latin typeface="Arial"/>
              <a:cs typeface="Arial"/>
            </a:endParaRPr>
          </a:p>
          <a:p>
            <a:pPr marL="242570">
              <a:lnSpc>
                <a:spcPct val="100000"/>
              </a:lnSpc>
              <a:spcBef>
                <a:spcPts val="555"/>
              </a:spcBef>
            </a:pPr>
            <a:r>
              <a:rPr sz="60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600" spc="-15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public class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50">
              <a:latin typeface="BIZ UDGothic"/>
              <a:cs typeface="BIZ UDGothic"/>
            </a:endParaRPr>
          </a:p>
          <a:p>
            <a:pPr marL="242570">
              <a:lnSpc>
                <a:spcPct val="100000"/>
              </a:lnSpc>
              <a:spcBef>
                <a:spcPts val="155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600">
              <a:latin typeface="BIZ UDGothic"/>
              <a:cs typeface="BIZ UD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2109" y="1860437"/>
            <a:ext cx="3136265" cy="4864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while 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 &lt;= 100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)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50">
              <a:latin typeface="BIZ UDGothic"/>
              <a:cs typeface="BIZ UDGothic"/>
            </a:endParaRPr>
          </a:p>
          <a:p>
            <a:pPr marL="99060">
              <a:lnSpc>
                <a:spcPct val="100000"/>
              </a:lnSpc>
              <a:spcBef>
                <a:spcPts val="5"/>
              </a:spcBef>
            </a:pP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System.out.print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 + 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" </a:t>
            </a:r>
            <a:r>
              <a:rPr sz="750" spc="-25" dirty="0">
                <a:solidFill>
                  <a:srgbClr val="B25900"/>
                </a:solidFill>
                <a:latin typeface="BIZ UDGothic"/>
                <a:cs typeface="BIZ UDGothic"/>
              </a:rPr>
              <a:t>")</a:t>
            </a:r>
            <a:r>
              <a:rPr sz="750" spc="-25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750">
              <a:latin typeface="BIZ UDGothic"/>
              <a:cs typeface="BIZ UDGothic"/>
            </a:endParaRPr>
          </a:p>
          <a:p>
            <a:pPr marL="99060">
              <a:lnSpc>
                <a:spcPct val="100000"/>
              </a:lnSpc>
              <a:spcBef>
                <a:spcPts val="10"/>
              </a:spcBef>
            </a:pP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contador++;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// mesma coisa que utilizar contador = contador + </a:t>
            </a:r>
            <a:r>
              <a:rPr sz="750" spc="-50" dirty="0">
                <a:solidFill>
                  <a:srgbClr val="009380"/>
                </a:solidFill>
                <a:latin typeface="BIZ UDGothic"/>
                <a:cs typeface="BIZ UDGothic"/>
              </a:rPr>
              <a:t>1</a:t>
            </a:r>
            <a:endParaRPr sz="7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750">
              <a:latin typeface="BIZ UDGothic"/>
              <a:cs typeface="BIZ UD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3292" y="1399598"/>
            <a:ext cx="2262505" cy="129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4310" indent="-143510">
              <a:lnSpc>
                <a:spcPct val="100000"/>
              </a:lnSpc>
              <a:spcBef>
                <a:spcPts val="105"/>
              </a:spcBef>
              <a:buClr>
                <a:srgbClr val="666666"/>
              </a:buClr>
              <a:buSzPct val="80000"/>
              <a:buFont typeface="BIZ UDGothic"/>
              <a:buAutoNum type="arabicPlain" startAt="3"/>
              <a:tabLst>
                <a:tab pos="194310" algn="l"/>
              </a:tabLst>
            </a:pP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public static void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[]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)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50">
              <a:latin typeface="BIZ UDGothic"/>
              <a:cs typeface="BIZ UDGothic"/>
            </a:endParaRPr>
          </a:p>
          <a:p>
            <a:pPr marL="281305" indent="-230504">
              <a:lnSpc>
                <a:spcPct val="100000"/>
              </a:lnSpc>
              <a:spcBef>
                <a:spcPts val="5"/>
              </a:spcBef>
              <a:buClr>
                <a:srgbClr val="666666"/>
              </a:buClr>
              <a:buSzPct val="80000"/>
              <a:buFont typeface="BIZ UDGothic"/>
              <a:buAutoNum type="arabicPlain" startAt="3"/>
              <a:tabLst>
                <a:tab pos="281305" algn="l"/>
              </a:tabLst>
            </a:pP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int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contador;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// declarando o </a:t>
            </a:r>
            <a:r>
              <a:rPr sz="750" spc="-10" dirty="0">
                <a:solidFill>
                  <a:srgbClr val="009380"/>
                </a:solidFill>
                <a:latin typeface="BIZ UDGothic"/>
                <a:cs typeface="BIZ UDGothic"/>
              </a:rPr>
              <a:t>contador</a:t>
            </a:r>
            <a:endParaRPr sz="750">
              <a:latin typeface="BIZ UDGothic"/>
              <a:cs typeface="BIZ UDGothic"/>
            </a:endParaRPr>
          </a:p>
          <a:p>
            <a:pPr marL="281305" indent="-230504">
              <a:lnSpc>
                <a:spcPct val="100000"/>
              </a:lnSpc>
              <a:spcBef>
                <a:spcPts val="10"/>
              </a:spcBef>
              <a:buClr>
                <a:srgbClr val="666666"/>
              </a:buClr>
              <a:buSzPct val="80000"/>
              <a:buAutoNum type="arabicPlain" startAt="3"/>
              <a:tabLst>
                <a:tab pos="281305" algn="l"/>
              </a:tabLst>
            </a:pP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 = 1;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// inicializando o </a:t>
            </a:r>
            <a:r>
              <a:rPr sz="750" spc="-10" dirty="0">
                <a:solidFill>
                  <a:srgbClr val="009380"/>
                </a:solidFill>
                <a:latin typeface="BIZ UDGothic"/>
                <a:cs typeface="BIZ UDGothic"/>
              </a:rPr>
              <a:t>contador</a:t>
            </a:r>
            <a:endParaRPr sz="750">
              <a:latin typeface="BIZ UDGothic"/>
              <a:cs typeface="BIZ UDGothic"/>
            </a:endParaRPr>
          </a:p>
          <a:p>
            <a:pPr marL="50800">
              <a:lnSpc>
                <a:spcPct val="100000"/>
              </a:lnSpc>
              <a:spcBef>
                <a:spcPts val="155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6</a:t>
            </a:r>
            <a:endParaRPr sz="600">
              <a:latin typeface="BIZ UDGothic"/>
              <a:cs typeface="BIZ UDGothic"/>
            </a:endParaRPr>
          </a:p>
          <a:p>
            <a:pPr marL="50800">
              <a:lnSpc>
                <a:spcPct val="100000"/>
              </a:lnSpc>
              <a:spcBef>
                <a:spcPts val="190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7</a:t>
            </a:r>
            <a:endParaRPr sz="600">
              <a:latin typeface="BIZ UDGothic"/>
              <a:cs typeface="BIZ UDGothic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8</a:t>
            </a:r>
            <a:endParaRPr sz="600">
              <a:latin typeface="BIZ UDGothic"/>
              <a:cs typeface="BIZ UDGothic"/>
            </a:endParaRPr>
          </a:p>
          <a:p>
            <a:pPr marL="50800">
              <a:lnSpc>
                <a:spcPct val="100000"/>
              </a:lnSpc>
              <a:spcBef>
                <a:spcPts val="185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9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spc="-25" dirty="0">
                <a:solidFill>
                  <a:srgbClr val="666666"/>
                </a:solidFill>
                <a:latin typeface="BIZ UDGothic"/>
                <a:cs typeface="BIZ UDGothic"/>
              </a:rPr>
              <a:t>10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dirty="0">
                <a:solidFill>
                  <a:srgbClr val="666666"/>
                </a:solidFill>
                <a:latin typeface="BIZ UDGothic"/>
                <a:cs typeface="BIZ UDGothic"/>
              </a:rPr>
              <a:t>11</a:t>
            </a:r>
            <a:r>
              <a:rPr sz="600" spc="114" dirty="0">
                <a:solidFill>
                  <a:srgbClr val="666666"/>
                </a:solidFill>
                <a:latin typeface="BIZ UDGothic"/>
                <a:cs typeface="BIZ UDGothic"/>
              </a:rPr>
              <a:t> 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7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60"/>
              </a:spcBef>
            </a:pPr>
            <a:r>
              <a:rPr sz="600" spc="-25" dirty="0">
                <a:solidFill>
                  <a:srgbClr val="666666"/>
                </a:solidFill>
                <a:latin typeface="BIZ UDGothic"/>
                <a:cs typeface="BIZ UDGothic"/>
              </a:rPr>
              <a:t>12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dirty="0">
                <a:solidFill>
                  <a:srgbClr val="666666"/>
                </a:solidFill>
                <a:latin typeface="BIZ UDGothic"/>
                <a:cs typeface="BIZ UDGothic"/>
              </a:rPr>
              <a:t>13</a:t>
            </a:r>
            <a:r>
              <a:rPr sz="600" spc="-15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750">
              <a:latin typeface="BIZ UDGothic"/>
              <a:cs typeface="BIZ UDGothic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27</a:t>
            </a: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Exemplo</a:t>
            </a:r>
            <a:r>
              <a:rPr spc="170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394487"/>
            <a:ext cx="4907915" cy="5880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05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spc="-90" dirty="0">
                <a:latin typeface="Arial"/>
                <a:cs typeface="Arial"/>
              </a:rPr>
              <a:t>Escreva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um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algoritmo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que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imprima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0" dirty="0">
                <a:latin typeface="Arial"/>
                <a:cs typeface="Arial"/>
              </a:rPr>
              <a:t>os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números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80" dirty="0">
                <a:latin typeface="Arial"/>
                <a:cs typeface="Arial"/>
              </a:rPr>
              <a:t>pares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14" dirty="0">
                <a:latin typeface="Arial"/>
                <a:cs typeface="Arial"/>
              </a:rPr>
              <a:t>0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10.</a:t>
            </a:r>
            <a:endParaRPr sz="1400">
              <a:latin typeface="Arial"/>
              <a:cs typeface="Arial"/>
            </a:endParaRPr>
          </a:p>
          <a:p>
            <a:pPr marL="277495">
              <a:lnSpc>
                <a:spcPct val="100000"/>
              </a:lnSpc>
              <a:spcBef>
                <a:spcPts val="335"/>
              </a:spcBef>
            </a:pPr>
            <a:r>
              <a:rPr sz="60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600" spc="-13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750" b="1" spc="6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750" b="1" spc="6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Pares</a:t>
            </a:r>
            <a:r>
              <a:rPr sz="750" spc="6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50">
              <a:latin typeface="BIZ UDGothic"/>
              <a:cs typeface="BIZ UDGothic"/>
            </a:endParaRPr>
          </a:p>
          <a:p>
            <a:pPr marL="277495">
              <a:lnSpc>
                <a:spcPct val="100000"/>
              </a:lnSpc>
              <a:spcBef>
                <a:spcPts val="180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600">
              <a:latin typeface="BIZ UDGothic"/>
              <a:cs typeface="BIZ UD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278" y="1196528"/>
            <a:ext cx="2041525" cy="379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3200"/>
              </a:lnSpc>
              <a:spcBef>
                <a:spcPts val="95"/>
              </a:spcBef>
            </a:pP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int</a:t>
            </a:r>
            <a:r>
              <a:rPr sz="750" b="1" spc="6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contador;</a:t>
            </a:r>
            <a:r>
              <a:rPr sz="750" spc="6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//</a:t>
            </a:r>
            <a:r>
              <a:rPr sz="750" spc="6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declarando</a:t>
            </a:r>
            <a:r>
              <a:rPr sz="750" spc="7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o</a:t>
            </a:r>
            <a:r>
              <a:rPr sz="750" spc="6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spc="-10" dirty="0">
                <a:solidFill>
                  <a:srgbClr val="009380"/>
                </a:solidFill>
                <a:latin typeface="BIZ UDGothic"/>
                <a:cs typeface="BIZ UDGothic"/>
              </a:rPr>
              <a:t>contador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</a:t>
            </a:r>
            <a:r>
              <a:rPr sz="750" spc="6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750" spc="6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0;</a:t>
            </a:r>
            <a:r>
              <a:rPr sz="750" spc="6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//</a:t>
            </a:r>
            <a:r>
              <a:rPr sz="750" spc="6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inicializando</a:t>
            </a:r>
            <a:r>
              <a:rPr sz="750" spc="6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o</a:t>
            </a:r>
            <a:r>
              <a:rPr sz="750" spc="6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spc="-10" dirty="0">
                <a:solidFill>
                  <a:srgbClr val="009380"/>
                </a:solidFill>
                <a:latin typeface="BIZ UDGothic"/>
                <a:cs typeface="BIZ UDGothic"/>
              </a:rPr>
              <a:t>contador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int</a:t>
            </a:r>
            <a:r>
              <a:rPr sz="750" b="1" spc="4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spc="-10" dirty="0">
                <a:solidFill>
                  <a:srgbClr val="595959"/>
                </a:solidFill>
                <a:latin typeface="BIZ UDGothic"/>
                <a:cs typeface="BIZ UDGothic"/>
              </a:rPr>
              <a:t>resto;</a:t>
            </a:r>
            <a:endParaRPr sz="750">
              <a:latin typeface="BIZ UDGothic"/>
              <a:cs typeface="BIZ UD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2278" y="1668471"/>
            <a:ext cx="2621280" cy="2616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while</a:t>
            </a:r>
            <a:r>
              <a:rPr sz="750" b="1" spc="6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</a:t>
            </a:r>
            <a:r>
              <a:rPr sz="750" spc="6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&lt;=</a:t>
            </a:r>
            <a:r>
              <a:rPr sz="750" spc="6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10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750" spc="6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50">
              <a:latin typeface="BIZ UDGothic"/>
              <a:cs typeface="BIZ UDGothic"/>
            </a:endParaRPr>
          </a:p>
          <a:p>
            <a:pPr marL="100965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resto</a:t>
            </a:r>
            <a:r>
              <a:rPr sz="750" spc="4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750" spc="5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</a:t>
            </a:r>
            <a:r>
              <a:rPr sz="750" spc="4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%</a:t>
            </a:r>
            <a:r>
              <a:rPr sz="750" spc="5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2;</a:t>
            </a:r>
            <a:r>
              <a:rPr sz="750" spc="5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//</a:t>
            </a:r>
            <a:r>
              <a:rPr sz="750" spc="4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calcula</a:t>
            </a:r>
            <a:r>
              <a:rPr sz="750" spc="5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o</a:t>
            </a:r>
            <a:r>
              <a:rPr sz="750" spc="5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resto</a:t>
            </a:r>
            <a:r>
              <a:rPr sz="750" spc="4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009380"/>
                </a:solidFill>
                <a:latin typeface="BIZ UDGothic"/>
                <a:cs typeface="BIZ UDGothic"/>
              </a:rPr>
              <a:t>da</a:t>
            </a:r>
            <a:r>
              <a:rPr sz="750" spc="5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750" spc="-10" dirty="0">
                <a:solidFill>
                  <a:srgbClr val="009380"/>
                </a:solidFill>
                <a:latin typeface="BIZ UDGothic"/>
                <a:cs typeface="BIZ UDGothic"/>
              </a:rPr>
              <a:t>divisao</a:t>
            </a:r>
            <a:endParaRPr sz="750">
              <a:latin typeface="BIZ UDGothic"/>
              <a:cs typeface="BIZ UD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20765" y="2022439"/>
            <a:ext cx="2818130" cy="49784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if</a:t>
            </a:r>
            <a:r>
              <a:rPr sz="750" b="1" spc="4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resto</a:t>
            </a:r>
            <a:r>
              <a:rPr sz="750" spc="4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==</a:t>
            </a:r>
            <a:r>
              <a:rPr sz="750" spc="4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0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750" spc="4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50">
              <a:latin typeface="BIZ UDGothic"/>
              <a:cs typeface="BIZ UDGothic"/>
            </a:endParaRPr>
          </a:p>
          <a:p>
            <a:pPr marL="100965">
              <a:lnSpc>
                <a:spcPct val="100000"/>
              </a:lnSpc>
              <a:spcBef>
                <a:spcPts val="25"/>
              </a:spcBef>
            </a:pP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("O</a:t>
            </a:r>
            <a:r>
              <a:rPr sz="750" spc="6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numero</a:t>
            </a:r>
            <a:r>
              <a:rPr sz="750" spc="7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"</a:t>
            </a:r>
            <a:r>
              <a:rPr sz="750" spc="6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+</a:t>
            </a:r>
            <a:r>
              <a:rPr sz="750" spc="7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contador</a:t>
            </a:r>
            <a:r>
              <a:rPr sz="750" spc="6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+</a:t>
            </a:r>
            <a:r>
              <a:rPr sz="750" spc="7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"</a:t>
            </a:r>
            <a:r>
              <a:rPr sz="750" spc="6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eh</a:t>
            </a:r>
            <a:r>
              <a:rPr sz="750" spc="7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spc="-10" dirty="0">
                <a:solidFill>
                  <a:srgbClr val="B25900"/>
                </a:solidFill>
                <a:latin typeface="BIZ UDGothic"/>
                <a:cs typeface="BIZ UDGothic"/>
              </a:rPr>
              <a:t>par")</a:t>
            </a:r>
            <a:r>
              <a:rPr sz="75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7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7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750" spc="-10" dirty="0">
                <a:solidFill>
                  <a:srgbClr val="595959"/>
                </a:solidFill>
                <a:latin typeface="BIZ UDGothic"/>
                <a:cs typeface="BIZ UDGothic"/>
              </a:rPr>
              <a:t>contador++;</a:t>
            </a:r>
            <a:endParaRPr sz="750">
              <a:latin typeface="BIZ UDGothic"/>
              <a:cs typeface="BIZ UD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278" y="2494393"/>
            <a:ext cx="74930" cy="1435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750">
              <a:latin typeface="BIZ UDGothic"/>
              <a:cs typeface="BIZ UD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6968" y="935955"/>
            <a:ext cx="2178685" cy="20561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315"/>
              </a:spcBef>
            </a:pPr>
            <a:r>
              <a:rPr sz="600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600" spc="185" dirty="0">
                <a:solidFill>
                  <a:srgbClr val="666666"/>
                </a:solidFill>
                <a:latin typeface="BIZ UDGothic"/>
                <a:cs typeface="BIZ UDGothic"/>
              </a:rPr>
              <a:t> 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750" b="1" spc="6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750" b="1" spc="6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750" b="1" spc="6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750" spc="6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750" spc="6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50">
              <a:latin typeface="BIZ UDGothic"/>
              <a:cs typeface="BIZ UDGothic"/>
            </a:endParaRPr>
          </a:p>
          <a:p>
            <a:pPr marL="51435">
              <a:lnSpc>
                <a:spcPct val="100000"/>
              </a:lnSpc>
              <a:spcBef>
                <a:spcPts val="180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endParaRPr sz="600">
              <a:latin typeface="BIZ UDGothic"/>
              <a:cs typeface="BIZ UDGothic"/>
            </a:endParaRPr>
          </a:p>
          <a:p>
            <a:pPr marL="51435">
              <a:lnSpc>
                <a:spcPct val="100000"/>
              </a:lnSpc>
              <a:spcBef>
                <a:spcPts val="210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5</a:t>
            </a:r>
            <a:endParaRPr sz="600">
              <a:latin typeface="BIZ UDGothic"/>
              <a:cs typeface="BIZ UDGothic"/>
            </a:endParaRPr>
          </a:p>
          <a:p>
            <a:pPr marL="51435">
              <a:lnSpc>
                <a:spcPct val="100000"/>
              </a:lnSpc>
              <a:spcBef>
                <a:spcPts val="209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6</a:t>
            </a:r>
            <a:endParaRPr sz="600">
              <a:latin typeface="BIZ UDGothic"/>
              <a:cs typeface="BIZ UDGothic"/>
            </a:endParaRPr>
          </a:p>
          <a:p>
            <a:pPr marL="51435">
              <a:lnSpc>
                <a:spcPct val="100000"/>
              </a:lnSpc>
              <a:spcBef>
                <a:spcPts val="204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7</a:t>
            </a:r>
            <a:endParaRPr sz="600">
              <a:latin typeface="BIZ UDGothic"/>
              <a:cs typeface="BIZ UDGothic"/>
            </a:endParaRPr>
          </a:p>
          <a:p>
            <a:pPr marL="51435">
              <a:lnSpc>
                <a:spcPct val="100000"/>
              </a:lnSpc>
              <a:spcBef>
                <a:spcPts val="210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8</a:t>
            </a:r>
            <a:endParaRPr sz="600">
              <a:latin typeface="BIZ UDGothic"/>
              <a:cs typeface="BIZ UDGothic"/>
            </a:endParaRPr>
          </a:p>
          <a:p>
            <a:pPr marL="51435">
              <a:lnSpc>
                <a:spcPct val="100000"/>
              </a:lnSpc>
              <a:spcBef>
                <a:spcPts val="210"/>
              </a:spcBef>
            </a:pPr>
            <a:r>
              <a:rPr sz="600" spc="-50" dirty="0">
                <a:solidFill>
                  <a:srgbClr val="666666"/>
                </a:solidFill>
                <a:latin typeface="BIZ UDGothic"/>
                <a:cs typeface="BIZ UDGothic"/>
              </a:rPr>
              <a:t>9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600" spc="-25" dirty="0">
                <a:solidFill>
                  <a:srgbClr val="666666"/>
                </a:solidFill>
                <a:latin typeface="BIZ UDGothic"/>
                <a:cs typeface="BIZ UDGothic"/>
              </a:rPr>
              <a:t>10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600" spc="-25" dirty="0">
                <a:solidFill>
                  <a:srgbClr val="666666"/>
                </a:solidFill>
                <a:latin typeface="BIZ UDGothic"/>
                <a:cs typeface="BIZ UDGothic"/>
              </a:rPr>
              <a:t>11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600" spc="-25" dirty="0">
                <a:solidFill>
                  <a:srgbClr val="666666"/>
                </a:solidFill>
                <a:latin typeface="BIZ UDGothic"/>
                <a:cs typeface="BIZ UDGothic"/>
              </a:rPr>
              <a:t>12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600" spc="-25" dirty="0">
                <a:solidFill>
                  <a:srgbClr val="666666"/>
                </a:solidFill>
                <a:latin typeface="BIZ UDGothic"/>
                <a:cs typeface="BIZ UDGothic"/>
              </a:rPr>
              <a:t>13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600" spc="-25" dirty="0">
                <a:solidFill>
                  <a:srgbClr val="666666"/>
                </a:solidFill>
                <a:latin typeface="BIZ UDGothic"/>
                <a:cs typeface="BIZ UDGothic"/>
              </a:rPr>
              <a:t>14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600" spc="-25" dirty="0">
                <a:solidFill>
                  <a:srgbClr val="666666"/>
                </a:solidFill>
                <a:latin typeface="BIZ UDGothic"/>
                <a:cs typeface="BIZ UDGothic"/>
              </a:rPr>
              <a:t>15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600" spc="-25" dirty="0">
                <a:solidFill>
                  <a:srgbClr val="666666"/>
                </a:solidFill>
                <a:latin typeface="BIZ UDGothic"/>
                <a:cs typeface="BIZ UDGothic"/>
              </a:rPr>
              <a:t>16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666666"/>
                </a:solidFill>
                <a:latin typeface="BIZ UDGothic"/>
                <a:cs typeface="BIZ UDGothic"/>
              </a:rPr>
              <a:t>17</a:t>
            </a:r>
            <a:r>
              <a:rPr sz="600" spc="130" dirty="0">
                <a:solidFill>
                  <a:srgbClr val="666666"/>
                </a:solidFill>
                <a:latin typeface="BIZ UDGothic"/>
                <a:cs typeface="BIZ UDGothic"/>
              </a:rPr>
              <a:t> 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7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spc="-25" dirty="0">
                <a:solidFill>
                  <a:srgbClr val="666666"/>
                </a:solidFill>
                <a:latin typeface="BIZ UDGothic"/>
                <a:cs typeface="BIZ UDGothic"/>
              </a:rPr>
              <a:t>18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666666"/>
                </a:solidFill>
                <a:latin typeface="BIZ UDGothic"/>
                <a:cs typeface="BIZ UDGothic"/>
              </a:rPr>
              <a:t>19</a:t>
            </a:r>
            <a:r>
              <a:rPr sz="600" spc="-135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5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750">
              <a:latin typeface="BIZ UDGothic"/>
              <a:cs typeface="BIZ UD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28</a:t>
            </a: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855" y="137868"/>
            <a:ext cx="9277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00AC8C"/>
                </a:solidFill>
                <a:latin typeface="Palatino Linotype"/>
                <a:cs typeface="Palatino Linotype"/>
              </a:rPr>
              <a:t>Exercício</a:t>
            </a:r>
            <a:r>
              <a:rPr sz="1400" b="1" spc="215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1400" b="1" spc="-50" dirty="0">
                <a:solidFill>
                  <a:srgbClr val="00AC8C"/>
                </a:solidFill>
                <a:latin typeface="Palatino Linotype"/>
                <a:cs typeface="Palatino Linotype"/>
              </a:rPr>
              <a:t>1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292" y="1339606"/>
            <a:ext cx="530098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90" dirty="0">
                <a:latin typeface="Arial"/>
                <a:cs typeface="Arial"/>
              </a:rPr>
              <a:t>Escreva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um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algoritmo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que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imprima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sequência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do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número </a:t>
            </a:r>
            <a:r>
              <a:rPr sz="1400" spc="-114" dirty="0">
                <a:latin typeface="Arial"/>
                <a:cs typeface="Arial"/>
              </a:rPr>
              <a:t>100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ao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200.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29</a:t>
            </a: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7822" y="1116608"/>
            <a:ext cx="2312670" cy="569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50" b="0" spc="-95" dirty="0">
                <a:solidFill>
                  <a:srgbClr val="000000"/>
                </a:solidFill>
                <a:latin typeface="Arial"/>
                <a:cs typeface="Arial"/>
              </a:rPr>
              <a:t>Acumulador</a:t>
            </a:r>
            <a:endParaRPr sz="35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30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Acumulador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008557"/>
            <a:ext cx="5312410" cy="11029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70" dirty="0">
                <a:latin typeface="Calibri"/>
                <a:cs typeface="Calibri"/>
              </a:rPr>
              <a:t>Variável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responsável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85" dirty="0">
                <a:latin typeface="Calibri"/>
                <a:cs typeface="Calibri"/>
              </a:rPr>
              <a:t>por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85" dirty="0">
                <a:latin typeface="Calibri"/>
                <a:cs typeface="Calibri"/>
              </a:rPr>
              <a:t>acumular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valores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dentro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i="1" spc="-10" dirty="0">
                <a:latin typeface="Utopia Std Caption"/>
                <a:cs typeface="Utopia Std Caption"/>
              </a:rPr>
              <a:t>loop</a:t>
            </a:r>
            <a:r>
              <a:rPr sz="1400" b="1" spc="-10" dirty="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25" dirty="0">
                <a:latin typeface="Arial"/>
                <a:cs typeface="Arial"/>
              </a:rPr>
              <a:t>Similar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contador,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mas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valor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ser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acumulado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uma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variável</a:t>
            </a:r>
            <a:r>
              <a:rPr sz="1200" spc="-1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70" dirty="0">
                <a:latin typeface="Calibri"/>
                <a:cs typeface="Calibri"/>
              </a:rPr>
              <a:t>Exemplo: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5" dirty="0">
                <a:latin typeface="Arial"/>
                <a:cs typeface="Arial"/>
              </a:rPr>
              <a:t>Calcular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somatório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dos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números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1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100.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31</a:t>
            </a: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Exemplo</a:t>
            </a:r>
            <a:r>
              <a:rPr spc="170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399313"/>
            <a:ext cx="3030220" cy="79629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580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100" dirty="0">
                <a:latin typeface="Calibri"/>
                <a:cs typeface="Calibri"/>
              </a:rPr>
              <a:t>Cálculo</a:t>
            </a:r>
            <a:r>
              <a:rPr sz="1400" b="1" spc="45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do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45" dirty="0">
                <a:latin typeface="Calibri"/>
                <a:cs typeface="Calibri"/>
              </a:rPr>
              <a:t>somatório:</a:t>
            </a:r>
            <a:endParaRPr sz="1400">
              <a:latin typeface="Calibri"/>
              <a:cs typeface="Calibri"/>
            </a:endParaRPr>
          </a:p>
          <a:p>
            <a:pPr marL="296545">
              <a:lnSpc>
                <a:spcPct val="100000"/>
              </a:lnSpc>
              <a:spcBef>
                <a:spcPts val="315"/>
              </a:spcBef>
            </a:pPr>
            <a:r>
              <a:rPr sz="800" spc="-1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800" spc="-204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100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1000" b="1" spc="-4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1000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1000" b="1" spc="-3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1000" dirty="0">
                <a:solidFill>
                  <a:srgbClr val="595959"/>
                </a:solidFill>
                <a:latin typeface="BIZ UDGothic"/>
                <a:cs typeface="BIZ UDGothic"/>
              </a:rPr>
              <a:t>Somatorio</a:t>
            </a:r>
            <a:r>
              <a:rPr sz="1000" spc="-3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100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1000">
              <a:latin typeface="BIZ UDGothic"/>
              <a:cs typeface="BIZ UDGothic"/>
            </a:endParaRPr>
          </a:p>
          <a:p>
            <a:pPr marL="296545">
              <a:lnSpc>
                <a:spcPct val="100000"/>
              </a:lnSpc>
              <a:spcBef>
                <a:spcPts val="195"/>
              </a:spcBef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800">
              <a:latin typeface="BIZ UDGothic"/>
              <a:cs typeface="BIZ UDGothic"/>
            </a:endParaRPr>
          </a:p>
          <a:p>
            <a:pPr marL="296545">
              <a:lnSpc>
                <a:spcPct val="100000"/>
              </a:lnSpc>
              <a:spcBef>
                <a:spcPts val="35"/>
              </a:spcBef>
              <a:tabLst>
                <a:tab pos="486409" algn="l"/>
              </a:tabLst>
            </a:pPr>
            <a:r>
              <a:rPr sz="800" spc="-50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80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100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1000" b="1" spc="-4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1000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1000" b="1" spc="-4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1000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1000" b="1" spc="-4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100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100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1000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1000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1000" spc="-4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1000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100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1000" spc="-3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100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1000">
              <a:latin typeface="BIZ UDGothic"/>
              <a:cs typeface="BIZ UD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5719" y="1200164"/>
          <a:ext cx="3404235" cy="1800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7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2240">
                <a:tc>
                  <a:txBody>
                    <a:bodyPr/>
                    <a:lstStyle/>
                    <a:p>
                      <a:pPr marR="106045" algn="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4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ts val="1019"/>
                        </a:lnSpc>
                      </a:pP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int</a:t>
                      </a:r>
                      <a:r>
                        <a:rPr sz="1000" b="1" spc="-2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contador</a:t>
                      </a:r>
                      <a:r>
                        <a:rPr sz="10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10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1;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3830">
                <a:tc>
                  <a:txBody>
                    <a:bodyPr/>
                    <a:lstStyle/>
                    <a:p>
                      <a:pPr marR="106045" algn="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5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ts val="1130"/>
                        </a:lnSpc>
                      </a:pP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int</a:t>
                      </a:r>
                      <a:r>
                        <a:rPr sz="1000" b="1" spc="-3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acumulador</a:t>
                      </a:r>
                      <a:r>
                        <a:rPr sz="1000" spc="-3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10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0;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525">
                <a:tc>
                  <a:txBody>
                    <a:bodyPr/>
                    <a:lstStyle/>
                    <a:p>
                      <a:pPr marR="106045" algn="r">
                        <a:lnSpc>
                          <a:spcPts val="940"/>
                        </a:lnSpc>
                        <a:spcBef>
                          <a:spcPts val="35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6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6210">
                <a:tc>
                  <a:txBody>
                    <a:bodyPr/>
                    <a:lstStyle/>
                    <a:p>
                      <a:pPr marR="106045" algn="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7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96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ts val="1130"/>
                        </a:lnSpc>
                      </a:pPr>
                      <a:r>
                        <a:rPr sz="10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while</a:t>
                      </a:r>
                      <a:r>
                        <a:rPr sz="1000" b="1" spc="-3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contador</a:t>
                      </a:r>
                      <a:r>
                        <a:rPr sz="1000" spc="-3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&lt;</a:t>
                      </a:r>
                      <a:r>
                        <a:rPr sz="1000" spc="-3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100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1000" spc="-2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{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0495">
                <a:tc>
                  <a:txBody>
                    <a:bodyPr/>
                    <a:lstStyle/>
                    <a:p>
                      <a:pPr marR="106045" algn="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8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090"/>
                        </a:lnSpc>
                      </a:pPr>
                      <a:r>
                        <a:rPr sz="10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//</a:t>
                      </a:r>
                      <a:r>
                        <a:rPr sz="1000" spc="-3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adiciona</a:t>
                      </a:r>
                      <a:r>
                        <a:rPr sz="1000" spc="-25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o</a:t>
                      </a:r>
                      <a:r>
                        <a:rPr sz="1000" spc="-25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contador</a:t>
                      </a:r>
                      <a:r>
                        <a:rPr sz="1000" spc="-25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ao</a:t>
                      </a:r>
                      <a:r>
                        <a:rPr sz="1000" spc="-25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acumulador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765">
                <a:tc>
                  <a:txBody>
                    <a:bodyPr/>
                    <a:lstStyle/>
                    <a:p>
                      <a:pPr marR="106045" algn="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80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9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095"/>
                        </a:lnSpc>
                      </a:pP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acumulador</a:t>
                      </a:r>
                      <a:r>
                        <a:rPr sz="1000" spc="-3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1000" spc="-3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acumulador</a:t>
                      </a:r>
                      <a:r>
                        <a:rPr sz="1000" spc="-3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+</a:t>
                      </a:r>
                      <a:r>
                        <a:rPr sz="1000" spc="-3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contador;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9860">
                <a:tc>
                  <a:txBody>
                    <a:bodyPr/>
                    <a:lstStyle/>
                    <a:p>
                      <a:pPr marR="106045" algn="r">
                        <a:lnSpc>
                          <a:spcPts val="960"/>
                        </a:lnSpc>
                        <a:spcBef>
                          <a:spcPts val="125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10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9065">
                        <a:lnSpc>
                          <a:spcPts val="1085"/>
                        </a:lnSpc>
                      </a:pP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contador++;</a:t>
                      </a:r>
                      <a:r>
                        <a:rPr sz="1000" spc="-4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//</a:t>
                      </a:r>
                      <a:r>
                        <a:rPr sz="1000" spc="-35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incrementa</a:t>
                      </a:r>
                      <a:r>
                        <a:rPr sz="1000" spc="-35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o</a:t>
                      </a:r>
                      <a:r>
                        <a:rPr sz="1000" spc="-35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contador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4465">
                <a:tc>
                  <a:txBody>
                    <a:bodyPr/>
                    <a:lstStyle/>
                    <a:p>
                      <a:pPr marR="106045" algn="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11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ts val="1140"/>
                        </a:lnSpc>
                      </a:pPr>
                      <a:r>
                        <a:rPr sz="10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795">
                <a:tc>
                  <a:txBody>
                    <a:bodyPr/>
                    <a:lstStyle/>
                    <a:p>
                      <a:pPr marR="106045" algn="r">
                        <a:lnSpc>
                          <a:spcPts val="950"/>
                        </a:lnSpc>
                        <a:spcBef>
                          <a:spcPts val="35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12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marR="106045" algn="r">
                        <a:lnSpc>
                          <a:spcPts val="960"/>
                        </a:lnSpc>
                        <a:spcBef>
                          <a:spcPts val="140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13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ts val="1100"/>
                        </a:lnSpc>
                      </a:pP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("A</a:t>
                      </a:r>
                      <a:r>
                        <a:rPr sz="1000" spc="-4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soma</a:t>
                      </a:r>
                      <a:r>
                        <a:rPr sz="1000" spc="-3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eh</a:t>
                      </a:r>
                      <a:r>
                        <a:rPr sz="1000" spc="-3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"</a:t>
                      </a:r>
                      <a:r>
                        <a:rPr sz="1000" spc="-3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+</a:t>
                      </a:r>
                      <a:r>
                        <a:rPr sz="1000" spc="-3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acumulador</a:t>
                      </a:r>
                      <a:r>
                        <a:rPr sz="10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10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6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80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14</a:t>
                      </a:r>
                      <a:endParaRPr sz="800">
                        <a:latin typeface="BIZ UDGothic"/>
                        <a:cs typeface="BIZ UDGothic"/>
                      </a:endParaRPr>
                    </a:p>
                    <a:p>
                      <a:pPr marL="31750">
                        <a:lnSpc>
                          <a:spcPts val="1090"/>
                        </a:lnSpc>
                        <a:spcBef>
                          <a:spcPts val="35"/>
                        </a:spcBef>
                      </a:pPr>
                      <a:r>
                        <a:rPr sz="800" spc="-1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15</a:t>
                      </a:r>
                      <a:r>
                        <a:rPr sz="800" spc="-19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1000" b="1" spc="-6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17145" marB="0"/>
                </a:tc>
                <a:tc>
                  <a:txBody>
                    <a:bodyPr/>
                    <a:lstStyle/>
                    <a:p>
                      <a:pPr marL="24765">
                        <a:lnSpc>
                          <a:spcPts val="1140"/>
                        </a:lnSpc>
                      </a:pPr>
                      <a:r>
                        <a:rPr sz="10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10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32</a:t>
            </a: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Exemplo</a:t>
            </a:r>
            <a:r>
              <a:rPr spc="170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503833"/>
            <a:ext cx="2135505" cy="147129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80" dirty="0">
                <a:latin typeface="Calibri"/>
                <a:cs typeface="Calibri"/>
              </a:rPr>
              <a:t>Faça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algoritmo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que: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0" dirty="0">
                <a:latin typeface="Arial"/>
                <a:cs typeface="Arial"/>
              </a:rPr>
              <a:t>leia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nota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final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5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alunos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0" dirty="0">
                <a:latin typeface="Arial"/>
                <a:cs typeface="Arial"/>
              </a:rPr>
              <a:t>calcule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média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da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classe:</a:t>
            </a:r>
            <a:endParaRPr sz="120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969"/>
              </a:spcBef>
            </a:pPr>
            <a:r>
              <a:rPr sz="55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550" spc="-14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import</a:t>
            </a:r>
            <a:r>
              <a:rPr sz="700" b="1" spc="-2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spc="-10" dirty="0">
                <a:solidFill>
                  <a:srgbClr val="595959"/>
                </a:solidFill>
                <a:latin typeface="BIZ UDGothic"/>
                <a:cs typeface="BIZ UDGothic"/>
              </a:rPr>
              <a:t>java.util.Scanner;</a:t>
            </a:r>
            <a:endParaRPr sz="700">
              <a:latin typeface="BIZ UDGothic"/>
              <a:cs typeface="BIZ UDGothic"/>
            </a:endParaRPr>
          </a:p>
          <a:p>
            <a:pPr marL="21590">
              <a:lnSpc>
                <a:spcPct val="100000"/>
              </a:lnSpc>
              <a:spcBef>
                <a:spcPts val="150"/>
              </a:spcBef>
            </a:pPr>
            <a:r>
              <a:rPr sz="55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550">
              <a:latin typeface="BIZ UDGothic"/>
              <a:cs typeface="BIZ UDGothic"/>
            </a:endParaRPr>
          </a:p>
          <a:p>
            <a:pPr marL="21590">
              <a:lnSpc>
                <a:spcPct val="100000"/>
              </a:lnSpc>
              <a:spcBef>
                <a:spcPts val="25"/>
              </a:spcBef>
            </a:pPr>
            <a:r>
              <a:rPr sz="550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550" spc="-14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700" b="1" spc="-3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7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Media</a:t>
            </a:r>
            <a:r>
              <a:rPr sz="700" spc="-2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00">
              <a:latin typeface="BIZ UDGothic"/>
              <a:cs typeface="BIZ UDGothic"/>
            </a:endParaRPr>
          </a:p>
          <a:p>
            <a:pPr marL="21590">
              <a:lnSpc>
                <a:spcPct val="100000"/>
              </a:lnSpc>
              <a:spcBef>
                <a:spcPts val="145"/>
              </a:spcBef>
            </a:pPr>
            <a:r>
              <a:rPr sz="550" spc="-50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endParaRPr sz="550">
              <a:latin typeface="BIZ UDGothic"/>
              <a:cs typeface="BIZ UDGothic"/>
            </a:endParaRPr>
          </a:p>
          <a:p>
            <a:pPr marL="21590">
              <a:lnSpc>
                <a:spcPct val="100000"/>
              </a:lnSpc>
              <a:spcBef>
                <a:spcPts val="30"/>
              </a:spcBef>
            </a:pPr>
            <a:r>
              <a:rPr sz="550" dirty="0">
                <a:solidFill>
                  <a:srgbClr val="666666"/>
                </a:solidFill>
                <a:latin typeface="BIZ UDGothic"/>
                <a:cs typeface="BIZ UDGothic"/>
              </a:rPr>
              <a:t>5</a:t>
            </a:r>
            <a:r>
              <a:rPr sz="550" spc="45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7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7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7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700" spc="-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700" spc="-2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0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00">
              <a:latin typeface="BIZ UDGothic"/>
              <a:cs typeface="BIZ UD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2875" y="1414166"/>
            <a:ext cx="96520" cy="556895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sz="550" spc="-25" dirty="0">
                <a:solidFill>
                  <a:srgbClr val="666666"/>
                </a:solidFill>
                <a:latin typeface="BIZ UDGothic"/>
                <a:cs typeface="BIZ UDGothic"/>
              </a:rPr>
              <a:t>13</a:t>
            </a:r>
            <a:endParaRPr sz="5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550" spc="-25" dirty="0">
                <a:solidFill>
                  <a:srgbClr val="666666"/>
                </a:solidFill>
                <a:latin typeface="BIZ UDGothic"/>
                <a:cs typeface="BIZ UDGothic"/>
              </a:rPr>
              <a:t>14</a:t>
            </a:r>
            <a:endParaRPr sz="5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550" spc="-25" dirty="0">
                <a:solidFill>
                  <a:srgbClr val="666666"/>
                </a:solidFill>
                <a:latin typeface="BIZ UDGothic"/>
                <a:cs typeface="BIZ UDGothic"/>
              </a:rPr>
              <a:t>15</a:t>
            </a:r>
            <a:endParaRPr sz="5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550" spc="-25" dirty="0">
                <a:solidFill>
                  <a:srgbClr val="666666"/>
                </a:solidFill>
                <a:latin typeface="BIZ UDGothic"/>
                <a:cs typeface="BIZ UDGothic"/>
              </a:rPr>
              <a:t>16</a:t>
            </a:r>
            <a:endParaRPr sz="5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550" spc="-25" dirty="0">
                <a:solidFill>
                  <a:srgbClr val="666666"/>
                </a:solidFill>
                <a:latin typeface="BIZ UDGothic"/>
                <a:cs typeface="BIZ UDGothic"/>
              </a:rPr>
              <a:t>17</a:t>
            </a:r>
            <a:endParaRPr sz="550">
              <a:latin typeface="BIZ UDGothic"/>
              <a:cs typeface="BIZ UD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0865" y="1417708"/>
            <a:ext cx="2319655" cy="5568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40"/>
              </a:lnSpc>
              <a:spcBef>
                <a:spcPts val="95"/>
              </a:spcBef>
            </a:pP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while</a:t>
            </a:r>
            <a:r>
              <a:rPr sz="7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contador</a:t>
            </a:r>
            <a:r>
              <a:rPr sz="700" spc="-2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&lt;</a:t>
            </a:r>
            <a:r>
              <a:rPr sz="700" spc="-2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5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700" spc="-2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0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00">
              <a:latin typeface="BIZ UDGothic"/>
              <a:cs typeface="BIZ UDGothic"/>
            </a:endParaRPr>
          </a:p>
          <a:p>
            <a:pPr marL="92075">
              <a:lnSpc>
                <a:spcPts val="835"/>
              </a:lnSpc>
            </a:pPr>
            <a:r>
              <a:rPr sz="700" spc="-10" dirty="0">
                <a:solidFill>
                  <a:srgbClr val="595959"/>
                </a:solidFill>
                <a:latin typeface="BIZ UDGothic"/>
                <a:cs typeface="BIZ UDGothic"/>
              </a:rPr>
              <a:t>contador++;</a:t>
            </a:r>
            <a:endParaRPr sz="700">
              <a:latin typeface="BIZ UDGothic"/>
              <a:cs typeface="BIZ UDGothic"/>
            </a:endParaRPr>
          </a:p>
          <a:p>
            <a:pPr marL="92075" marR="5080">
              <a:lnSpc>
                <a:spcPts val="840"/>
              </a:lnSpc>
              <a:spcBef>
                <a:spcPts val="25"/>
              </a:spcBef>
            </a:pPr>
            <a:r>
              <a:rPr sz="700" spc="-1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700" spc="-10" dirty="0">
                <a:solidFill>
                  <a:srgbClr val="B25900"/>
                </a:solidFill>
                <a:latin typeface="BIZ UDGothic"/>
                <a:cs typeface="BIZ UDGothic"/>
              </a:rPr>
              <a:t>("Digite</a:t>
            </a:r>
            <a:r>
              <a:rPr sz="700" spc="2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uma</a:t>
            </a:r>
            <a:r>
              <a:rPr sz="7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nota</a:t>
            </a:r>
            <a:r>
              <a:rPr sz="700" spc="2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"</a:t>
            </a:r>
            <a:r>
              <a:rPr sz="7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+</a:t>
            </a:r>
            <a:r>
              <a:rPr sz="700" spc="2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spc="-10" dirty="0">
                <a:solidFill>
                  <a:srgbClr val="595959"/>
                </a:solidFill>
                <a:latin typeface="BIZ UDGothic"/>
                <a:cs typeface="BIZ UDGothic"/>
              </a:rPr>
              <a:t>contador</a:t>
            </a:r>
            <a:r>
              <a:rPr sz="700" spc="-1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700" spc="-10" dirty="0">
                <a:solidFill>
                  <a:srgbClr val="595959"/>
                </a:solidFill>
                <a:latin typeface="BIZ UDGothic"/>
                <a:cs typeface="BIZ UDGothic"/>
              </a:rPr>
              <a:t>;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nota</a:t>
            </a:r>
            <a:r>
              <a:rPr sz="7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7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spc="-10" dirty="0">
                <a:solidFill>
                  <a:srgbClr val="595959"/>
                </a:solidFill>
                <a:latin typeface="BIZ UDGothic"/>
                <a:cs typeface="BIZ UDGothic"/>
              </a:rPr>
              <a:t>entrada.nextInt</a:t>
            </a:r>
            <a:r>
              <a:rPr sz="700" spc="-10" dirty="0">
                <a:solidFill>
                  <a:srgbClr val="B25900"/>
                </a:solidFill>
                <a:latin typeface="BIZ UDGothic"/>
                <a:cs typeface="BIZ UDGothic"/>
              </a:rPr>
              <a:t>()</a:t>
            </a:r>
            <a:r>
              <a:rPr sz="7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700">
              <a:latin typeface="BIZ UDGothic"/>
              <a:cs typeface="BIZ UDGothic"/>
            </a:endParaRPr>
          </a:p>
          <a:p>
            <a:pPr marL="92075">
              <a:lnSpc>
                <a:spcPts val="805"/>
              </a:lnSpc>
            </a:pP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acumuladorNotas</a:t>
            </a:r>
            <a:r>
              <a:rPr sz="700" spc="-3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700" spc="-3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acumuladorNotas</a:t>
            </a:r>
            <a:r>
              <a:rPr sz="700" spc="-3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+</a:t>
            </a:r>
            <a:r>
              <a:rPr sz="700" spc="-3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spc="-20" dirty="0">
                <a:solidFill>
                  <a:srgbClr val="595959"/>
                </a:solidFill>
                <a:latin typeface="BIZ UDGothic"/>
                <a:cs typeface="BIZ UDGothic"/>
              </a:rPr>
              <a:t>nota;</a:t>
            </a:r>
            <a:endParaRPr sz="700">
              <a:latin typeface="BIZ UDGothic"/>
              <a:cs typeface="BIZ UDGothic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85937" y="1974224"/>
          <a:ext cx="5591810" cy="8343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1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61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2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47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9060">
                <a:tc>
                  <a:txBody>
                    <a:bodyPr/>
                    <a:lstStyle/>
                    <a:p>
                      <a:pPr marR="13335" algn="ctr">
                        <a:lnSpc>
                          <a:spcPts val="635"/>
                        </a:lnSpc>
                        <a:spcBef>
                          <a:spcPts val="50"/>
                        </a:spcBef>
                      </a:pPr>
                      <a:r>
                        <a:rPr sz="5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6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685"/>
                        </a:lnSpc>
                      </a:pPr>
                      <a:r>
                        <a:rPr sz="7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int</a:t>
                      </a:r>
                      <a:r>
                        <a:rPr sz="700" b="1" spc="-2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contador;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635"/>
                        </a:lnSpc>
                        <a:spcBef>
                          <a:spcPts val="50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18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685"/>
                        </a:lnSpc>
                      </a:pPr>
                      <a:r>
                        <a:rPr sz="7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314">
                <a:tc>
                  <a:txBody>
                    <a:bodyPr/>
                    <a:lstStyle/>
                    <a:p>
                      <a:pPr marR="13335" algn="ctr">
                        <a:lnSpc>
                          <a:spcPts val="645"/>
                        </a:lnSpc>
                        <a:spcBef>
                          <a:spcPts val="100"/>
                        </a:spcBef>
                      </a:pPr>
                      <a:r>
                        <a:rPr sz="5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7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745"/>
                        </a:lnSpc>
                      </a:pPr>
                      <a:r>
                        <a:rPr sz="7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double</a:t>
                      </a:r>
                      <a:r>
                        <a:rPr sz="700" b="1" spc="-2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nota,</a:t>
                      </a:r>
                      <a:r>
                        <a:rPr sz="7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media,</a:t>
                      </a:r>
                      <a:r>
                        <a:rPr sz="7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acumuladorNotas;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645"/>
                        </a:lnSpc>
                        <a:spcBef>
                          <a:spcPts val="100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19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27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410">
                <a:tc>
                  <a:txBody>
                    <a:bodyPr/>
                    <a:lstStyle/>
                    <a:p>
                      <a:pPr marR="13335" algn="ctr">
                        <a:lnSpc>
                          <a:spcPts val="640"/>
                        </a:lnSpc>
                        <a:spcBef>
                          <a:spcPts val="90"/>
                        </a:spcBef>
                      </a:pPr>
                      <a:r>
                        <a:rPr sz="5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8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730"/>
                        </a:lnSpc>
                      </a:pP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contador</a:t>
                      </a:r>
                      <a:r>
                        <a:rPr sz="7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7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0;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640"/>
                        </a:lnSpc>
                        <a:spcBef>
                          <a:spcPts val="90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20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30"/>
                        </a:lnSpc>
                      </a:pP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media</a:t>
                      </a:r>
                      <a:r>
                        <a:rPr sz="7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7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acumuladorNotas</a:t>
                      </a:r>
                      <a:r>
                        <a:rPr sz="7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/</a:t>
                      </a:r>
                      <a:r>
                        <a:rPr sz="7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contador;</a:t>
                      </a:r>
                      <a:r>
                        <a:rPr sz="7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//</a:t>
                      </a:r>
                      <a:r>
                        <a:rPr sz="700" spc="-25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calcular</a:t>
                      </a:r>
                      <a:r>
                        <a:rPr sz="700" spc="-2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a</a:t>
                      </a:r>
                      <a:r>
                        <a:rPr sz="700" spc="-25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10" dirty="0">
                          <a:solidFill>
                            <a:srgbClr val="009380"/>
                          </a:solidFill>
                          <a:latin typeface="BIZ UDGothic"/>
                          <a:cs typeface="BIZ UDGothic"/>
                        </a:rPr>
                        <a:t>media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6045">
                <a:tc>
                  <a:txBody>
                    <a:bodyPr/>
                    <a:lstStyle/>
                    <a:p>
                      <a:pPr marR="13335" algn="ctr">
                        <a:lnSpc>
                          <a:spcPts val="640"/>
                        </a:lnSpc>
                        <a:spcBef>
                          <a:spcPts val="95"/>
                        </a:spcBef>
                      </a:pPr>
                      <a:r>
                        <a:rPr sz="5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9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735"/>
                        </a:lnSpc>
                      </a:pP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acumuladorNotas</a:t>
                      </a:r>
                      <a:r>
                        <a:rPr sz="700" spc="-3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700" spc="-3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0;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64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21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35"/>
                        </a:lnSpc>
                      </a:pP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("media:</a:t>
                      </a:r>
                      <a:r>
                        <a:rPr sz="700" spc="4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"</a:t>
                      </a:r>
                      <a:r>
                        <a:rPr sz="700" spc="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+</a:t>
                      </a:r>
                      <a:r>
                        <a:rPr sz="700" spc="5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media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775">
                <a:tc>
                  <a:txBody>
                    <a:bodyPr/>
                    <a:lstStyle/>
                    <a:p>
                      <a:pPr marR="48895" algn="ctr">
                        <a:lnSpc>
                          <a:spcPts val="63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10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630"/>
                        </a:lnSpc>
                        <a:spcBef>
                          <a:spcPts val="9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22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2065" marB="0"/>
                </a:tc>
                <a:tc>
                  <a:txBody>
                    <a:bodyPr/>
                    <a:lstStyle/>
                    <a:p>
                      <a:pPr marL="17145">
                        <a:lnSpc>
                          <a:spcPts val="730"/>
                        </a:lnSpc>
                      </a:pP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entrada.close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935">
                <a:tc>
                  <a:txBody>
                    <a:bodyPr/>
                    <a:lstStyle/>
                    <a:p>
                      <a:pPr marR="4889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11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3335" marB="0"/>
                </a:tc>
                <a:tc>
                  <a:txBody>
                    <a:bodyPr/>
                    <a:lstStyle/>
                    <a:p>
                      <a:pPr marL="88265">
                        <a:lnSpc>
                          <a:spcPts val="795"/>
                        </a:lnSpc>
                      </a:pP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700" spc="-2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</a:t>
                      </a:r>
                      <a:r>
                        <a:rPr sz="7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7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new</a:t>
                      </a:r>
                      <a:r>
                        <a:rPr sz="700" b="1" spc="-2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System.in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795"/>
                        </a:lnSpc>
                      </a:pPr>
                      <a:r>
                        <a:rPr sz="5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23</a:t>
                      </a:r>
                      <a:r>
                        <a:rPr sz="550" spc="49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52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620"/>
                        </a:lnSpc>
                        <a:spcBef>
                          <a:spcPts val="3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24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1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51790">
                        <a:lnSpc>
                          <a:spcPts val="700"/>
                        </a:lnSpc>
                      </a:pPr>
                      <a:r>
                        <a:rPr sz="5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25</a:t>
                      </a:r>
                      <a:r>
                        <a:rPr sz="550" spc="-13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33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1670" y="581174"/>
            <a:ext cx="2434590" cy="955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735" marR="5080" indent="-153670">
              <a:lnSpc>
                <a:spcPct val="100800"/>
              </a:lnSpc>
              <a:spcBef>
                <a:spcPts val="120"/>
              </a:spcBef>
              <a:buClr>
                <a:srgbClr val="00AC8C"/>
              </a:buClr>
              <a:buChar char="•"/>
              <a:tabLst>
                <a:tab pos="167640" algn="l"/>
              </a:tabLst>
            </a:pPr>
            <a:r>
              <a:rPr sz="1400" spc="-110" dirty="0">
                <a:latin typeface="Arial"/>
                <a:cs typeface="Arial"/>
              </a:rPr>
              <a:t>Faça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um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algoritmo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que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leia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10 	</a:t>
            </a:r>
            <a:r>
              <a:rPr sz="1400" spc="-45" dirty="0">
                <a:latin typeface="Arial"/>
                <a:cs typeface="Arial"/>
              </a:rPr>
              <a:t>números </a:t>
            </a:r>
            <a:r>
              <a:rPr sz="1400" spc="-10" dirty="0">
                <a:latin typeface="Arial"/>
                <a:cs typeface="Arial"/>
              </a:rPr>
              <a:t>inteiros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40" dirty="0">
                <a:latin typeface="Arial"/>
                <a:cs typeface="Arial"/>
              </a:rPr>
              <a:t>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diga:</a:t>
            </a:r>
            <a:endParaRPr sz="14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45" dirty="0">
                <a:latin typeface="Arial"/>
                <a:cs typeface="Arial"/>
              </a:rPr>
              <a:t>quantos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são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pares;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quantos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são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ímpares.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16275" y="486089"/>
            <a:ext cx="2659380" cy="2423795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45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Exemplo</a:t>
            </a:r>
            <a:r>
              <a:rPr sz="1200" spc="-10" dirty="0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81610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6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BIZ UDGothic"/>
                <a:cs typeface="BIZ UDGothic"/>
              </a:rPr>
              <a:t>Digite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o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1</a:t>
            </a:r>
            <a:r>
              <a:rPr sz="1050" baseline="27777" dirty="0">
                <a:latin typeface="BIZ UDGothic"/>
                <a:cs typeface="BIZ UDGothic"/>
              </a:rPr>
              <a:t>o</a:t>
            </a:r>
            <a:r>
              <a:rPr sz="1050" spc="277" baseline="27777" dirty="0">
                <a:latin typeface="BIZ UDGothic"/>
                <a:cs typeface="BIZ UDGothic"/>
              </a:rPr>
              <a:t> </a:t>
            </a:r>
            <a:r>
              <a:rPr sz="1000" spc="-10" dirty="0">
                <a:latin typeface="BIZ UDGothic"/>
                <a:cs typeface="BIZ UDGothic"/>
              </a:rPr>
              <a:t>número:</a:t>
            </a:r>
            <a:endParaRPr sz="1000">
              <a:latin typeface="BIZ UDGothic"/>
              <a:cs typeface="BIZ UDGothic"/>
            </a:endParaRPr>
          </a:p>
          <a:p>
            <a:pPr marL="181610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6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50" dirty="0">
                <a:latin typeface="BIZ UDGothic"/>
                <a:cs typeface="BIZ UDGothic"/>
              </a:rPr>
              <a:t>4</a:t>
            </a:r>
            <a:endParaRPr sz="1000">
              <a:latin typeface="BIZ UDGothic"/>
              <a:cs typeface="BIZ UDGothic"/>
            </a:endParaRPr>
          </a:p>
          <a:p>
            <a:pPr marL="181610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6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BIZ UDGothic"/>
                <a:cs typeface="BIZ UDGothic"/>
              </a:rPr>
              <a:t>Digite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o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2</a:t>
            </a:r>
            <a:r>
              <a:rPr sz="1050" baseline="27777" dirty="0">
                <a:latin typeface="BIZ UDGothic"/>
                <a:cs typeface="BIZ UDGothic"/>
              </a:rPr>
              <a:t>o</a:t>
            </a:r>
            <a:r>
              <a:rPr sz="1050" spc="277" baseline="27777" dirty="0">
                <a:latin typeface="BIZ UDGothic"/>
                <a:cs typeface="BIZ UDGothic"/>
              </a:rPr>
              <a:t> </a:t>
            </a:r>
            <a:r>
              <a:rPr sz="1000" spc="-10" dirty="0">
                <a:latin typeface="BIZ UDGothic"/>
                <a:cs typeface="BIZ UDGothic"/>
              </a:rPr>
              <a:t>número:</a:t>
            </a:r>
            <a:endParaRPr sz="1000">
              <a:latin typeface="BIZ UDGothic"/>
              <a:cs typeface="BIZ UDGothic"/>
            </a:endParaRPr>
          </a:p>
          <a:p>
            <a:pPr marL="181610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6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25" dirty="0">
                <a:latin typeface="BIZ UDGothic"/>
                <a:cs typeface="BIZ UDGothic"/>
              </a:rPr>
              <a:t>201</a:t>
            </a:r>
            <a:endParaRPr sz="1000">
              <a:latin typeface="BIZ UDGothic"/>
              <a:cs typeface="BIZ UDGothic"/>
            </a:endParaRPr>
          </a:p>
          <a:p>
            <a:pPr marL="181610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7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10" dirty="0">
                <a:latin typeface="BIZ UDGothic"/>
                <a:cs typeface="BIZ UDGothic"/>
              </a:rPr>
              <a:t>.</a:t>
            </a:r>
            <a:r>
              <a:rPr sz="1000" spc="-254" dirty="0">
                <a:latin typeface="BIZ UDGothic"/>
                <a:cs typeface="BIZ UDGothic"/>
              </a:rPr>
              <a:t> </a:t>
            </a:r>
            <a:r>
              <a:rPr sz="1000" spc="-10" dirty="0">
                <a:latin typeface="BIZ UDGothic"/>
                <a:cs typeface="BIZ UDGothic"/>
              </a:rPr>
              <a:t>.</a:t>
            </a:r>
            <a:r>
              <a:rPr sz="1000" spc="-254" dirty="0">
                <a:latin typeface="BIZ UDGothic"/>
                <a:cs typeface="BIZ UDGothic"/>
              </a:rPr>
              <a:t> </a:t>
            </a:r>
            <a:r>
              <a:rPr sz="1000" spc="-50" dirty="0">
                <a:latin typeface="BIZ UDGothic"/>
                <a:cs typeface="BIZ UDGothic"/>
              </a:rPr>
              <a:t>.</a:t>
            </a:r>
            <a:endParaRPr sz="1000">
              <a:latin typeface="BIZ UDGothic"/>
              <a:cs typeface="BIZ UDGothic"/>
            </a:endParaRPr>
          </a:p>
          <a:p>
            <a:pPr marL="181610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6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BIZ UDGothic"/>
                <a:cs typeface="BIZ UDGothic"/>
              </a:rPr>
              <a:t>Digite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o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10</a:t>
            </a:r>
            <a:r>
              <a:rPr sz="1050" baseline="27777" dirty="0">
                <a:latin typeface="BIZ UDGothic"/>
                <a:cs typeface="BIZ UDGothic"/>
              </a:rPr>
              <a:t>o</a:t>
            </a:r>
            <a:r>
              <a:rPr sz="1050" spc="270" baseline="27777" dirty="0">
                <a:latin typeface="BIZ UDGothic"/>
                <a:cs typeface="BIZ UDGothic"/>
              </a:rPr>
              <a:t> </a:t>
            </a:r>
            <a:r>
              <a:rPr sz="1000" spc="-10" dirty="0">
                <a:latin typeface="BIZ UDGothic"/>
                <a:cs typeface="BIZ UDGothic"/>
              </a:rPr>
              <a:t>número:</a:t>
            </a:r>
            <a:endParaRPr sz="1000">
              <a:latin typeface="BIZ UDGothic"/>
              <a:cs typeface="BIZ UDGothic"/>
            </a:endParaRPr>
          </a:p>
          <a:p>
            <a:pPr marL="181610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6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25" dirty="0">
                <a:latin typeface="BIZ UDGothic"/>
                <a:cs typeface="BIZ UDGothic"/>
              </a:rPr>
              <a:t>976</a:t>
            </a:r>
            <a:endParaRPr sz="1000">
              <a:latin typeface="BIZ UDGothic"/>
              <a:cs typeface="BIZ UDGothic"/>
            </a:endParaRPr>
          </a:p>
          <a:p>
            <a:pPr marL="181610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6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BIZ UDGothic"/>
                <a:cs typeface="BIZ UDGothic"/>
              </a:rPr>
              <a:t>O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total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de</a:t>
            </a:r>
            <a:r>
              <a:rPr sz="1000" spc="-25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pares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é: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&lt;número</a:t>
            </a:r>
            <a:r>
              <a:rPr sz="1000" spc="-25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de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spc="-10" dirty="0">
                <a:latin typeface="BIZ UDGothic"/>
                <a:cs typeface="BIZ UDGothic"/>
              </a:rPr>
              <a:t>pares&gt;</a:t>
            </a:r>
            <a:endParaRPr sz="1000">
              <a:latin typeface="BIZ UDGothic"/>
              <a:cs typeface="BIZ UDGothic"/>
            </a:endParaRPr>
          </a:p>
          <a:p>
            <a:pPr marL="280035" marR="346710" indent="-98425">
              <a:lnSpc>
                <a:spcPct val="141100"/>
              </a:lnSpc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6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dirty="0">
                <a:latin typeface="BIZ UDGothic"/>
                <a:cs typeface="BIZ UDGothic"/>
              </a:rPr>
              <a:t>O</a:t>
            </a:r>
            <a:r>
              <a:rPr sz="1000" spc="-25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total</a:t>
            </a:r>
            <a:r>
              <a:rPr sz="1000" spc="-25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de</a:t>
            </a:r>
            <a:r>
              <a:rPr sz="1000" spc="-25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ímpares</a:t>
            </a:r>
            <a:r>
              <a:rPr sz="1000" spc="-20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é:</a:t>
            </a:r>
            <a:r>
              <a:rPr sz="1000" spc="-25" dirty="0">
                <a:latin typeface="BIZ UDGothic"/>
                <a:cs typeface="BIZ UDGothic"/>
              </a:rPr>
              <a:t> </a:t>
            </a:r>
            <a:r>
              <a:rPr sz="1000" dirty="0">
                <a:latin typeface="BIZ UDGothic"/>
                <a:cs typeface="BIZ UDGothic"/>
              </a:rPr>
              <a:t>&lt;número</a:t>
            </a:r>
            <a:r>
              <a:rPr sz="1000" spc="-25" dirty="0">
                <a:latin typeface="BIZ UDGothic"/>
                <a:cs typeface="BIZ UDGothic"/>
              </a:rPr>
              <a:t> de </a:t>
            </a:r>
            <a:r>
              <a:rPr sz="1000" spc="-10" dirty="0">
                <a:latin typeface="BIZ UDGothic"/>
                <a:cs typeface="BIZ UDGothic"/>
              </a:rPr>
              <a:t>ímpares&gt;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9936" y="1116608"/>
            <a:ext cx="3720465" cy="5695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550" b="0" spc="-135" dirty="0">
                <a:solidFill>
                  <a:srgbClr val="000000"/>
                </a:solidFill>
                <a:latin typeface="Arial"/>
                <a:cs typeface="Arial"/>
              </a:rPr>
              <a:t>Variável</a:t>
            </a:r>
            <a:r>
              <a:rPr sz="355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550" b="0" spc="-245" dirty="0">
                <a:solidFill>
                  <a:srgbClr val="000000"/>
                </a:solidFill>
                <a:latin typeface="Arial"/>
                <a:cs typeface="Arial"/>
              </a:rPr>
              <a:t>de</a:t>
            </a:r>
            <a:r>
              <a:rPr sz="3550" b="0" spc="-85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3550" b="0" spc="-70" dirty="0">
                <a:solidFill>
                  <a:srgbClr val="000000"/>
                </a:solidFill>
                <a:latin typeface="Arial"/>
                <a:cs typeface="Arial"/>
              </a:rPr>
              <a:t>controle</a:t>
            </a:r>
            <a:endParaRPr sz="355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35</a:t>
            </a: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Variável</a:t>
            </a:r>
            <a:r>
              <a:rPr spc="-30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spc="-10" dirty="0"/>
              <a:t>controle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109725"/>
            <a:ext cx="4260215" cy="8159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56210" indent="-144145">
              <a:lnSpc>
                <a:spcPct val="100000"/>
              </a:lnSpc>
              <a:spcBef>
                <a:spcPts val="725"/>
              </a:spcBef>
              <a:buFont typeface="Arial"/>
              <a:buChar char="•"/>
              <a:tabLst>
                <a:tab pos="156210" algn="l"/>
                <a:tab pos="165735" algn="l"/>
              </a:tabLst>
            </a:pPr>
            <a:r>
              <a:rPr sz="1400" dirty="0">
                <a:solidFill>
                  <a:srgbClr val="00AC8C"/>
                </a:solidFill>
                <a:latin typeface="Calibri"/>
                <a:cs typeface="Calibri"/>
              </a:rPr>
              <a:t>	</a:t>
            </a:r>
            <a:r>
              <a:rPr sz="1400" b="1" spc="70" dirty="0">
                <a:latin typeface="Calibri"/>
                <a:cs typeface="Calibri"/>
              </a:rPr>
              <a:t>Variável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utilizada</a:t>
            </a:r>
            <a:r>
              <a:rPr sz="1400" b="1" spc="70" dirty="0">
                <a:latin typeface="Calibri"/>
                <a:cs typeface="Calibri"/>
              </a:rPr>
              <a:t> para controlar </a:t>
            </a:r>
            <a:r>
              <a:rPr sz="1400" b="1" dirty="0">
                <a:latin typeface="Calibri"/>
                <a:cs typeface="Calibri"/>
              </a:rPr>
              <a:t>as</a:t>
            </a:r>
            <a:r>
              <a:rPr sz="1400" b="1" spc="65" dirty="0">
                <a:latin typeface="Calibri"/>
                <a:cs typeface="Calibri"/>
              </a:rPr>
              <a:t> </a:t>
            </a:r>
            <a:r>
              <a:rPr sz="1400" b="1" spc="35" dirty="0">
                <a:latin typeface="Calibri"/>
                <a:cs typeface="Calibri"/>
              </a:rPr>
              <a:t>repetições.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20" dirty="0">
                <a:latin typeface="Arial"/>
                <a:cs typeface="Arial"/>
              </a:rPr>
              <a:t>Utilizada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quando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não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se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sabe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número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exato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0" dirty="0">
                <a:latin typeface="Arial"/>
                <a:cs typeface="Arial"/>
              </a:rPr>
              <a:t> repetições.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0" dirty="0">
                <a:latin typeface="Arial"/>
                <a:cs typeface="Arial"/>
              </a:rPr>
              <a:t>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b="0" i="1" dirty="0">
                <a:latin typeface="Kepler Std Medium"/>
                <a:cs typeface="Kepler Std Medium"/>
              </a:rPr>
              <a:t>loop</a:t>
            </a:r>
            <a:r>
              <a:rPr sz="1200" b="0" i="1" spc="70" dirty="0">
                <a:latin typeface="Kepler Std Medium"/>
                <a:cs typeface="Kepler Std Medium"/>
              </a:rPr>
              <a:t> </a:t>
            </a: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finalizado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assim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variável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tem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seu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valor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alterado.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36</a:t>
            </a: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Exemplo</a:t>
            </a:r>
            <a:r>
              <a:rPr spc="170" dirty="0"/>
              <a:t> </a:t>
            </a:r>
            <a:r>
              <a:rPr spc="-50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843061"/>
            <a:ext cx="5088890" cy="15957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735" marR="5080" indent="-153670">
              <a:lnSpc>
                <a:spcPct val="100800"/>
              </a:lnSpc>
              <a:spcBef>
                <a:spcPts val="120"/>
              </a:spcBef>
              <a:buClr>
                <a:srgbClr val="00AC8C"/>
              </a:buClr>
              <a:buFont typeface="Arial"/>
              <a:buChar char="•"/>
              <a:tabLst>
                <a:tab pos="167640" algn="l"/>
              </a:tabLst>
            </a:pPr>
            <a:r>
              <a:rPr sz="1400" b="1" spc="80" dirty="0">
                <a:latin typeface="Calibri"/>
                <a:cs typeface="Calibri"/>
              </a:rPr>
              <a:t>Faça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algoritmo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que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leia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80" dirty="0">
                <a:latin typeface="Calibri"/>
                <a:cs typeface="Calibri"/>
              </a:rPr>
              <a:t>nome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e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idade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55" dirty="0">
                <a:latin typeface="Calibri"/>
                <a:cs typeface="Calibri"/>
              </a:rPr>
              <a:t>de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95" dirty="0">
                <a:latin typeface="Calibri"/>
                <a:cs typeface="Calibri"/>
              </a:rPr>
              <a:t>grupo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30" dirty="0">
                <a:latin typeface="Calibri"/>
                <a:cs typeface="Calibri"/>
              </a:rPr>
              <a:t>de 	</a:t>
            </a:r>
            <a:r>
              <a:rPr sz="1400" b="1" spc="-10" dirty="0">
                <a:latin typeface="Calibri"/>
                <a:cs typeface="Calibri"/>
              </a:rPr>
              <a:t>pessoas;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55" dirty="0">
                <a:latin typeface="Arial"/>
                <a:cs typeface="Arial"/>
              </a:rPr>
              <a:t>mostre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nome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da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pessoa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se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ela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0" dirty="0">
                <a:latin typeface="Arial"/>
                <a:cs typeface="Arial"/>
              </a:rPr>
              <a:t> maior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idade.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4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cada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iteração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pergunte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se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usuário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deseja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continuar;</a:t>
            </a:r>
            <a:endParaRPr sz="12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40" dirty="0">
                <a:latin typeface="Arial"/>
                <a:cs typeface="Arial"/>
              </a:rPr>
              <a:t>mostre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95" dirty="0">
                <a:latin typeface="Arial"/>
                <a:cs typeface="Arial"/>
              </a:rPr>
              <a:t>as</a:t>
            </a:r>
            <a:r>
              <a:rPr sz="1000" spc="-30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opções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“1”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ou</a:t>
            </a:r>
            <a:r>
              <a:rPr sz="1000" spc="-25" dirty="0">
                <a:latin typeface="Arial"/>
                <a:cs typeface="Arial"/>
              </a:rPr>
              <a:t> “0”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85" dirty="0">
                <a:latin typeface="Arial"/>
                <a:cs typeface="Arial"/>
              </a:rPr>
              <a:t>caso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digite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“1”</a:t>
            </a:r>
            <a:r>
              <a:rPr sz="1000" spc="-25" dirty="0">
                <a:latin typeface="Arial"/>
                <a:cs typeface="Arial"/>
              </a:rPr>
              <a:t> continue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loop;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85" dirty="0">
                <a:latin typeface="Arial"/>
                <a:cs typeface="Arial"/>
              </a:rPr>
              <a:t>caso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digite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“0”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encerre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loop.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37</a:t>
            </a: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Exemplo</a:t>
            </a:r>
            <a:r>
              <a:rPr spc="170" dirty="0"/>
              <a:t> </a:t>
            </a:r>
            <a:r>
              <a:rPr spc="-50" dirty="0"/>
              <a:t>5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084" y="857630"/>
            <a:ext cx="1984375" cy="1137920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245"/>
              </a:spcBef>
            </a:pP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450" spc="-11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import</a:t>
            </a:r>
            <a:r>
              <a:rPr sz="600" b="1" spc="-1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java.util.Scanner;</a:t>
            </a:r>
            <a:endParaRPr sz="600">
              <a:latin typeface="BIZ UDGothic"/>
              <a:cs typeface="BIZ UDGothic"/>
            </a:endParaRPr>
          </a:p>
          <a:p>
            <a:pPr marL="42545">
              <a:lnSpc>
                <a:spcPct val="100000"/>
              </a:lnSpc>
              <a:spcBef>
                <a:spcPts val="150"/>
              </a:spcBef>
            </a:pPr>
            <a:r>
              <a:rPr sz="45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450">
              <a:latin typeface="BIZ UDGothic"/>
              <a:cs typeface="BIZ UDGothic"/>
            </a:endParaRPr>
          </a:p>
          <a:p>
            <a:pPr marL="42545">
              <a:lnSpc>
                <a:spcPct val="100000"/>
              </a:lnSpc>
              <a:spcBef>
                <a:spcPts val="25"/>
              </a:spcBef>
            </a:pP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450" spc="-11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600" b="1" spc="-2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6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Controle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600">
              <a:latin typeface="BIZ UDGothic"/>
              <a:cs typeface="BIZ UDGothic"/>
            </a:endParaRPr>
          </a:p>
          <a:p>
            <a:pPr marL="42545">
              <a:lnSpc>
                <a:spcPct val="100000"/>
              </a:lnSpc>
              <a:spcBef>
                <a:spcPts val="150"/>
              </a:spcBef>
            </a:pPr>
            <a:r>
              <a:rPr sz="450" spc="-50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endParaRPr sz="450">
              <a:latin typeface="BIZ UDGothic"/>
              <a:cs typeface="BIZ UDGothic"/>
            </a:endParaRPr>
          </a:p>
          <a:p>
            <a:pPr marL="42545">
              <a:lnSpc>
                <a:spcPct val="100000"/>
              </a:lnSpc>
              <a:spcBef>
                <a:spcPts val="25"/>
              </a:spcBef>
            </a:pP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5</a:t>
            </a:r>
            <a:r>
              <a:rPr sz="450" spc="40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600" b="1" spc="-1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6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600" b="1" spc="-1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600" spc="-2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600" spc="-1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b="1" spc="-6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600">
              <a:latin typeface="BIZ UDGothic"/>
              <a:cs typeface="BIZ UDGothic"/>
            </a:endParaRPr>
          </a:p>
          <a:p>
            <a:pPr marL="42545">
              <a:lnSpc>
                <a:spcPct val="100000"/>
              </a:lnSpc>
              <a:spcBef>
                <a:spcPts val="145"/>
              </a:spcBef>
            </a:pPr>
            <a:r>
              <a:rPr sz="450" spc="-50" dirty="0">
                <a:solidFill>
                  <a:srgbClr val="666666"/>
                </a:solidFill>
                <a:latin typeface="BIZ UDGothic"/>
                <a:cs typeface="BIZ UDGothic"/>
              </a:rPr>
              <a:t>6</a:t>
            </a:r>
            <a:endParaRPr sz="450">
              <a:latin typeface="BIZ UDGothic"/>
              <a:cs typeface="BIZ UDGothic"/>
            </a:endParaRPr>
          </a:p>
          <a:p>
            <a:pPr marL="42545">
              <a:lnSpc>
                <a:spcPct val="100000"/>
              </a:lnSpc>
              <a:spcBef>
                <a:spcPts val="30"/>
              </a:spcBef>
              <a:tabLst>
                <a:tab pos="224790" algn="l"/>
              </a:tabLst>
            </a:pPr>
            <a:r>
              <a:rPr sz="450" spc="-50" dirty="0">
                <a:solidFill>
                  <a:srgbClr val="666666"/>
                </a:solidFill>
                <a:latin typeface="BIZ UDGothic"/>
                <a:cs typeface="BIZ UDGothic"/>
              </a:rPr>
              <a:t>7</a:t>
            </a: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Scanner</a:t>
            </a:r>
            <a:r>
              <a:rPr sz="600" spc="-2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entrada</a:t>
            </a:r>
            <a:r>
              <a:rPr sz="600" spc="-2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600" spc="-2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new</a:t>
            </a:r>
            <a:r>
              <a:rPr sz="600" b="1" spc="-1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Scanner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System.in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600">
              <a:latin typeface="BIZ UDGothic"/>
              <a:cs typeface="BIZ UDGothic"/>
            </a:endParaRPr>
          </a:p>
          <a:p>
            <a:pPr marL="42545">
              <a:lnSpc>
                <a:spcPct val="100000"/>
              </a:lnSpc>
              <a:spcBef>
                <a:spcPts val="145"/>
              </a:spcBef>
            </a:pPr>
            <a:r>
              <a:rPr sz="450" spc="-50" dirty="0">
                <a:solidFill>
                  <a:srgbClr val="666666"/>
                </a:solidFill>
                <a:latin typeface="BIZ UDGothic"/>
                <a:cs typeface="BIZ UDGothic"/>
              </a:rPr>
              <a:t>8</a:t>
            </a:r>
            <a:endParaRPr sz="450">
              <a:latin typeface="BIZ UDGothic"/>
              <a:cs typeface="BIZ UDGothic"/>
            </a:endParaRPr>
          </a:p>
          <a:p>
            <a:pPr marL="42545">
              <a:lnSpc>
                <a:spcPts val="720"/>
              </a:lnSpc>
              <a:spcBef>
                <a:spcPts val="30"/>
              </a:spcBef>
              <a:tabLst>
                <a:tab pos="224790" algn="l"/>
              </a:tabLst>
            </a:pPr>
            <a:r>
              <a:rPr sz="450" spc="-50" dirty="0">
                <a:solidFill>
                  <a:srgbClr val="666666"/>
                </a:solidFill>
                <a:latin typeface="BIZ UDGothic"/>
                <a:cs typeface="BIZ UDGothic"/>
              </a:rPr>
              <a:t>9</a:t>
            </a: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int</a:t>
            </a:r>
            <a:r>
              <a:rPr sz="6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resp;</a:t>
            </a:r>
            <a:r>
              <a:rPr sz="600" spc="-2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009380"/>
                </a:solidFill>
                <a:latin typeface="BIZ UDGothic"/>
                <a:cs typeface="BIZ UDGothic"/>
              </a:rPr>
              <a:t>//</a:t>
            </a:r>
            <a:r>
              <a:rPr sz="600" spc="-2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009380"/>
                </a:solidFill>
                <a:latin typeface="BIZ UDGothic"/>
                <a:cs typeface="BIZ UDGothic"/>
              </a:rPr>
              <a:t>declara</a:t>
            </a:r>
            <a:r>
              <a:rPr sz="600" spc="-1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009380"/>
                </a:solidFill>
                <a:latin typeface="BIZ UDGothic"/>
                <a:cs typeface="BIZ UDGothic"/>
              </a:rPr>
              <a:t>variavel</a:t>
            </a:r>
            <a:r>
              <a:rPr sz="600" spc="-2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009380"/>
                </a:solidFill>
                <a:latin typeface="BIZ UDGothic"/>
                <a:cs typeface="BIZ UDGothic"/>
              </a:rPr>
              <a:t>de</a:t>
            </a:r>
            <a:r>
              <a:rPr sz="600" spc="-2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009380"/>
                </a:solidFill>
                <a:latin typeface="BIZ UDGothic"/>
                <a:cs typeface="BIZ UDGothic"/>
              </a:rPr>
              <a:t>controle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ts val="715"/>
              </a:lnSpc>
              <a:tabLst>
                <a:tab pos="224790" algn="l"/>
              </a:tabLst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10</a:t>
            </a: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600" spc="-2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nome;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ts val="715"/>
              </a:lnSpc>
              <a:tabLst>
                <a:tab pos="224790" algn="l"/>
              </a:tabLst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11</a:t>
            </a: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int</a:t>
            </a:r>
            <a:r>
              <a:rPr sz="600" b="1" spc="-1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idade;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ts val="720"/>
              </a:lnSpc>
              <a:tabLst>
                <a:tab pos="224790" algn="l"/>
              </a:tabLst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12</a:t>
            </a: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	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resp</a:t>
            </a:r>
            <a:r>
              <a:rPr sz="600" spc="-2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1;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009380"/>
                </a:solidFill>
                <a:latin typeface="BIZ UDGothic"/>
                <a:cs typeface="BIZ UDGothic"/>
              </a:rPr>
              <a:t>//</a:t>
            </a:r>
            <a:r>
              <a:rPr sz="600" spc="-1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009380"/>
                </a:solidFill>
                <a:latin typeface="BIZ UDGothic"/>
                <a:cs typeface="BIZ UDGothic"/>
              </a:rPr>
              <a:t>inicializa</a:t>
            </a:r>
            <a:r>
              <a:rPr sz="600" spc="-20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009380"/>
                </a:solidFill>
                <a:latin typeface="BIZ UDGothic"/>
                <a:cs typeface="BIZ UDGothic"/>
              </a:rPr>
              <a:t>a</a:t>
            </a:r>
            <a:r>
              <a:rPr sz="600" spc="-1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009380"/>
                </a:solidFill>
                <a:latin typeface="BIZ UDGothic"/>
                <a:cs typeface="BIZ UDGothic"/>
              </a:rPr>
              <a:t>variavel</a:t>
            </a:r>
            <a:r>
              <a:rPr sz="600" spc="-1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009380"/>
                </a:solidFill>
                <a:latin typeface="BIZ UDGothic"/>
                <a:cs typeface="BIZ UDGothic"/>
              </a:rPr>
              <a:t>de</a:t>
            </a:r>
            <a:r>
              <a:rPr sz="600" spc="-15" dirty="0">
                <a:solidFill>
                  <a:srgbClr val="009380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009380"/>
                </a:solidFill>
                <a:latin typeface="BIZ UDGothic"/>
                <a:cs typeface="BIZ UDGothic"/>
              </a:rPr>
              <a:t>controle</a:t>
            </a:r>
            <a:endParaRPr sz="600">
              <a:latin typeface="BIZ UDGothic"/>
              <a:cs typeface="BIZ UD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876417" y="873575"/>
            <a:ext cx="207645" cy="1577340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14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15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16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17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18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19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20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21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22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23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24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25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26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27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28</a:t>
            </a:r>
            <a:r>
              <a:rPr sz="450" spc="455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0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450" spc="-25" dirty="0">
                <a:solidFill>
                  <a:srgbClr val="666666"/>
                </a:solidFill>
                <a:latin typeface="BIZ UDGothic"/>
                <a:cs typeface="BIZ UDGothic"/>
              </a:rPr>
              <a:t>29</a:t>
            </a:r>
            <a:endParaRPr sz="4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450" dirty="0">
                <a:solidFill>
                  <a:srgbClr val="666666"/>
                </a:solidFill>
                <a:latin typeface="BIZ UDGothic"/>
                <a:cs typeface="BIZ UDGothic"/>
              </a:rPr>
              <a:t>30</a:t>
            </a:r>
            <a:r>
              <a:rPr sz="450" spc="-85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60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600">
              <a:latin typeface="BIZ UDGothic"/>
              <a:cs typeface="BIZ UD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088984" y="876611"/>
            <a:ext cx="1650364" cy="481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0645" marR="5080" indent="-68580">
              <a:lnSpc>
                <a:spcPct val="100000"/>
              </a:lnSpc>
              <a:spcBef>
                <a:spcPts val="95"/>
              </a:spcBef>
            </a:pP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while</a:t>
            </a:r>
            <a:r>
              <a:rPr sz="600" b="1" spc="-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resp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==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1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600" spc="-1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b="1" spc="-50" dirty="0">
                <a:solidFill>
                  <a:srgbClr val="B25900"/>
                </a:solidFill>
                <a:latin typeface="BIZ UDGothic"/>
                <a:cs typeface="BIZ UDGothic"/>
              </a:rPr>
              <a:t>{ 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("Digite</a:t>
            </a:r>
            <a:r>
              <a:rPr sz="600" spc="5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o</a:t>
            </a:r>
            <a:r>
              <a:rPr sz="600" spc="5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seu</a:t>
            </a:r>
            <a:r>
              <a:rPr sz="600" spc="5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nome:")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;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nome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 entrada.next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()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; System.out.println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("Digite</a:t>
            </a:r>
            <a:r>
              <a:rPr sz="600" spc="8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sua</a:t>
            </a:r>
            <a:r>
              <a:rPr sz="600" spc="8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idade:")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;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idade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entrada.nextInt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()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600">
              <a:latin typeface="BIZ UDGothic"/>
              <a:cs typeface="BIZ UD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57307" y="1423220"/>
            <a:ext cx="1726564" cy="2990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720"/>
              </a:lnSpc>
              <a:spcBef>
                <a:spcPts val="95"/>
              </a:spcBef>
            </a:pPr>
            <a:r>
              <a:rPr sz="600" b="1" dirty="0">
                <a:solidFill>
                  <a:srgbClr val="00AC8C"/>
                </a:solidFill>
                <a:latin typeface="BIZ UDGothic"/>
                <a:cs typeface="BIZ UDGothic"/>
              </a:rPr>
              <a:t>if</a:t>
            </a:r>
            <a:r>
              <a:rPr sz="600" b="1" spc="-1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idade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&gt;=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18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600" spc="-1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600">
              <a:latin typeface="BIZ UDGothic"/>
              <a:cs typeface="BIZ UDGothic"/>
            </a:endParaRPr>
          </a:p>
          <a:p>
            <a:pPr marL="80645">
              <a:lnSpc>
                <a:spcPts val="715"/>
              </a:lnSpc>
            </a:pP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("Seu</a:t>
            </a:r>
            <a:r>
              <a:rPr sz="600" spc="-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nome</a:t>
            </a:r>
            <a:r>
              <a:rPr sz="600" spc="-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eh:</a:t>
            </a:r>
            <a:r>
              <a:rPr sz="600" spc="-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"</a:t>
            </a:r>
            <a:r>
              <a:rPr sz="600" spc="-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+</a:t>
            </a:r>
            <a:r>
              <a:rPr sz="600" spc="-2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nome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600">
              <a:latin typeface="BIZ UDGothic"/>
              <a:cs typeface="BIZ UDGothic"/>
            </a:endParaRPr>
          </a:p>
          <a:p>
            <a:pPr marL="12700">
              <a:lnSpc>
                <a:spcPts val="720"/>
              </a:lnSpc>
            </a:pPr>
            <a:r>
              <a:rPr sz="60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600">
              <a:latin typeface="BIZ UDGothic"/>
              <a:cs typeface="BIZ UD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57307" y="1787628"/>
            <a:ext cx="18097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("Deseja</a:t>
            </a:r>
            <a:r>
              <a:rPr sz="600" spc="7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B25900"/>
                </a:solidFill>
                <a:latin typeface="BIZ UDGothic"/>
                <a:cs typeface="BIZ UDGothic"/>
              </a:rPr>
              <a:t>continuar?</a:t>
            </a:r>
            <a:r>
              <a:rPr sz="600" spc="7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(1/0):")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;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resp</a:t>
            </a:r>
            <a:r>
              <a:rPr sz="600" spc="-1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60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 entrada.nextInt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()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600">
              <a:latin typeface="BIZ UDGothic"/>
              <a:cs typeface="BIZ UD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88984" y="1969828"/>
            <a:ext cx="635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600">
              <a:latin typeface="BIZ UDGothic"/>
              <a:cs typeface="BIZ UD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88984" y="2060928"/>
            <a:ext cx="6330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entrada.close</a:t>
            </a:r>
            <a:r>
              <a:rPr sz="600" spc="-10" dirty="0">
                <a:solidFill>
                  <a:srgbClr val="B25900"/>
                </a:solidFill>
                <a:latin typeface="BIZ UDGothic"/>
                <a:cs typeface="BIZ UDGothic"/>
              </a:rPr>
              <a:t>()</a:t>
            </a:r>
            <a:r>
              <a:rPr sz="6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600">
              <a:latin typeface="BIZ UDGothic"/>
              <a:cs typeface="BIZ UD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098776"/>
            <a:ext cx="4987290" cy="9556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735" marR="5080" indent="-153670">
              <a:lnSpc>
                <a:spcPct val="100800"/>
              </a:lnSpc>
              <a:spcBef>
                <a:spcPts val="120"/>
              </a:spcBef>
              <a:buClr>
                <a:srgbClr val="00AC8C"/>
              </a:buClr>
              <a:buChar char="•"/>
              <a:tabLst>
                <a:tab pos="167640" algn="l"/>
              </a:tabLst>
            </a:pPr>
            <a:r>
              <a:rPr sz="1400" dirty="0">
                <a:latin typeface="Arial"/>
                <a:cs typeface="Arial"/>
              </a:rPr>
              <a:t>Construir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um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algoritmo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que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leia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um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número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inteiro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40" dirty="0">
                <a:latin typeface="Arial"/>
                <a:cs typeface="Arial"/>
              </a:rPr>
              <a:t>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imprime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a 	</a:t>
            </a:r>
            <a:r>
              <a:rPr sz="1400" spc="-10" dirty="0">
                <a:latin typeface="Arial"/>
                <a:cs typeface="Arial"/>
              </a:rPr>
              <a:t>sequência:</a:t>
            </a:r>
            <a:endParaRPr sz="140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495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28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1,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2,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4,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8,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16,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32,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64,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128,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256,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512,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1024.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.</a:t>
            </a:r>
            <a:r>
              <a:rPr sz="1200" spc="-18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540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27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enquanto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valor </a:t>
            </a:r>
            <a:r>
              <a:rPr sz="1200" spc="-65" dirty="0">
                <a:latin typeface="Arial"/>
                <a:cs typeface="Arial"/>
              </a:rPr>
              <a:t>da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sequência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menor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ou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igual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ao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número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lido.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39</a:t>
            </a: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008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PMingLiU"/>
                <a:cs typeface="PMingLiU"/>
              </a:rPr>
              <a:t>estrutura</a:t>
            </a:r>
            <a:r>
              <a:rPr sz="1400" spc="18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1400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Repeticao:</a:t>
            </a:r>
            <a:r>
              <a:rPr sz="1400" spc="39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PMingLiU"/>
                <a:cs typeface="PMingLiU"/>
              </a:rPr>
              <a:t>whiledo </a:t>
            </a:r>
            <a:r>
              <a:rPr sz="1400" spc="-10" dirty="0">
                <a:solidFill>
                  <a:srgbClr val="FFFFFF"/>
                </a:solidFill>
                <a:latin typeface="PMingLiU"/>
                <a:cs typeface="PMingLiU"/>
              </a:rPr>
              <a:t>while</a:t>
            </a:r>
            <a:endParaRPr sz="14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18440">
              <a:lnSpc>
                <a:spcPct val="100000"/>
              </a:lnSpc>
              <a:spcBef>
                <a:spcPts val="114"/>
              </a:spcBef>
            </a:pPr>
            <a:r>
              <a:rPr sz="2050" b="0" spc="-9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Comando</a:t>
            </a:r>
            <a:r>
              <a:rPr sz="2050" b="0" spc="-2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2050" b="0" spc="-40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do..while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do..while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896616"/>
            <a:ext cx="4660265" cy="135382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70" dirty="0">
                <a:latin typeface="Calibri"/>
                <a:cs typeface="Calibri"/>
              </a:rPr>
              <a:t>Ideia</a:t>
            </a:r>
            <a:r>
              <a:rPr sz="1400" b="1" spc="60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geral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0" dirty="0">
                <a:latin typeface="Arial"/>
                <a:cs typeface="Arial"/>
              </a:rPr>
              <a:t>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condição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testada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no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final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ao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invés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ser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testada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no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começo.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95" dirty="0">
                <a:latin typeface="Arial"/>
                <a:cs typeface="Arial"/>
              </a:rPr>
              <a:t>Sempre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após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execução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bloco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instruções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dentro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b="0" i="1" spc="-10" dirty="0">
                <a:latin typeface="Kepler Std Medium"/>
                <a:cs typeface="Kepler Std Medium"/>
              </a:rPr>
              <a:t>loop</a:t>
            </a:r>
            <a:r>
              <a:rPr sz="1200" spc="-1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spc="-35" dirty="0">
                <a:latin typeface="Arial"/>
                <a:cs typeface="Arial"/>
              </a:rPr>
              <a:t>Diferença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75" dirty="0">
                <a:latin typeface="Arial"/>
                <a:cs typeface="Arial"/>
              </a:rPr>
              <a:t>básica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entre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85" dirty="0">
                <a:latin typeface="Calibri"/>
                <a:cs typeface="Calibri"/>
              </a:rPr>
              <a:t>while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spc="-140" dirty="0">
                <a:latin typeface="Arial"/>
                <a:cs typeface="Arial"/>
              </a:rPr>
              <a:t>e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o</a:t>
            </a:r>
            <a:r>
              <a:rPr sz="1400" spc="-20" dirty="0">
                <a:latin typeface="Arial"/>
                <a:cs typeface="Arial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do..while</a:t>
            </a:r>
            <a:r>
              <a:rPr sz="1400" spc="-10" dirty="0"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bloco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instrução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será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executado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ao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menos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b="1" spc="55" dirty="0">
                <a:latin typeface="Calibri"/>
                <a:cs typeface="Calibri"/>
              </a:rPr>
              <a:t>uma</a:t>
            </a:r>
            <a:r>
              <a:rPr sz="1200" b="1" spc="45" dirty="0">
                <a:latin typeface="Calibri"/>
                <a:cs typeface="Calibri"/>
              </a:rPr>
              <a:t> </a:t>
            </a:r>
            <a:r>
              <a:rPr sz="1200" b="1" spc="60" dirty="0">
                <a:latin typeface="Calibri"/>
                <a:cs typeface="Calibri"/>
              </a:rPr>
              <a:t>vez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spc="-50" dirty="0">
                <a:latin typeface="Arial"/>
                <a:cs typeface="Arial"/>
              </a:rPr>
              <a:t>no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C8C"/>
                </a:solidFill>
                <a:latin typeface="Calibri"/>
                <a:cs typeface="Calibri"/>
              </a:rPr>
              <a:t>do</a:t>
            </a:r>
            <a:r>
              <a:rPr sz="1200" b="1" spc="45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200" b="1" spc="-10" dirty="0">
                <a:solidFill>
                  <a:srgbClr val="00AC8C"/>
                </a:solidFill>
                <a:latin typeface="Calibri"/>
                <a:cs typeface="Calibri"/>
              </a:rPr>
              <a:t>while</a:t>
            </a:r>
            <a:r>
              <a:rPr sz="1200" spc="-10" dirty="0">
                <a:latin typeface="Arial"/>
                <a:cs typeface="Arial"/>
              </a:rPr>
              <a:t>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41</a:t>
            </a:r>
          </a:p>
        </p:txBody>
      </p:sp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Sintaxe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734886"/>
            <a:ext cx="2714625" cy="857885"/>
          </a:xfrm>
          <a:prstGeom prst="rect">
            <a:avLst/>
          </a:prstGeom>
        </p:spPr>
        <p:txBody>
          <a:bodyPr vert="horz" wrap="square" lIns="0" tIns="110490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870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70" dirty="0">
                <a:latin typeface="Calibri"/>
                <a:cs typeface="Calibri"/>
              </a:rPr>
              <a:t>Sintaxe</a:t>
            </a:r>
            <a:r>
              <a:rPr sz="1400" b="1" spc="45" dirty="0">
                <a:latin typeface="Calibri"/>
                <a:cs typeface="Calibri"/>
              </a:rPr>
              <a:t> </a:t>
            </a:r>
            <a:r>
              <a:rPr sz="1400" b="1" spc="75" dirty="0">
                <a:latin typeface="Calibri"/>
                <a:cs typeface="Calibri"/>
              </a:rPr>
              <a:t>do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85" dirty="0">
                <a:latin typeface="Calibri"/>
                <a:cs typeface="Calibri"/>
              </a:rPr>
              <a:t>comando</a:t>
            </a:r>
            <a:r>
              <a:rPr sz="1400" b="1" spc="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do..while:</a:t>
            </a:r>
            <a:endParaRPr sz="1400">
              <a:latin typeface="Calibri"/>
              <a:cs typeface="Calibri"/>
            </a:endParaRPr>
          </a:p>
          <a:p>
            <a:pPr marL="486409" lvl="1" indent="-189865">
              <a:lnSpc>
                <a:spcPts val="1200"/>
              </a:lnSpc>
              <a:spcBef>
                <a:spcPts val="509"/>
              </a:spcBef>
              <a:buClr>
                <a:srgbClr val="666666"/>
              </a:buClr>
              <a:buSzPct val="80000"/>
              <a:buFont typeface="BIZ UDGothic"/>
              <a:buAutoNum type="arabicPlain"/>
              <a:tabLst>
                <a:tab pos="486409" algn="l"/>
              </a:tabLst>
            </a:pPr>
            <a:r>
              <a:rPr sz="1000" b="1" spc="-25" dirty="0">
                <a:solidFill>
                  <a:srgbClr val="00AC8C"/>
                </a:solidFill>
                <a:latin typeface="BIZ UDGothic"/>
                <a:cs typeface="BIZ UDGothic"/>
              </a:rPr>
              <a:t>do</a:t>
            </a:r>
            <a:r>
              <a:rPr sz="1000" b="1" spc="-25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1000">
              <a:latin typeface="BIZ UDGothic"/>
              <a:cs typeface="BIZ UDGothic"/>
            </a:endParaRPr>
          </a:p>
          <a:p>
            <a:pPr marL="600075" lvl="1" indent="-303530">
              <a:lnSpc>
                <a:spcPts val="1195"/>
              </a:lnSpc>
              <a:buClr>
                <a:srgbClr val="666666"/>
              </a:buClr>
              <a:buSzPct val="80000"/>
              <a:buAutoNum type="arabicPlain"/>
              <a:tabLst>
                <a:tab pos="600075" algn="l"/>
              </a:tabLst>
            </a:pP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instrucao1;</a:t>
            </a:r>
            <a:endParaRPr sz="1000">
              <a:latin typeface="BIZ UDGothic"/>
              <a:cs typeface="BIZ UDGothic"/>
            </a:endParaRPr>
          </a:p>
          <a:p>
            <a:pPr marL="600075" lvl="1" indent="-303530">
              <a:lnSpc>
                <a:spcPts val="1200"/>
              </a:lnSpc>
              <a:buClr>
                <a:srgbClr val="666666"/>
              </a:buClr>
              <a:buSzPct val="80000"/>
              <a:buAutoNum type="arabicPlain"/>
              <a:tabLst>
                <a:tab pos="600075" algn="l"/>
              </a:tabLst>
            </a:pP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instrucao2;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5378" y="1567096"/>
            <a:ext cx="135445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16230" indent="-303530">
              <a:lnSpc>
                <a:spcPts val="1200"/>
              </a:lnSpc>
              <a:spcBef>
                <a:spcPts val="95"/>
              </a:spcBef>
              <a:buClr>
                <a:srgbClr val="666666"/>
              </a:buClr>
              <a:buSzPct val="80000"/>
              <a:buAutoNum type="arabicPlain" startAt="4"/>
              <a:tabLst>
                <a:tab pos="316230" algn="l"/>
              </a:tabLst>
            </a:pP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instrucao3;</a:t>
            </a:r>
            <a:endParaRPr sz="1000">
              <a:latin typeface="BIZ UDGothic"/>
              <a:cs typeface="BIZ UDGothic"/>
            </a:endParaRPr>
          </a:p>
          <a:p>
            <a:pPr marL="316230" indent="-303530">
              <a:lnSpc>
                <a:spcPts val="1195"/>
              </a:lnSpc>
              <a:buClr>
                <a:srgbClr val="666666"/>
              </a:buClr>
              <a:buSzPct val="80000"/>
              <a:buAutoNum type="arabicPlain" startAt="4"/>
              <a:tabLst>
                <a:tab pos="316230" algn="l"/>
              </a:tabLst>
            </a:pP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instrucaon;</a:t>
            </a:r>
            <a:endParaRPr sz="1000">
              <a:latin typeface="BIZ UDGothic"/>
              <a:cs typeface="BIZ UDGothic"/>
            </a:endParaRPr>
          </a:p>
          <a:p>
            <a:pPr marL="201930" indent="-189230">
              <a:lnSpc>
                <a:spcPts val="1195"/>
              </a:lnSpc>
              <a:buClr>
                <a:srgbClr val="666666"/>
              </a:buClr>
              <a:buSzPct val="80000"/>
              <a:buFont typeface="BIZ UDGothic"/>
              <a:buAutoNum type="arabicPlain" startAt="4"/>
              <a:tabLst>
                <a:tab pos="201930" algn="l"/>
              </a:tabLst>
            </a:pPr>
            <a:r>
              <a:rPr sz="1000" b="1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r>
              <a:rPr sz="1000" b="1" dirty="0">
                <a:solidFill>
                  <a:srgbClr val="00AC8C"/>
                </a:solidFill>
                <a:latin typeface="BIZ UDGothic"/>
                <a:cs typeface="BIZ UDGothic"/>
              </a:rPr>
              <a:t>while</a:t>
            </a:r>
            <a:r>
              <a:rPr sz="1000" b="1" spc="-3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1000" spc="-1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condicao</a:t>
            </a:r>
            <a:r>
              <a:rPr sz="1000" spc="-1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1000">
              <a:latin typeface="BIZ UDGothic"/>
              <a:cs typeface="BIZ UDGothic"/>
            </a:endParaRPr>
          </a:p>
          <a:p>
            <a:pPr marL="201930" indent="-189230">
              <a:lnSpc>
                <a:spcPts val="1200"/>
              </a:lnSpc>
              <a:buClr>
                <a:srgbClr val="666666"/>
              </a:buClr>
              <a:buSzPct val="80000"/>
              <a:buAutoNum type="arabicPlain" startAt="4"/>
              <a:tabLst>
                <a:tab pos="201930" algn="l"/>
              </a:tabLst>
            </a:pPr>
            <a:r>
              <a:rPr sz="1000" spc="-10" dirty="0">
                <a:solidFill>
                  <a:srgbClr val="595959"/>
                </a:solidFill>
                <a:latin typeface="BIZ UDGothic"/>
                <a:cs typeface="BIZ UDGothic"/>
              </a:rPr>
              <a:t>proximaInstrucao;</a:t>
            </a:r>
            <a:endParaRPr sz="1000">
              <a:latin typeface="BIZ UDGothic"/>
              <a:cs typeface="BIZ UDGothic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85069" y="1425923"/>
            <a:ext cx="2616200" cy="575945"/>
          </a:xfrm>
          <a:custGeom>
            <a:avLst/>
            <a:gdLst/>
            <a:ahLst/>
            <a:cxnLst/>
            <a:rect l="l" t="t" r="r" b="b"/>
            <a:pathLst>
              <a:path w="2616200" h="575944">
                <a:moveTo>
                  <a:pt x="927008" y="262470"/>
                </a:moveTo>
                <a:lnTo>
                  <a:pt x="19510" y="567903"/>
                </a:lnTo>
                <a:lnTo>
                  <a:pt x="4705" y="573249"/>
                </a:lnTo>
                <a:lnTo>
                  <a:pt x="0" y="575826"/>
                </a:lnTo>
                <a:lnTo>
                  <a:pt x="5354" y="575497"/>
                </a:lnTo>
                <a:lnTo>
                  <a:pt x="20730" y="572125"/>
                </a:lnTo>
                <a:lnTo>
                  <a:pt x="927008" y="352471"/>
                </a:lnTo>
                <a:lnTo>
                  <a:pt x="927008" y="397471"/>
                </a:lnTo>
                <a:lnTo>
                  <a:pt x="930985" y="417171"/>
                </a:lnTo>
                <a:lnTo>
                  <a:pt x="941831" y="433259"/>
                </a:lnTo>
                <a:lnTo>
                  <a:pt x="957918" y="444105"/>
                </a:lnTo>
                <a:lnTo>
                  <a:pt x="977619" y="448082"/>
                </a:lnTo>
                <a:lnTo>
                  <a:pt x="2565519" y="448082"/>
                </a:lnTo>
                <a:lnTo>
                  <a:pt x="2585219" y="444105"/>
                </a:lnTo>
                <a:lnTo>
                  <a:pt x="2601306" y="433259"/>
                </a:lnTo>
                <a:lnTo>
                  <a:pt x="2612153" y="417171"/>
                </a:lnTo>
                <a:lnTo>
                  <a:pt x="2616130" y="397471"/>
                </a:lnTo>
                <a:lnTo>
                  <a:pt x="2616130" y="50610"/>
                </a:lnTo>
                <a:lnTo>
                  <a:pt x="2612153" y="30910"/>
                </a:lnTo>
                <a:lnTo>
                  <a:pt x="2601306" y="14823"/>
                </a:lnTo>
                <a:lnTo>
                  <a:pt x="2585219" y="3977"/>
                </a:lnTo>
                <a:lnTo>
                  <a:pt x="2565519" y="0"/>
                </a:lnTo>
                <a:lnTo>
                  <a:pt x="977619" y="0"/>
                </a:lnTo>
                <a:lnTo>
                  <a:pt x="957918" y="3977"/>
                </a:lnTo>
                <a:lnTo>
                  <a:pt x="941831" y="14823"/>
                </a:lnTo>
                <a:lnTo>
                  <a:pt x="930985" y="30910"/>
                </a:lnTo>
                <a:lnTo>
                  <a:pt x="927008" y="50610"/>
                </a:lnTo>
                <a:lnTo>
                  <a:pt x="927008" y="262470"/>
                </a:lnTo>
                <a:close/>
              </a:path>
            </a:pathLst>
          </a:custGeom>
          <a:ln w="506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84830" y="1434177"/>
            <a:ext cx="13436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65" dirty="0">
                <a:latin typeface="Arial"/>
                <a:cs typeface="Arial"/>
              </a:rPr>
              <a:t>checa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condição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depois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de</a:t>
            </a:r>
            <a:endParaRPr sz="10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760078" y="1649265"/>
            <a:ext cx="15932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45" dirty="0">
                <a:latin typeface="Arial"/>
                <a:cs typeface="Arial"/>
              </a:rPr>
              <a:t>executar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bloco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instruções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42</a:t>
            </a: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Exemplo</a:t>
            </a:r>
            <a:r>
              <a:rPr spc="170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040164"/>
            <a:ext cx="3597275" cy="9899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80" dirty="0">
                <a:latin typeface="Calibri"/>
                <a:cs typeface="Calibri"/>
              </a:rPr>
              <a:t>Faça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90" dirty="0">
                <a:latin typeface="Calibri"/>
                <a:cs typeface="Calibri"/>
              </a:rPr>
              <a:t>algorimo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70" dirty="0">
                <a:latin typeface="Calibri"/>
                <a:cs typeface="Calibri"/>
              </a:rPr>
              <a:t>que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leia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90" dirty="0">
                <a:latin typeface="Calibri"/>
                <a:cs typeface="Calibri"/>
              </a:rPr>
              <a:t>uma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nota:</a:t>
            </a:r>
            <a:endParaRPr sz="1400">
              <a:latin typeface="Calibri"/>
              <a:cs typeface="Calibri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29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faça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validação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da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nota;</a:t>
            </a:r>
            <a:endParaRPr sz="12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30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105" dirty="0">
                <a:latin typeface="Arial"/>
                <a:cs typeface="Arial"/>
              </a:rPr>
              <a:t>se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ela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estiver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no</a:t>
            </a:r>
            <a:r>
              <a:rPr sz="1000" spc="-20" dirty="0">
                <a:latin typeface="Arial"/>
                <a:cs typeface="Arial"/>
              </a:rPr>
              <a:t> intervalo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95" dirty="0">
                <a:latin typeface="Arial"/>
                <a:cs typeface="Arial"/>
              </a:rPr>
              <a:t>0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95" dirty="0">
                <a:latin typeface="Arial"/>
                <a:cs typeface="Arial"/>
              </a:rPr>
              <a:t>10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encerre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programa.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5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85" dirty="0">
                <a:latin typeface="Arial"/>
                <a:cs typeface="Arial"/>
              </a:rPr>
              <a:t>caso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contrário,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75" dirty="0">
                <a:latin typeface="Arial"/>
                <a:cs typeface="Arial"/>
              </a:rPr>
              <a:t>peça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para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usuário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digitar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nota </a:t>
            </a:r>
            <a:r>
              <a:rPr sz="1000" spc="-35" dirty="0">
                <a:latin typeface="Arial"/>
                <a:cs typeface="Arial"/>
              </a:rPr>
              <a:t>novamente.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43</a:t>
            </a: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Exemplo</a:t>
            </a:r>
            <a:r>
              <a:rPr spc="170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0971" y="444024"/>
            <a:ext cx="1972310" cy="59182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550" dirty="0">
                <a:solidFill>
                  <a:srgbClr val="666666"/>
                </a:solidFill>
                <a:latin typeface="BIZ UDGothic"/>
                <a:cs typeface="BIZ UDGothic"/>
              </a:rPr>
              <a:t>1</a:t>
            </a:r>
            <a:r>
              <a:rPr sz="550" spc="-13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import</a:t>
            </a:r>
            <a:r>
              <a:rPr sz="700" b="1" spc="2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spc="-10" dirty="0">
                <a:solidFill>
                  <a:srgbClr val="595959"/>
                </a:solidFill>
                <a:latin typeface="BIZ UDGothic"/>
                <a:cs typeface="BIZ UDGothic"/>
              </a:rPr>
              <a:t>java.util.Scanner;</a:t>
            </a:r>
            <a:endParaRPr sz="7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550" spc="-50" dirty="0">
                <a:solidFill>
                  <a:srgbClr val="666666"/>
                </a:solidFill>
                <a:latin typeface="BIZ UDGothic"/>
                <a:cs typeface="BIZ UDGothic"/>
              </a:rPr>
              <a:t>2</a:t>
            </a:r>
            <a:endParaRPr sz="5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550" dirty="0">
                <a:solidFill>
                  <a:srgbClr val="666666"/>
                </a:solidFill>
                <a:latin typeface="BIZ UDGothic"/>
                <a:cs typeface="BIZ UDGothic"/>
              </a:rPr>
              <a:t>3</a:t>
            </a:r>
            <a:r>
              <a:rPr sz="550" spc="-130" dirty="0">
                <a:solidFill>
                  <a:srgbClr val="666666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700" b="1" spc="3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class</a:t>
            </a:r>
            <a:r>
              <a:rPr sz="700" b="1" spc="3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Validacao</a:t>
            </a:r>
            <a:r>
              <a:rPr sz="700" spc="2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0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550" spc="-50" dirty="0">
                <a:solidFill>
                  <a:srgbClr val="666666"/>
                </a:solidFill>
                <a:latin typeface="BIZ UDGothic"/>
                <a:cs typeface="BIZ UDGothic"/>
              </a:rPr>
              <a:t>4</a:t>
            </a:r>
            <a:endParaRPr sz="5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550" dirty="0">
                <a:solidFill>
                  <a:srgbClr val="666666"/>
                </a:solidFill>
                <a:latin typeface="BIZ UDGothic"/>
                <a:cs typeface="BIZ UDGothic"/>
              </a:rPr>
              <a:t>5</a:t>
            </a:r>
            <a:r>
              <a:rPr sz="550" spc="130" dirty="0">
                <a:solidFill>
                  <a:srgbClr val="666666"/>
                </a:solidFill>
                <a:latin typeface="BIZ UDGothic"/>
                <a:cs typeface="BIZ UDGothic"/>
              </a:rPr>
              <a:t> 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public</a:t>
            </a:r>
            <a:r>
              <a:rPr sz="700" b="1" spc="3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static</a:t>
            </a:r>
            <a:r>
              <a:rPr sz="700" b="1" spc="2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b="1" dirty="0">
                <a:solidFill>
                  <a:srgbClr val="00AC8C"/>
                </a:solidFill>
                <a:latin typeface="BIZ UDGothic"/>
                <a:cs typeface="BIZ UDGothic"/>
              </a:rPr>
              <a:t>void</a:t>
            </a:r>
            <a:r>
              <a:rPr sz="700" b="1" spc="2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main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String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[]</a:t>
            </a:r>
            <a:r>
              <a:rPr sz="700" spc="2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00" dirty="0">
                <a:solidFill>
                  <a:srgbClr val="595959"/>
                </a:solidFill>
                <a:latin typeface="BIZ UDGothic"/>
                <a:cs typeface="BIZ UDGothic"/>
              </a:rPr>
              <a:t>args</a:t>
            </a:r>
            <a:r>
              <a:rPr sz="700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700" spc="2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00" b="1" spc="-50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00">
              <a:latin typeface="BIZ UDGothic"/>
              <a:cs typeface="BIZ UD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45708" y="1052611"/>
          <a:ext cx="2693035" cy="18097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5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48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915">
                <a:tc>
                  <a:txBody>
                    <a:bodyPr/>
                    <a:lstStyle/>
                    <a:p>
                      <a:pPr marR="5715" algn="ctr">
                        <a:lnSpc>
                          <a:spcPts val="550"/>
                        </a:lnSpc>
                      </a:pPr>
                      <a:r>
                        <a:rPr sz="5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6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5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7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825"/>
                        </a:lnSpc>
                      </a:pP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700" spc="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</a:t>
                      </a:r>
                      <a:r>
                        <a:rPr sz="700" spc="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700" spc="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new</a:t>
                      </a:r>
                      <a:r>
                        <a:rPr sz="700" b="1" spc="2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Scanner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System.in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">
                <a:tc>
                  <a:txBody>
                    <a:bodyPr/>
                    <a:lstStyle/>
                    <a:p>
                      <a:pPr marR="5715" algn="ctr">
                        <a:lnSpc>
                          <a:spcPts val="620"/>
                        </a:lnSpc>
                        <a:spcBef>
                          <a:spcPts val="45"/>
                        </a:spcBef>
                      </a:pPr>
                      <a:r>
                        <a:rPr sz="5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8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marR="5715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550" spc="-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9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825"/>
                        </a:lnSpc>
                      </a:pPr>
                      <a:r>
                        <a:rPr sz="7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double</a:t>
                      </a:r>
                      <a:r>
                        <a:rPr sz="700" b="1" spc="2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nota;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155">
                <a:tc>
                  <a:txBody>
                    <a:bodyPr/>
                    <a:lstStyle/>
                    <a:p>
                      <a:pPr marR="41910" algn="ctr">
                        <a:lnSpc>
                          <a:spcPts val="620"/>
                        </a:lnSpc>
                        <a:spcBef>
                          <a:spcPts val="4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10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11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825"/>
                        </a:lnSpc>
                      </a:pPr>
                      <a:r>
                        <a:rPr sz="7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do</a:t>
                      </a:r>
                      <a:r>
                        <a:rPr sz="700" b="1" spc="10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{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8425">
                <a:tc>
                  <a:txBody>
                    <a:bodyPr/>
                    <a:lstStyle/>
                    <a:p>
                      <a:pPr marR="41910" algn="ctr">
                        <a:lnSpc>
                          <a:spcPts val="630"/>
                        </a:lnSpc>
                        <a:spcBef>
                          <a:spcPts val="4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12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9855">
                <a:tc>
                  <a:txBody>
                    <a:bodyPr/>
                    <a:lstStyle/>
                    <a:p>
                      <a:pPr marR="41910" algn="ctr">
                        <a:lnSpc>
                          <a:spcPts val="645"/>
                        </a:lnSpc>
                        <a:spcBef>
                          <a:spcPts val="12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13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770"/>
                        </a:lnSpc>
                      </a:pP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7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("****</a:t>
                      </a:r>
                      <a:r>
                        <a:rPr sz="700" spc="3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Digite</a:t>
                      </a:r>
                      <a:r>
                        <a:rPr sz="700" spc="3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uma</a:t>
                      </a:r>
                      <a:r>
                        <a:rPr sz="700" spc="4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700" spc="3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*****")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5570"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14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39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9060">
                        <a:lnSpc>
                          <a:spcPts val="800"/>
                        </a:lnSpc>
                      </a:pP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700" spc="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=</a:t>
                      </a:r>
                      <a:r>
                        <a:rPr sz="700" spc="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entrada.nextDouble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97790">
                <a:tc>
                  <a:txBody>
                    <a:bodyPr/>
                    <a:lstStyle/>
                    <a:p>
                      <a:pPr marR="41910" algn="ctr">
                        <a:lnSpc>
                          <a:spcPts val="620"/>
                        </a:lnSpc>
                        <a:spcBef>
                          <a:spcPts val="50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15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9380"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16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65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825"/>
                        </a:lnSpc>
                      </a:pPr>
                      <a:r>
                        <a:rPr sz="700" b="1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r>
                        <a:rPr sz="700" b="1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while</a:t>
                      </a:r>
                      <a:r>
                        <a:rPr sz="700" b="1" spc="5" dirty="0">
                          <a:solidFill>
                            <a:srgbClr val="00AC8C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700" spc="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&lt;</a:t>
                      </a:r>
                      <a:r>
                        <a:rPr sz="700" spc="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0</a:t>
                      </a:r>
                      <a:r>
                        <a:rPr sz="700" spc="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||</a:t>
                      </a:r>
                      <a:r>
                        <a:rPr sz="700" spc="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nota</a:t>
                      </a:r>
                      <a:r>
                        <a:rPr sz="700" spc="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&gt;</a:t>
                      </a:r>
                      <a:r>
                        <a:rPr sz="700" spc="15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10</a:t>
                      </a:r>
                      <a:r>
                        <a:rPr sz="700" spc="-2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)</a:t>
                      </a:r>
                      <a:r>
                        <a:rPr sz="700" spc="-2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8425">
                <a:tc>
                  <a:txBody>
                    <a:bodyPr/>
                    <a:lstStyle/>
                    <a:p>
                      <a:pPr marR="41910" algn="ctr">
                        <a:lnSpc>
                          <a:spcPts val="630"/>
                        </a:lnSpc>
                        <a:spcBef>
                          <a:spcPts val="4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17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7475"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18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815"/>
                        </a:lnSpc>
                      </a:pPr>
                      <a:r>
                        <a:rPr sz="70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System.out.println</a:t>
                      </a:r>
                      <a:r>
                        <a:rPr sz="70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("Nota</a:t>
                      </a:r>
                      <a:r>
                        <a:rPr sz="700" spc="85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correta")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99060">
                <a:tc>
                  <a:txBody>
                    <a:bodyPr/>
                    <a:lstStyle/>
                    <a:p>
                      <a:pPr marR="41910" algn="ctr">
                        <a:lnSpc>
                          <a:spcPts val="630"/>
                        </a:lnSpc>
                        <a:spcBef>
                          <a:spcPts val="50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19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8585">
                <a:tc>
                  <a:txBody>
                    <a:bodyPr/>
                    <a:lstStyle/>
                    <a:p>
                      <a:pPr marR="41910" algn="ctr">
                        <a:lnSpc>
                          <a:spcPts val="635"/>
                        </a:lnSpc>
                        <a:spcBef>
                          <a:spcPts val="125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20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</a:txBody>
                  <a:tcPr marL="0" marR="0" marT="158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760"/>
                        </a:lnSpc>
                      </a:pP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entrada.close</a:t>
                      </a:r>
                      <a:r>
                        <a:rPr sz="700" spc="-1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()</a:t>
                      </a:r>
                      <a:r>
                        <a:rPr sz="700" spc="-10" dirty="0">
                          <a:solidFill>
                            <a:srgbClr val="595959"/>
                          </a:solidFill>
                          <a:latin typeface="BIZ UDGothic"/>
                          <a:cs typeface="BIZ UDGothic"/>
                        </a:rPr>
                        <a:t>;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08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550" spc="-25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21</a:t>
                      </a:r>
                      <a:endParaRPr sz="550">
                        <a:latin typeface="BIZ UDGothic"/>
                        <a:cs typeface="BIZ UDGothic"/>
                      </a:endParaRPr>
                    </a:p>
                    <a:p>
                      <a:pPr marL="31750">
                        <a:lnSpc>
                          <a:spcPts val="735"/>
                        </a:lnSpc>
                        <a:spcBef>
                          <a:spcPts val="45"/>
                        </a:spcBef>
                      </a:pPr>
                      <a:r>
                        <a:rPr sz="55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22</a:t>
                      </a:r>
                      <a:r>
                        <a:rPr sz="550" spc="-120" dirty="0">
                          <a:solidFill>
                            <a:srgbClr val="666666"/>
                          </a:solidFill>
                          <a:latin typeface="BIZ UDGothic"/>
                          <a:cs typeface="BIZ UDGothic"/>
                        </a:rPr>
                        <a:t> </a:t>
                      </a:r>
                      <a:r>
                        <a:rPr sz="7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1524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810"/>
                        </a:lnSpc>
                      </a:pPr>
                      <a:r>
                        <a:rPr sz="700" b="1" spc="-50" dirty="0">
                          <a:solidFill>
                            <a:srgbClr val="B25900"/>
                          </a:solidFill>
                          <a:latin typeface="BIZ UDGothic"/>
                          <a:cs typeface="BIZ UDGothic"/>
                        </a:rPr>
                        <a:t>}</a:t>
                      </a:r>
                      <a:endParaRPr sz="700">
                        <a:latin typeface="BIZ UDGothic"/>
                        <a:cs typeface="BIZ UDGothic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44</a:t>
            </a: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Comparação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23620"/>
            <a:ext cx="5503545" cy="5645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spc="-75" dirty="0">
                <a:latin typeface="Arial"/>
                <a:cs typeface="Arial"/>
              </a:rPr>
              <a:t>Por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que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usar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do..while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95" dirty="0">
                <a:latin typeface="Arial"/>
                <a:cs typeface="Arial"/>
              </a:rPr>
              <a:t>ao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65" dirty="0">
                <a:latin typeface="Arial"/>
                <a:cs typeface="Arial"/>
              </a:rPr>
              <a:t>invés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95" dirty="0">
                <a:latin typeface="Arial"/>
                <a:cs typeface="Arial"/>
              </a:rPr>
              <a:t>de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simplesmente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5" dirty="0">
                <a:latin typeface="Arial"/>
                <a:cs typeface="Arial"/>
              </a:rPr>
              <a:t>usar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70" dirty="0">
                <a:latin typeface="Arial"/>
                <a:cs typeface="Arial"/>
              </a:rPr>
              <a:t>o</a:t>
            </a:r>
            <a:r>
              <a:rPr sz="1400" spc="-1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while</a:t>
            </a:r>
            <a:r>
              <a:rPr sz="1400" spc="-25" dirty="0">
                <a:latin typeface="Arial"/>
                <a:cs typeface="Arial"/>
              </a:rPr>
              <a:t> </a:t>
            </a:r>
            <a:r>
              <a:rPr sz="1400" spc="-50" dirty="0">
                <a:latin typeface="Arial"/>
                <a:cs typeface="Arial"/>
              </a:rPr>
              <a:t>simples?</a:t>
            </a:r>
            <a:endParaRPr sz="140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31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útil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quando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precisamos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validar</a:t>
            </a:r>
            <a:r>
              <a:rPr sz="1200" spc="-10" dirty="0">
                <a:latin typeface="Arial"/>
                <a:cs typeface="Arial"/>
              </a:rPr>
              <a:t> valores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4203" y="1212834"/>
            <a:ext cx="644525" cy="5467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00AC8C"/>
                </a:solidFill>
                <a:latin typeface="Calibri"/>
                <a:cs typeface="Calibri"/>
              </a:rPr>
              <a:t>while</a:t>
            </a:r>
            <a:endParaRPr sz="1400">
              <a:latin typeface="Calibri"/>
              <a:cs typeface="Calibri"/>
            </a:endParaRPr>
          </a:p>
          <a:p>
            <a:pPr marL="113030">
              <a:lnSpc>
                <a:spcPct val="100000"/>
              </a:lnSpc>
              <a:spcBef>
                <a:spcPts val="1425"/>
              </a:spcBef>
            </a:pPr>
            <a:r>
              <a:rPr sz="800" b="1" dirty="0">
                <a:solidFill>
                  <a:srgbClr val="00AC8C"/>
                </a:solidFill>
                <a:latin typeface="BIZ UDGothic"/>
                <a:cs typeface="BIZ UDGothic"/>
              </a:rPr>
              <a:t>int</a:t>
            </a:r>
            <a:r>
              <a:rPr sz="800" b="1" spc="25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BIZ UDGothic"/>
                <a:cs typeface="BIZ UDGothic"/>
              </a:rPr>
              <a:t>valor;</a:t>
            </a:r>
            <a:endParaRPr sz="800">
              <a:latin typeface="BIZ UDGothic"/>
              <a:cs typeface="BIZ UD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4945" y="1734055"/>
            <a:ext cx="2668270" cy="274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2000"/>
              </a:lnSpc>
              <a:spcBef>
                <a:spcPts val="95"/>
              </a:spcBef>
            </a:pPr>
            <a:r>
              <a:rPr sz="80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800" dirty="0">
                <a:solidFill>
                  <a:srgbClr val="B25900"/>
                </a:solidFill>
                <a:latin typeface="BIZ UDGothic"/>
                <a:cs typeface="BIZ UDGothic"/>
              </a:rPr>
              <a:t>("Digite</a:t>
            </a:r>
            <a:r>
              <a:rPr sz="800" spc="7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800" dirty="0">
                <a:solidFill>
                  <a:srgbClr val="B25900"/>
                </a:solidFill>
                <a:latin typeface="BIZ UDGothic"/>
                <a:cs typeface="BIZ UDGothic"/>
              </a:rPr>
              <a:t>um</a:t>
            </a:r>
            <a:r>
              <a:rPr sz="800" spc="7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800" dirty="0">
                <a:solidFill>
                  <a:srgbClr val="B25900"/>
                </a:solidFill>
                <a:latin typeface="BIZ UDGothic"/>
                <a:cs typeface="BIZ UDGothic"/>
              </a:rPr>
              <a:t>valor</a:t>
            </a:r>
            <a:r>
              <a:rPr sz="800" spc="7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800" dirty="0">
                <a:solidFill>
                  <a:srgbClr val="B25900"/>
                </a:solidFill>
                <a:latin typeface="BIZ UDGothic"/>
                <a:cs typeface="BIZ UDGothic"/>
              </a:rPr>
              <a:t>maior</a:t>
            </a:r>
            <a:r>
              <a:rPr sz="800" spc="7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800" dirty="0">
                <a:solidFill>
                  <a:srgbClr val="B25900"/>
                </a:solidFill>
                <a:latin typeface="BIZ UDGothic"/>
                <a:cs typeface="BIZ UDGothic"/>
              </a:rPr>
              <a:t>que</a:t>
            </a:r>
            <a:r>
              <a:rPr sz="800" spc="7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800" spc="-10" dirty="0">
                <a:solidFill>
                  <a:srgbClr val="B25900"/>
                </a:solidFill>
                <a:latin typeface="BIZ UDGothic"/>
                <a:cs typeface="BIZ UDGothic"/>
              </a:rPr>
              <a:t>0:")</a:t>
            </a:r>
            <a:r>
              <a:rPr sz="800" spc="-10" dirty="0">
                <a:solidFill>
                  <a:srgbClr val="595959"/>
                </a:solidFill>
                <a:latin typeface="BIZ UDGothic"/>
                <a:cs typeface="BIZ UDGothic"/>
              </a:rPr>
              <a:t>; </a:t>
            </a:r>
            <a:r>
              <a:rPr sz="800" dirty="0">
                <a:solidFill>
                  <a:srgbClr val="595959"/>
                </a:solidFill>
                <a:latin typeface="BIZ UDGothic"/>
                <a:cs typeface="BIZ UDGothic"/>
              </a:rPr>
              <a:t>valor</a:t>
            </a:r>
            <a:r>
              <a:rPr sz="800" spc="2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80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800" spc="3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BIZ UDGothic"/>
                <a:cs typeface="BIZ UDGothic"/>
              </a:rPr>
              <a:t>entrada.nextInt</a:t>
            </a:r>
            <a:r>
              <a:rPr sz="800" spc="-10" dirty="0">
                <a:solidFill>
                  <a:srgbClr val="B25900"/>
                </a:solidFill>
                <a:latin typeface="BIZ UDGothic"/>
                <a:cs typeface="BIZ UDGothic"/>
              </a:rPr>
              <a:t>()</a:t>
            </a:r>
            <a:r>
              <a:rPr sz="8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800">
              <a:latin typeface="BIZ UDGothic"/>
              <a:cs typeface="BIZ UD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4945" y="2107172"/>
            <a:ext cx="2087880" cy="523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5410" marR="5080" indent="-93345">
              <a:lnSpc>
                <a:spcPct val="102000"/>
              </a:lnSpc>
              <a:spcBef>
                <a:spcPts val="95"/>
              </a:spcBef>
            </a:pPr>
            <a:r>
              <a:rPr sz="800" b="1" dirty="0">
                <a:solidFill>
                  <a:srgbClr val="00AC8C"/>
                </a:solidFill>
                <a:latin typeface="BIZ UDGothic"/>
                <a:cs typeface="BIZ UDGothic"/>
              </a:rPr>
              <a:t>while</a:t>
            </a:r>
            <a:r>
              <a:rPr sz="80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800" dirty="0">
                <a:solidFill>
                  <a:srgbClr val="595959"/>
                </a:solidFill>
                <a:latin typeface="BIZ UDGothic"/>
                <a:cs typeface="BIZ UDGothic"/>
              </a:rPr>
              <a:t>valor</a:t>
            </a:r>
            <a:r>
              <a:rPr sz="800" spc="5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800" dirty="0">
                <a:solidFill>
                  <a:srgbClr val="595959"/>
                </a:solidFill>
                <a:latin typeface="BIZ UDGothic"/>
                <a:cs typeface="BIZ UDGothic"/>
              </a:rPr>
              <a:t>!=</a:t>
            </a:r>
            <a:r>
              <a:rPr sz="800" spc="5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800" spc="-25" dirty="0">
                <a:solidFill>
                  <a:srgbClr val="595959"/>
                </a:solidFill>
                <a:latin typeface="BIZ UDGothic"/>
                <a:cs typeface="BIZ UDGothic"/>
              </a:rPr>
              <a:t>0</a:t>
            </a:r>
            <a:r>
              <a:rPr sz="800" spc="-25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800" b="1" spc="-25" dirty="0">
                <a:solidFill>
                  <a:srgbClr val="B25900"/>
                </a:solidFill>
                <a:latin typeface="BIZ UDGothic"/>
                <a:cs typeface="BIZ UDGothic"/>
              </a:rPr>
              <a:t>{ </a:t>
            </a:r>
            <a:r>
              <a:rPr sz="80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800" dirty="0">
                <a:solidFill>
                  <a:srgbClr val="B25900"/>
                </a:solidFill>
                <a:latin typeface="BIZ UDGothic"/>
                <a:cs typeface="BIZ UDGothic"/>
              </a:rPr>
              <a:t>("Digite</a:t>
            </a:r>
            <a:r>
              <a:rPr sz="800" spc="114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800" dirty="0">
                <a:solidFill>
                  <a:srgbClr val="B25900"/>
                </a:solidFill>
                <a:latin typeface="BIZ UDGothic"/>
                <a:cs typeface="BIZ UDGothic"/>
              </a:rPr>
              <a:t>um</a:t>
            </a:r>
            <a:r>
              <a:rPr sz="800" spc="114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800" spc="-10" dirty="0">
                <a:solidFill>
                  <a:srgbClr val="B25900"/>
                </a:solidFill>
                <a:latin typeface="BIZ UDGothic"/>
                <a:cs typeface="BIZ UDGothic"/>
              </a:rPr>
              <a:t>valor")</a:t>
            </a:r>
            <a:r>
              <a:rPr sz="800" spc="-10" dirty="0">
                <a:solidFill>
                  <a:srgbClr val="595959"/>
                </a:solidFill>
                <a:latin typeface="BIZ UDGothic"/>
                <a:cs typeface="BIZ UDGothic"/>
              </a:rPr>
              <a:t>; </a:t>
            </a:r>
            <a:r>
              <a:rPr sz="800" dirty="0">
                <a:solidFill>
                  <a:srgbClr val="595959"/>
                </a:solidFill>
                <a:latin typeface="BIZ UDGothic"/>
                <a:cs typeface="BIZ UDGothic"/>
              </a:rPr>
              <a:t>valor</a:t>
            </a:r>
            <a:r>
              <a:rPr sz="800" spc="2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80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800" spc="3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BIZ UDGothic"/>
                <a:cs typeface="BIZ UDGothic"/>
              </a:rPr>
              <a:t>entrada.nextInt</a:t>
            </a:r>
            <a:r>
              <a:rPr sz="800" spc="-10" dirty="0">
                <a:solidFill>
                  <a:srgbClr val="B25900"/>
                </a:solidFill>
                <a:latin typeface="BIZ UDGothic"/>
                <a:cs typeface="BIZ UDGothic"/>
              </a:rPr>
              <a:t>()</a:t>
            </a:r>
            <a:r>
              <a:rPr sz="80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80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800" b="1" spc="-50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endParaRPr sz="800">
              <a:latin typeface="BIZ UDGothic"/>
              <a:cs typeface="BIZ UD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97670" y="1212834"/>
            <a:ext cx="744855" cy="5422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400" b="1" spc="75" dirty="0">
                <a:solidFill>
                  <a:srgbClr val="00AC8C"/>
                </a:solidFill>
                <a:latin typeface="Calibri"/>
                <a:cs typeface="Calibri"/>
              </a:rPr>
              <a:t>do</a:t>
            </a:r>
            <a:r>
              <a:rPr sz="1400" b="1" spc="40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400" b="1" spc="65" dirty="0">
                <a:solidFill>
                  <a:srgbClr val="00AC8C"/>
                </a:solidFill>
                <a:latin typeface="Calibri"/>
                <a:cs typeface="Calibri"/>
              </a:rPr>
              <a:t>while</a:t>
            </a:r>
            <a:endParaRPr sz="1400">
              <a:latin typeface="Calibri"/>
              <a:cs typeface="Calibri"/>
            </a:endParaRPr>
          </a:p>
          <a:p>
            <a:pPr marR="29845" algn="ctr">
              <a:lnSpc>
                <a:spcPct val="100000"/>
              </a:lnSpc>
              <a:spcBef>
                <a:spcPts val="1440"/>
              </a:spcBef>
            </a:pP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int</a:t>
            </a:r>
            <a:r>
              <a:rPr sz="750" b="1" spc="7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spc="-10" dirty="0">
                <a:solidFill>
                  <a:srgbClr val="595959"/>
                </a:solidFill>
                <a:latin typeface="BIZ UDGothic"/>
                <a:cs typeface="BIZ UDGothic"/>
              </a:rPr>
              <a:t>valor;</a:t>
            </a:r>
            <a:endParaRPr sz="750">
              <a:latin typeface="BIZ UDGothic"/>
              <a:cs typeface="BIZ UD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87868" y="1849547"/>
            <a:ext cx="2671445" cy="5067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750" b="1" spc="-25" dirty="0">
                <a:solidFill>
                  <a:srgbClr val="00AC8C"/>
                </a:solidFill>
                <a:latin typeface="BIZ UDGothic"/>
                <a:cs typeface="BIZ UDGothic"/>
              </a:rPr>
              <a:t>do</a:t>
            </a:r>
            <a:r>
              <a:rPr sz="750" b="1" spc="-25" dirty="0">
                <a:solidFill>
                  <a:srgbClr val="B25900"/>
                </a:solidFill>
                <a:latin typeface="BIZ UDGothic"/>
                <a:cs typeface="BIZ UDGothic"/>
              </a:rPr>
              <a:t>{</a:t>
            </a:r>
            <a:endParaRPr sz="750">
              <a:latin typeface="BIZ UDGothic"/>
              <a:cs typeface="BIZ UDGothic"/>
            </a:endParaRPr>
          </a:p>
          <a:p>
            <a:pPr marL="102870" marR="5080">
              <a:lnSpc>
                <a:spcPct val="105200"/>
              </a:lnSpc>
            </a:pPr>
            <a:r>
              <a:rPr sz="750" spc="10" dirty="0">
                <a:solidFill>
                  <a:srgbClr val="595959"/>
                </a:solidFill>
                <a:latin typeface="BIZ UDGothic"/>
                <a:cs typeface="BIZ UDGothic"/>
              </a:rPr>
              <a:t>System.out.println</a:t>
            </a:r>
            <a:r>
              <a:rPr sz="750" spc="10" dirty="0">
                <a:solidFill>
                  <a:srgbClr val="B25900"/>
                </a:solidFill>
                <a:latin typeface="BIZ UDGothic"/>
                <a:cs typeface="BIZ UDGothic"/>
              </a:rPr>
              <a:t>("Digite</a:t>
            </a:r>
            <a:r>
              <a:rPr sz="750" spc="8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spc="10" dirty="0">
                <a:solidFill>
                  <a:srgbClr val="B25900"/>
                </a:solidFill>
                <a:latin typeface="BIZ UDGothic"/>
                <a:cs typeface="BIZ UDGothic"/>
              </a:rPr>
              <a:t>um</a:t>
            </a:r>
            <a:r>
              <a:rPr sz="750" spc="8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spc="10" dirty="0">
                <a:solidFill>
                  <a:srgbClr val="B25900"/>
                </a:solidFill>
                <a:latin typeface="BIZ UDGothic"/>
                <a:cs typeface="BIZ UDGothic"/>
              </a:rPr>
              <a:t>valor</a:t>
            </a:r>
            <a:r>
              <a:rPr sz="750" spc="90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spc="10" dirty="0">
                <a:solidFill>
                  <a:srgbClr val="B25900"/>
                </a:solidFill>
                <a:latin typeface="BIZ UDGothic"/>
                <a:cs typeface="BIZ UDGothic"/>
              </a:rPr>
              <a:t>maior</a:t>
            </a:r>
            <a:r>
              <a:rPr sz="750" spc="8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spc="10" dirty="0">
                <a:solidFill>
                  <a:srgbClr val="B25900"/>
                </a:solidFill>
                <a:latin typeface="BIZ UDGothic"/>
                <a:cs typeface="BIZ UDGothic"/>
              </a:rPr>
              <a:t>que</a:t>
            </a:r>
            <a:r>
              <a:rPr sz="750" spc="85" dirty="0">
                <a:solidFill>
                  <a:srgbClr val="B25900"/>
                </a:solidFill>
                <a:latin typeface="BIZ UDGothic"/>
                <a:cs typeface="BIZ UDGothic"/>
              </a:rPr>
              <a:t> </a:t>
            </a:r>
            <a:r>
              <a:rPr sz="750" spc="-10" dirty="0">
                <a:solidFill>
                  <a:srgbClr val="B25900"/>
                </a:solidFill>
                <a:latin typeface="BIZ UDGothic"/>
                <a:cs typeface="BIZ UDGothic"/>
              </a:rPr>
              <a:t>0:")</a:t>
            </a:r>
            <a:r>
              <a:rPr sz="750" spc="-10" dirty="0">
                <a:solidFill>
                  <a:srgbClr val="595959"/>
                </a:solidFill>
                <a:latin typeface="BIZ UDGothic"/>
                <a:cs typeface="BIZ UDGothic"/>
              </a:rPr>
              <a:t>;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valor</a:t>
            </a:r>
            <a:r>
              <a:rPr sz="750" spc="7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=</a:t>
            </a:r>
            <a:r>
              <a:rPr sz="750" spc="7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spc="-10" dirty="0">
                <a:solidFill>
                  <a:srgbClr val="595959"/>
                </a:solidFill>
                <a:latin typeface="BIZ UDGothic"/>
                <a:cs typeface="BIZ UDGothic"/>
              </a:rPr>
              <a:t>entrada.nextInt</a:t>
            </a:r>
            <a:r>
              <a:rPr sz="750" spc="-10" dirty="0">
                <a:solidFill>
                  <a:srgbClr val="B25900"/>
                </a:solidFill>
                <a:latin typeface="BIZ UDGothic"/>
                <a:cs typeface="BIZ UDGothic"/>
              </a:rPr>
              <a:t>()</a:t>
            </a:r>
            <a:r>
              <a:rPr sz="750" spc="-10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750">
              <a:latin typeface="BIZ UDGothic"/>
              <a:cs typeface="BIZ UDGothic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750" b="1" dirty="0">
                <a:solidFill>
                  <a:srgbClr val="B25900"/>
                </a:solidFill>
                <a:latin typeface="BIZ UDGothic"/>
                <a:cs typeface="BIZ UDGothic"/>
              </a:rPr>
              <a:t>}</a:t>
            </a:r>
            <a:r>
              <a:rPr sz="750" b="1" dirty="0">
                <a:solidFill>
                  <a:srgbClr val="00AC8C"/>
                </a:solidFill>
                <a:latin typeface="BIZ UDGothic"/>
                <a:cs typeface="BIZ UDGothic"/>
              </a:rPr>
              <a:t>while</a:t>
            </a:r>
            <a:r>
              <a:rPr sz="750" b="1" spc="100" dirty="0">
                <a:solidFill>
                  <a:srgbClr val="00AC8C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B25900"/>
                </a:solidFill>
                <a:latin typeface="BIZ UDGothic"/>
                <a:cs typeface="BIZ UDGothic"/>
              </a:rPr>
              <a:t>(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valor</a:t>
            </a:r>
            <a:r>
              <a:rPr sz="750" spc="105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dirty="0">
                <a:solidFill>
                  <a:srgbClr val="595959"/>
                </a:solidFill>
                <a:latin typeface="BIZ UDGothic"/>
                <a:cs typeface="BIZ UDGothic"/>
              </a:rPr>
              <a:t>!=</a:t>
            </a:r>
            <a:r>
              <a:rPr sz="750" spc="100" dirty="0">
                <a:solidFill>
                  <a:srgbClr val="595959"/>
                </a:solidFill>
                <a:latin typeface="BIZ UDGothic"/>
                <a:cs typeface="BIZ UDGothic"/>
              </a:rPr>
              <a:t> </a:t>
            </a:r>
            <a:r>
              <a:rPr sz="750" spc="-25" dirty="0">
                <a:solidFill>
                  <a:srgbClr val="595959"/>
                </a:solidFill>
                <a:latin typeface="BIZ UDGothic"/>
                <a:cs typeface="BIZ UDGothic"/>
              </a:rPr>
              <a:t>0</a:t>
            </a:r>
            <a:r>
              <a:rPr sz="750" spc="-25" dirty="0">
                <a:solidFill>
                  <a:srgbClr val="B25900"/>
                </a:solidFill>
                <a:latin typeface="BIZ UDGothic"/>
                <a:cs typeface="BIZ UDGothic"/>
              </a:rPr>
              <a:t>)</a:t>
            </a:r>
            <a:r>
              <a:rPr sz="750" spc="-25" dirty="0">
                <a:solidFill>
                  <a:srgbClr val="595959"/>
                </a:solidFill>
                <a:latin typeface="BIZ UDGothic"/>
                <a:cs typeface="BIZ UDGothic"/>
              </a:rPr>
              <a:t>;</a:t>
            </a:r>
            <a:endParaRPr sz="750">
              <a:latin typeface="BIZ UDGothic"/>
              <a:cs typeface="BIZ UDGothic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45</a:t>
            </a: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080">
              <a:lnSpc>
                <a:spcPct val="100800"/>
              </a:lnSpc>
              <a:spcBef>
                <a:spcPts val="100"/>
              </a:spcBef>
            </a:pPr>
            <a:r>
              <a:rPr sz="1400" spc="75" dirty="0">
                <a:solidFill>
                  <a:srgbClr val="FFFFFF"/>
                </a:solidFill>
                <a:latin typeface="PMingLiU"/>
                <a:cs typeface="PMingLiU"/>
              </a:rPr>
              <a:t>estrutura</a:t>
            </a:r>
            <a:r>
              <a:rPr sz="1400" spc="18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de</a:t>
            </a:r>
            <a:r>
              <a:rPr sz="1400" spc="190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dirty="0">
                <a:solidFill>
                  <a:srgbClr val="FFFFFF"/>
                </a:solidFill>
                <a:latin typeface="PMingLiU"/>
                <a:cs typeface="PMingLiU"/>
              </a:rPr>
              <a:t>Repeticao:</a:t>
            </a:r>
            <a:r>
              <a:rPr sz="1400" spc="395" dirty="0">
                <a:solidFill>
                  <a:srgbClr val="FFFFFF"/>
                </a:solidFill>
                <a:latin typeface="PMingLiU"/>
                <a:cs typeface="PMingLiU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PMingLiU"/>
                <a:cs typeface="PMingLiU"/>
              </a:rPr>
              <a:t>whiledo </a:t>
            </a:r>
            <a:r>
              <a:rPr sz="1400" spc="-10" dirty="0">
                <a:solidFill>
                  <a:srgbClr val="FFFFFF"/>
                </a:solidFill>
                <a:latin typeface="PMingLiU"/>
                <a:cs typeface="PMingLiU"/>
              </a:rPr>
              <a:t>while</a:t>
            </a:r>
            <a:endParaRPr sz="1400">
              <a:latin typeface="PMingLiU"/>
              <a:cs typeface="PMingLiU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732155">
              <a:lnSpc>
                <a:spcPct val="100000"/>
              </a:lnSpc>
              <a:spcBef>
                <a:spcPts val="114"/>
              </a:spcBef>
            </a:pPr>
            <a:r>
              <a:rPr sz="2050" b="0" spc="-105" dirty="0">
                <a:solidFill>
                  <a:srgbClr val="000000"/>
                </a:solidFill>
                <a:latin typeface="Arial"/>
                <a:cs typeface="Arial"/>
                <a:hlinkClick r:id="rId2" action="ppaction://hlinksldjump"/>
              </a:rPr>
              <a:t>Exercícios</a:t>
            </a:r>
            <a:endParaRPr sz="205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82352"/>
            <a:ext cx="5403215" cy="1981835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370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spc="-110" dirty="0">
                <a:latin typeface="Arial"/>
                <a:cs typeface="Arial"/>
              </a:rPr>
              <a:t>Faça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um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algoritmo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que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imprima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metade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de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75" dirty="0">
                <a:latin typeface="Arial"/>
                <a:cs typeface="Arial"/>
              </a:rPr>
              <a:t>cada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30" dirty="0">
                <a:latin typeface="Arial"/>
                <a:cs typeface="Arial"/>
              </a:rPr>
              <a:t>número </a:t>
            </a:r>
            <a:r>
              <a:rPr sz="1400" spc="-85" dirty="0">
                <a:latin typeface="Arial"/>
                <a:cs typeface="Arial"/>
              </a:rPr>
              <a:t>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14" dirty="0">
                <a:latin typeface="Arial"/>
                <a:cs typeface="Arial"/>
              </a:rPr>
              <a:t>10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20.</a:t>
            </a:r>
            <a:endParaRPr sz="140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195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235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Exemplo</a:t>
            </a:r>
            <a:r>
              <a:rPr sz="1200" spc="-10" dirty="0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5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metade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95" dirty="0">
                <a:latin typeface="Arial"/>
                <a:cs typeface="Arial"/>
              </a:rPr>
              <a:t>10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é</a:t>
            </a:r>
            <a:r>
              <a:rPr sz="1000" spc="-25" dirty="0">
                <a:latin typeface="Arial"/>
                <a:cs typeface="Arial"/>
              </a:rPr>
              <a:t> 5.0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metade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95" dirty="0">
                <a:latin typeface="Arial"/>
                <a:cs typeface="Arial"/>
              </a:rPr>
              <a:t>11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é</a:t>
            </a:r>
            <a:r>
              <a:rPr sz="1000" spc="-25" dirty="0">
                <a:latin typeface="Arial"/>
                <a:cs typeface="Arial"/>
              </a:rPr>
              <a:t> 5.5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metade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95" dirty="0">
                <a:latin typeface="Arial"/>
                <a:cs typeface="Arial"/>
              </a:rPr>
              <a:t>12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é</a:t>
            </a:r>
            <a:r>
              <a:rPr sz="1000" spc="-25" dirty="0">
                <a:latin typeface="Arial"/>
                <a:cs typeface="Arial"/>
              </a:rPr>
              <a:t> 6.0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8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65" dirty="0">
                <a:latin typeface="Arial"/>
                <a:cs typeface="Arial"/>
              </a:rPr>
              <a:t>.</a:t>
            </a:r>
            <a:r>
              <a:rPr sz="1000" spc="-155" dirty="0">
                <a:latin typeface="Arial"/>
                <a:cs typeface="Arial"/>
              </a:rPr>
              <a:t> </a:t>
            </a:r>
            <a:r>
              <a:rPr sz="1000" spc="-65" dirty="0">
                <a:latin typeface="Arial"/>
                <a:cs typeface="Arial"/>
              </a:rPr>
              <a:t>.</a:t>
            </a:r>
            <a:r>
              <a:rPr sz="1000" spc="-15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metade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95" dirty="0">
                <a:latin typeface="Arial"/>
                <a:cs typeface="Arial"/>
              </a:rPr>
              <a:t>18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é</a:t>
            </a:r>
            <a:r>
              <a:rPr sz="1000" spc="-25" dirty="0">
                <a:latin typeface="Arial"/>
                <a:cs typeface="Arial"/>
              </a:rPr>
              <a:t> 9.0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metade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95" dirty="0">
                <a:latin typeface="Arial"/>
                <a:cs typeface="Arial"/>
              </a:rPr>
              <a:t>19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é</a:t>
            </a:r>
            <a:r>
              <a:rPr sz="1000" spc="-25" dirty="0">
                <a:latin typeface="Arial"/>
                <a:cs typeface="Arial"/>
              </a:rPr>
              <a:t> 9.5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5" dirty="0">
                <a:latin typeface="Arial"/>
                <a:cs typeface="Arial"/>
              </a:rPr>
              <a:t>metade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70" dirty="0">
                <a:latin typeface="Arial"/>
                <a:cs typeface="Arial"/>
              </a:rPr>
              <a:t>de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95" dirty="0">
                <a:latin typeface="Arial"/>
                <a:cs typeface="Arial"/>
              </a:rPr>
              <a:t>20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é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10.0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47</a:t>
            </a: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0855" y="137868"/>
            <a:ext cx="9277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00AC8C"/>
                </a:solidFill>
                <a:latin typeface="Palatino Linotype"/>
                <a:cs typeface="Palatino Linotype"/>
              </a:rPr>
              <a:t>Exercício</a:t>
            </a:r>
            <a:r>
              <a:rPr sz="1400" b="1" spc="215" dirty="0">
                <a:solidFill>
                  <a:srgbClr val="00AC8C"/>
                </a:solidFill>
                <a:latin typeface="Palatino Linotype"/>
                <a:cs typeface="Palatino Linotype"/>
              </a:rPr>
              <a:t> </a:t>
            </a:r>
            <a:r>
              <a:rPr sz="1400" b="1" spc="-50" dirty="0">
                <a:solidFill>
                  <a:srgbClr val="00AC8C"/>
                </a:solidFill>
                <a:latin typeface="Palatino Linotype"/>
                <a:cs typeface="Palatino Linotype"/>
              </a:rPr>
              <a:t>5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1292" y="1382811"/>
            <a:ext cx="37858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135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spc="-110" dirty="0">
                <a:latin typeface="Arial"/>
                <a:cs typeface="Arial"/>
              </a:rPr>
              <a:t>Faça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um</a:t>
            </a:r>
            <a:r>
              <a:rPr sz="1400" spc="-6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algoritmo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que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imprima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a</a:t>
            </a:r>
            <a:r>
              <a:rPr sz="1400" spc="-35" dirty="0">
                <a:latin typeface="Arial"/>
                <a:cs typeface="Arial"/>
              </a:rPr>
              <a:t> tabuada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do</a:t>
            </a:r>
            <a:r>
              <a:rPr sz="1400" spc="-4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5.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48</a:t>
            </a: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6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1223834"/>
            <a:ext cx="4663440" cy="56451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Char char="•"/>
              <a:tabLst>
                <a:tab pos="166370" algn="l"/>
              </a:tabLst>
            </a:pPr>
            <a:r>
              <a:rPr sz="1400" spc="-110" dirty="0">
                <a:latin typeface="Arial"/>
                <a:cs typeface="Arial"/>
              </a:rPr>
              <a:t>Faça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um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algoritmo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60" dirty="0">
                <a:latin typeface="Arial"/>
                <a:cs typeface="Arial"/>
              </a:rPr>
              <a:t>que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leia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90" dirty="0">
                <a:latin typeface="Arial"/>
                <a:cs typeface="Arial"/>
              </a:rPr>
              <a:t>dez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45" dirty="0">
                <a:latin typeface="Arial"/>
                <a:cs typeface="Arial"/>
              </a:rPr>
              <a:t>números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inteiros</a:t>
            </a:r>
            <a:r>
              <a:rPr sz="1400" spc="-40" dirty="0">
                <a:latin typeface="Arial"/>
                <a:cs typeface="Arial"/>
              </a:rPr>
              <a:t> </a:t>
            </a:r>
            <a:r>
              <a:rPr sz="1400" spc="-140" dirty="0">
                <a:latin typeface="Arial"/>
                <a:cs typeface="Arial"/>
              </a:rPr>
              <a:t>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positivos</a:t>
            </a:r>
            <a:endParaRPr sz="1400">
              <a:latin typeface="Arial"/>
              <a:cs typeface="Arial"/>
            </a:endParaRPr>
          </a:p>
          <a:p>
            <a:pPr marL="15621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–</a:t>
            </a:r>
            <a:r>
              <a:rPr sz="1200" spc="290" dirty="0">
                <a:solidFill>
                  <a:srgbClr val="00AC8C"/>
                </a:solidFill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mostre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menor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entre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eles.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49</a:t>
            </a:r>
          </a:p>
        </p:txBody>
      </p:sp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7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27301"/>
            <a:ext cx="5497830" cy="11709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735" marR="5080" indent="-153670">
              <a:lnSpc>
                <a:spcPct val="100800"/>
              </a:lnSpc>
              <a:spcBef>
                <a:spcPts val="120"/>
              </a:spcBef>
              <a:buClr>
                <a:srgbClr val="00AC8C"/>
              </a:buClr>
              <a:buChar char="•"/>
              <a:tabLst>
                <a:tab pos="167640" algn="l"/>
              </a:tabLst>
            </a:pPr>
            <a:r>
              <a:rPr sz="1400" dirty="0">
                <a:latin typeface="Arial"/>
                <a:cs typeface="Arial"/>
              </a:rPr>
              <a:t>O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IMC</a:t>
            </a:r>
            <a:r>
              <a:rPr sz="1400" spc="-35" dirty="0">
                <a:latin typeface="Arial"/>
                <a:cs typeface="Arial"/>
              </a:rPr>
              <a:t> (índice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80" dirty="0">
                <a:latin typeface="Arial"/>
                <a:cs typeface="Arial"/>
              </a:rPr>
              <a:t>Massa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0" dirty="0">
                <a:latin typeface="Arial"/>
                <a:cs typeface="Arial"/>
              </a:rPr>
              <a:t>Corporal)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140" dirty="0">
                <a:latin typeface="Arial"/>
                <a:cs typeface="Arial"/>
              </a:rPr>
              <a:t>é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uma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35" dirty="0">
                <a:latin typeface="Arial"/>
                <a:cs typeface="Arial"/>
              </a:rPr>
              <a:t>medida do grau</a:t>
            </a:r>
            <a:r>
              <a:rPr sz="1400" spc="-30" dirty="0">
                <a:latin typeface="Arial"/>
                <a:cs typeface="Arial"/>
              </a:rPr>
              <a:t> </a:t>
            </a:r>
            <a:r>
              <a:rPr sz="1400" spc="-85" dirty="0">
                <a:latin typeface="Arial"/>
                <a:cs typeface="Arial"/>
              </a:rPr>
              <a:t>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40" dirty="0">
                <a:latin typeface="Arial"/>
                <a:cs typeface="Arial"/>
              </a:rPr>
              <a:t>obesidade 	</a:t>
            </a:r>
            <a:r>
              <a:rPr sz="1400" spc="-85" dirty="0">
                <a:latin typeface="Arial"/>
                <a:cs typeface="Arial"/>
              </a:rPr>
              <a:t>de</a:t>
            </a:r>
            <a:r>
              <a:rPr sz="1400" spc="-35" dirty="0">
                <a:latin typeface="Arial"/>
                <a:cs typeface="Arial"/>
              </a:rPr>
              <a:t> </a:t>
            </a:r>
            <a:r>
              <a:rPr sz="1400" spc="-25" dirty="0">
                <a:latin typeface="Arial"/>
                <a:cs typeface="Arial"/>
              </a:rPr>
              <a:t>uma</a:t>
            </a:r>
            <a:r>
              <a:rPr sz="1400" spc="-55" dirty="0">
                <a:latin typeface="Arial"/>
                <a:cs typeface="Arial"/>
              </a:rPr>
              <a:t> </a:t>
            </a:r>
            <a:r>
              <a:rPr sz="1400" spc="-10" dirty="0">
                <a:latin typeface="Arial"/>
                <a:cs typeface="Arial"/>
              </a:rPr>
              <a:t>pessoa.</a:t>
            </a:r>
            <a:endParaRPr sz="14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49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5" dirty="0">
                <a:latin typeface="Arial"/>
                <a:cs typeface="Arial"/>
              </a:rPr>
              <a:t>Faça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um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algoritmo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30" dirty="0">
                <a:latin typeface="Arial"/>
                <a:cs typeface="Arial"/>
              </a:rPr>
              <a:t> leia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altura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peso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10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pessoas.</a:t>
            </a:r>
            <a:endParaRPr sz="1200">
              <a:latin typeface="Arial"/>
              <a:cs typeface="Arial"/>
            </a:endParaRPr>
          </a:p>
          <a:p>
            <a:pPr marL="309880" marR="68580" lvl="1" indent="-153670">
              <a:lnSpc>
                <a:spcPct val="117600"/>
              </a:lnSpc>
              <a:spcBef>
                <a:spcPts val="285"/>
              </a:spcBef>
              <a:buChar char="–"/>
              <a:tabLst>
                <a:tab pos="309880" algn="l"/>
                <a:tab pos="313690" algn="l"/>
              </a:tabLst>
            </a:pPr>
            <a:r>
              <a:rPr sz="1200" dirty="0">
                <a:solidFill>
                  <a:srgbClr val="00AC8C"/>
                </a:solidFill>
                <a:latin typeface="Arial"/>
                <a:cs typeface="Arial"/>
              </a:rPr>
              <a:t>	</a:t>
            </a:r>
            <a:r>
              <a:rPr sz="1200" spc="-35" dirty="0">
                <a:latin typeface="Arial"/>
                <a:cs typeface="Arial"/>
              </a:rPr>
              <a:t>Calcular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IMC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cada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pessoa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verificar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quantas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pessoas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estão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com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IMC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entre </a:t>
            </a:r>
            <a:r>
              <a:rPr sz="1200" spc="-105" dirty="0">
                <a:latin typeface="Arial"/>
                <a:cs typeface="Arial"/>
              </a:rPr>
              <a:t>18,5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24,9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é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considerado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sem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obesidade.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18550" y="2167011"/>
            <a:ext cx="5346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dirty="0">
                <a:latin typeface="Times New Roman"/>
                <a:cs typeface="Times New Roman"/>
              </a:rPr>
              <a:t>IMC</a:t>
            </a:r>
            <a:r>
              <a:rPr sz="1400" i="1" spc="-5" dirty="0">
                <a:latin typeface="Times New Roman"/>
                <a:cs typeface="Times New Roman"/>
              </a:rPr>
              <a:t> </a:t>
            </a:r>
            <a:r>
              <a:rPr sz="1400" spc="400" dirty="0">
                <a:latin typeface="Verdana"/>
                <a:cs typeface="Verdana"/>
              </a:rPr>
              <a:t>“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05950" y="2316352"/>
            <a:ext cx="508000" cy="0"/>
          </a:xfrm>
          <a:custGeom>
            <a:avLst/>
            <a:gdLst/>
            <a:ahLst/>
            <a:cxnLst/>
            <a:rect l="l" t="t" r="r" b="b"/>
            <a:pathLst>
              <a:path w="508000">
                <a:moveTo>
                  <a:pt x="0" y="0"/>
                </a:moveTo>
                <a:lnTo>
                  <a:pt x="507619" y="0"/>
                </a:lnTo>
              </a:path>
            </a:pathLst>
          </a:custGeom>
          <a:ln w="728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893250" y="2291979"/>
            <a:ext cx="467359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i="1" spc="-10" dirty="0">
                <a:latin typeface="Times New Roman"/>
                <a:cs typeface="Times New Roman"/>
              </a:rPr>
              <a:t>altura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90875" y="1996741"/>
            <a:ext cx="429259" cy="475615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1400" i="1" spc="-20" dirty="0">
                <a:latin typeface="Times New Roman"/>
                <a:cs typeface="Times New Roman"/>
              </a:rPr>
              <a:t>peso</a:t>
            </a:r>
            <a:endParaRPr sz="14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259"/>
              </a:spcBef>
            </a:pPr>
            <a:r>
              <a:rPr sz="1000" spc="-50" dirty="0">
                <a:latin typeface="Candara"/>
                <a:cs typeface="Candara"/>
              </a:rPr>
              <a:t>2</a:t>
            </a:r>
            <a:endParaRPr sz="1000">
              <a:latin typeface="Candara"/>
              <a:cs typeface="Candar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50</a:t>
            </a: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8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1292" y="621943"/>
            <a:ext cx="4429760" cy="203517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166370" indent="-153670">
              <a:lnSpc>
                <a:spcPct val="100000"/>
              </a:lnSpc>
              <a:spcBef>
                <a:spcPts val="725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80" dirty="0">
                <a:latin typeface="Calibri"/>
                <a:cs typeface="Calibri"/>
              </a:rPr>
              <a:t>Faça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110" dirty="0">
                <a:latin typeface="Calibri"/>
                <a:cs typeface="Calibri"/>
              </a:rPr>
              <a:t>um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85" dirty="0">
                <a:latin typeface="Calibri"/>
                <a:cs typeface="Calibri"/>
              </a:rPr>
              <a:t>programa</a:t>
            </a:r>
            <a:r>
              <a:rPr sz="1400" b="1" spc="5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que: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30" dirty="0">
                <a:latin typeface="Arial"/>
                <a:cs typeface="Arial"/>
              </a:rPr>
              <a:t>leia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duas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notas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5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alunos</a:t>
            </a:r>
            <a:endParaRPr sz="12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35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45" dirty="0">
                <a:latin typeface="Arial"/>
                <a:cs typeface="Arial"/>
              </a:rPr>
              <a:t>Calcule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mostre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média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aritmética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cada</a:t>
            </a:r>
            <a:r>
              <a:rPr sz="1200" spc="-20" dirty="0">
                <a:latin typeface="Arial"/>
                <a:cs typeface="Arial"/>
              </a:rPr>
              <a:t> um </a:t>
            </a:r>
            <a:r>
              <a:rPr sz="1200" spc="-10" dirty="0">
                <a:latin typeface="Arial"/>
                <a:cs typeface="Arial"/>
              </a:rPr>
              <a:t>deles;</a:t>
            </a:r>
            <a:endParaRPr sz="1200">
              <a:latin typeface="Arial"/>
              <a:cs typeface="Arial"/>
            </a:endParaRPr>
          </a:p>
          <a:p>
            <a:pPr marL="166370" indent="-153670">
              <a:lnSpc>
                <a:spcPct val="100000"/>
              </a:lnSpc>
              <a:spcBef>
                <a:spcPts val="620"/>
              </a:spcBef>
              <a:buClr>
                <a:srgbClr val="00AC8C"/>
              </a:buClr>
              <a:buFont typeface="Arial"/>
              <a:buChar char="•"/>
              <a:tabLst>
                <a:tab pos="166370" algn="l"/>
              </a:tabLst>
            </a:pPr>
            <a:r>
              <a:rPr sz="1400" b="1" spc="75" dirty="0">
                <a:latin typeface="Calibri"/>
                <a:cs typeface="Calibri"/>
              </a:rPr>
              <a:t>Para</a:t>
            </a:r>
            <a:r>
              <a:rPr sz="1400" b="1" spc="45" dirty="0">
                <a:latin typeface="Calibri"/>
                <a:cs typeface="Calibri"/>
              </a:rPr>
              <a:t> </a:t>
            </a:r>
            <a:r>
              <a:rPr sz="1400" b="1" spc="65" dirty="0">
                <a:latin typeface="Calibri"/>
                <a:cs typeface="Calibri"/>
              </a:rPr>
              <a:t>cada</a:t>
            </a:r>
            <a:r>
              <a:rPr sz="1400" b="1" spc="50" dirty="0">
                <a:latin typeface="Calibri"/>
                <a:cs typeface="Calibri"/>
              </a:rPr>
              <a:t> </a:t>
            </a:r>
            <a:r>
              <a:rPr sz="1400" b="1" spc="60" dirty="0">
                <a:latin typeface="Calibri"/>
                <a:cs typeface="Calibri"/>
              </a:rPr>
              <a:t>nota</a:t>
            </a:r>
            <a:r>
              <a:rPr sz="1400" b="1" spc="50" dirty="0">
                <a:latin typeface="Calibri"/>
                <a:cs typeface="Calibri"/>
              </a:rPr>
              <a:t> lida:</a:t>
            </a:r>
            <a:endParaRPr sz="1400">
              <a:latin typeface="Calibri"/>
              <a:cs typeface="Calibri"/>
            </a:endParaRPr>
          </a:p>
          <a:p>
            <a:pPr marL="313690" lvl="1" indent="-157480">
              <a:lnSpc>
                <a:spcPct val="100000"/>
              </a:lnSpc>
              <a:spcBef>
                <a:spcPts val="50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60" dirty="0">
                <a:latin typeface="Arial"/>
                <a:cs typeface="Arial"/>
              </a:rPr>
              <a:t>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entrada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cada</a:t>
            </a:r>
            <a:r>
              <a:rPr sz="1200" spc="-25" dirty="0">
                <a:latin typeface="Arial"/>
                <a:cs typeface="Arial"/>
              </a:rPr>
              <a:t> nota </a:t>
            </a:r>
            <a:r>
              <a:rPr sz="1200" spc="-95" dirty="0">
                <a:latin typeface="Arial"/>
                <a:cs typeface="Arial"/>
              </a:rPr>
              <a:t>deve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ser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validada!</a:t>
            </a:r>
            <a:endParaRPr sz="12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50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29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45" dirty="0">
                <a:latin typeface="Arial"/>
                <a:cs typeface="Arial"/>
              </a:rPr>
              <a:t>ou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seja,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o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40" dirty="0">
                <a:latin typeface="Arial"/>
                <a:cs typeface="Arial"/>
              </a:rPr>
              <a:t>programa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somente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60" dirty="0">
                <a:latin typeface="Arial"/>
                <a:cs typeface="Arial"/>
              </a:rPr>
              <a:t>avança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se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80" dirty="0">
                <a:latin typeface="Arial"/>
                <a:cs typeface="Arial"/>
              </a:rPr>
              <a:t>a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entrada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55" dirty="0">
                <a:latin typeface="Arial"/>
                <a:cs typeface="Arial"/>
              </a:rPr>
              <a:t>da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nota </a:t>
            </a:r>
            <a:r>
              <a:rPr sz="1000" spc="-40" dirty="0">
                <a:latin typeface="Arial"/>
                <a:cs typeface="Arial"/>
              </a:rPr>
              <a:t>estiver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30" dirty="0">
                <a:latin typeface="Arial"/>
                <a:cs typeface="Arial"/>
              </a:rPr>
              <a:t>entre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-95" dirty="0">
                <a:latin typeface="Arial"/>
                <a:cs typeface="Arial"/>
              </a:rPr>
              <a:t>0</a:t>
            </a:r>
            <a:r>
              <a:rPr sz="1000" spc="-20" dirty="0">
                <a:latin typeface="Arial"/>
                <a:cs typeface="Arial"/>
              </a:rPr>
              <a:t> </a:t>
            </a:r>
            <a:r>
              <a:rPr sz="1000" spc="-105" dirty="0">
                <a:latin typeface="Arial"/>
                <a:cs typeface="Arial"/>
              </a:rPr>
              <a:t>e</a:t>
            </a:r>
            <a:r>
              <a:rPr sz="1000" spc="-25" dirty="0">
                <a:latin typeface="Arial"/>
                <a:cs typeface="Arial"/>
              </a:rPr>
              <a:t> 10.</a:t>
            </a:r>
            <a:endParaRPr sz="100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495"/>
              </a:spcBef>
            </a:pPr>
            <a:r>
              <a:rPr sz="1000" dirty="0">
                <a:solidFill>
                  <a:srgbClr val="00AC8C"/>
                </a:solidFill>
                <a:latin typeface="Cambria"/>
                <a:cs typeface="Cambria"/>
              </a:rPr>
              <a:t>¨</a:t>
            </a:r>
            <a:r>
              <a:rPr sz="1000" spc="310" dirty="0">
                <a:solidFill>
                  <a:srgbClr val="00AC8C"/>
                </a:solidFill>
                <a:latin typeface="Cambria"/>
                <a:cs typeface="Cambria"/>
              </a:rPr>
              <a:t> </a:t>
            </a:r>
            <a:r>
              <a:rPr sz="1000" spc="-85" dirty="0">
                <a:latin typeface="Arial"/>
                <a:cs typeface="Arial"/>
              </a:rPr>
              <a:t>caso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contrário,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35" dirty="0">
                <a:latin typeface="Arial"/>
                <a:cs typeface="Arial"/>
              </a:rPr>
              <a:t>solicite-</a:t>
            </a:r>
            <a:r>
              <a:rPr sz="1000" dirty="0">
                <a:latin typeface="Arial"/>
                <a:cs typeface="Arial"/>
              </a:rPr>
              <a:t>a</a:t>
            </a:r>
            <a:r>
              <a:rPr sz="1000" spc="-10" dirty="0">
                <a:latin typeface="Arial"/>
                <a:cs typeface="Arial"/>
              </a:rPr>
              <a:t> novamente.</a:t>
            </a:r>
            <a:endParaRPr sz="1000">
              <a:latin typeface="Arial"/>
              <a:cs typeface="Arial"/>
            </a:endParaRPr>
          </a:p>
          <a:p>
            <a:pPr marL="313690" lvl="1" indent="-157480">
              <a:lnSpc>
                <a:spcPct val="100000"/>
              </a:lnSpc>
              <a:spcBef>
                <a:spcPts val="580"/>
              </a:spcBef>
              <a:buClr>
                <a:srgbClr val="00AC8C"/>
              </a:buClr>
              <a:buChar char="–"/>
              <a:tabLst>
                <a:tab pos="313690" algn="l"/>
              </a:tabLst>
            </a:pPr>
            <a:r>
              <a:rPr sz="1200" spc="-10" dirty="0">
                <a:latin typeface="Arial"/>
                <a:cs typeface="Arial"/>
              </a:rPr>
              <a:t>Utilize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00AC8C"/>
                </a:solidFill>
                <a:latin typeface="Calibri"/>
                <a:cs typeface="Calibri"/>
              </a:rPr>
              <a:t>do..</a:t>
            </a:r>
            <a:r>
              <a:rPr sz="1200" b="1" spc="-110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200" b="1" spc="-40" dirty="0">
                <a:solidFill>
                  <a:srgbClr val="00AC8C"/>
                </a:solidFill>
                <a:latin typeface="Calibri"/>
                <a:cs typeface="Calibri"/>
              </a:rPr>
              <a:t>.</a:t>
            </a:r>
            <a:r>
              <a:rPr sz="1200" b="1" spc="-110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200" b="1" spc="55" dirty="0">
                <a:solidFill>
                  <a:srgbClr val="00AC8C"/>
                </a:solidFill>
                <a:latin typeface="Calibri"/>
                <a:cs typeface="Calibri"/>
              </a:rPr>
              <a:t>while</a:t>
            </a:r>
            <a:r>
              <a:rPr sz="1200" b="1" spc="60" dirty="0">
                <a:solidFill>
                  <a:srgbClr val="00AC8C"/>
                </a:solidFill>
                <a:latin typeface="Calibri"/>
                <a:cs typeface="Calibri"/>
              </a:rPr>
              <a:t> </a:t>
            </a:r>
            <a:r>
              <a:rPr sz="1200" spc="-55" dirty="0">
                <a:latin typeface="Arial"/>
                <a:cs typeface="Arial"/>
              </a:rPr>
              <a:t>para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validar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as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notas.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51</a:t>
            </a:r>
          </a:p>
        </p:txBody>
      </p:sp>
    </p:spTree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">
              <a:lnSpc>
                <a:spcPct val="100000"/>
              </a:lnSpc>
              <a:spcBef>
                <a:spcPts val="135"/>
              </a:spcBef>
            </a:pPr>
            <a:r>
              <a:rPr dirty="0"/>
              <a:t>Exercício</a:t>
            </a:r>
            <a:r>
              <a:rPr spc="215" dirty="0"/>
              <a:t> </a:t>
            </a:r>
            <a:r>
              <a:rPr spc="-50" dirty="0"/>
              <a:t>9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4871" y="1155778"/>
            <a:ext cx="2160905" cy="1640205"/>
            <a:chOff x="314871" y="1155778"/>
            <a:chExt cx="2160905" cy="1640205"/>
          </a:xfrm>
        </p:grpSpPr>
        <p:sp>
          <p:nvSpPr>
            <p:cNvPr id="4" name="object 4"/>
            <p:cNvSpPr/>
            <p:nvPr/>
          </p:nvSpPr>
          <p:spPr>
            <a:xfrm>
              <a:off x="318363" y="1155778"/>
              <a:ext cx="2153920" cy="10795"/>
            </a:xfrm>
            <a:custGeom>
              <a:avLst/>
              <a:gdLst/>
              <a:ahLst/>
              <a:cxnLst/>
              <a:rect l="l" t="t" r="r" b="b"/>
              <a:pathLst>
                <a:path w="2153920" h="10794">
                  <a:moveTo>
                    <a:pt x="2153680" y="0"/>
                  </a:moveTo>
                  <a:lnTo>
                    <a:pt x="0" y="0"/>
                  </a:lnTo>
                  <a:lnTo>
                    <a:pt x="0" y="10730"/>
                  </a:lnTo>
                  <a:lnTo>
                    <a:pt x="2153680" y="10730"/>
                  </a:lnTo>
                  <a:lnTo>
                    <a:pt x="21536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01266" y="1206156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993986" y="1206156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8363" y="1400025"/>
              <a:ext cx="2153920" cy="0"/>
            </a:xfrm>
            <a:custGeom>
              <a:avLst/>
              <a:gdLst/>
              <a:ahLst/>
              <a:cxnLst/>
              <a:rect l="l" t="t" r="r" b="b"/>
              <a:pathLst>
                <a:path w="2153920">
                  <a:moveTo>
                    <a:pt x="0" y="0"/>
                  </a:moveTo>
                  <a:lnTo>
                    <a:pt x="2153680" y="0"/>
                  </a:lnTo>
                </a:path>
              </a:pathLst>
            </a:custGeom>
            <a:ln w="67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01266" y="1443016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993986" y="1443016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8363" y="1636886"/>
              <a:ext cx="2153920" cy="0"/>
            </a:xfrm>
            <a:custGeom>
              <a:avLst/>
              <a:gdLst/>
              <a:ahLst/>
              <a:cxnLst/>
              <a:rect l="l" t="t" r="r" b="b"/>
              <a:pathLst>
                <a:path w="2153920">
                  <a:moveTo>
                    <a:pt x="0" y="0"/>
                  </a:moveTo>
                  <a:lnTo>
                    <a:pt x="2153680" y="0"/>
                  </a:lnTo>
                </a:path>
              </a:pathLst>
            </a:custGeom>
            <a:ln w="67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01266" y="1679877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93986" y="1679877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18363" y="1873747"/>
              <a:ext cx="2153920" cy="0"/>
            </a:xfrm>
            <a:custGeom>
              <a:avLst/>
              <a:gdLst/>
              <a:ahLst/>
              <a:cxnLst/>
              <a:rect l="l" t="t" r="r" b="b"/>
              <a:pathLst>
                <a:path w="2153920">
                  <a:moveTo>
                    <a:pt x="0" y="0"/>
                  </a:moveTo>
                  <a:lnTo>
                    <a:pt x="2153680" y="0"/>
                  </a:lnTo>
                </a:path>
              </a:pathLst>
            </a:custGeom>
            <a:ln w="67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01266" y="1916738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93986" y="1916738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18363" y="2110608"/>
              <a:ext cx="2153920" cy="0"/>
            </a:xfrm>
            <a:custGeom>
              <a:avLst/>
              <a:gdLst/>
              <a:ahLst/>
              <a:cxnLst/>
              <a:rect l="l" t="t" r="r" b="b"/>
              <a:pathLst>
                <a:path w="2153920">
                  <a:moveTo>
                    <a:pt x="0" y="0"/>
                  </a:moveTo>
                  <a:lnTo>
                    <a:pt x="2153680" y="0"/>
                  </a:lnTo>
                </a:path>
              </a:pathLst>
            </a:custGeom>
            <a:ln w="67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01266" y="2153599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93986" y="2153599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18363" y="2347469"/>
              <a:ext cx="2153920" cy="0"/>
            </a:xfrm>
            <a:custGeom>
              <a:avLst/>
              <a:gdLst/>
              <a:ahLst/>
              <a:cxnLst/>
              <a:rect l="l" t="t" r="r" b="b"/>
              <a:pathLst>
                <a:path w="2153920">
                  <a:moveTo>
                    <a:pt x="0" y="0"/>
                  </a:moveTo>
                  <a:lnTo>
                    <a:pt x="2153680" y="0"/>
                  </a:lnTo>
                </a:path>
              </a:pathLst>
            </a:custGeom>
            <a:ln w="67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901266" y="2390460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93986" y="2390460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18363" y="2584329"/>
              <a:ext cx="2153920" cy="0"/>
            </a:xfrm>
            <a:custGeom>
              <a:avLst/>
              <a:gdLst/>
              <a:ahLst/>
              <a:cxnLst/>
              <a:rect l="l" t="t" r="r" b="b"/>
              <a:pathLst>
                <a:path w="2153920">
                  <a:moveTo>
                    <a:pt x="0" y="0"/>
                  </a:moveTo>
                  <a:lnTo>
                    <a:pt x="2153680" y="0"/>
                  </a:lnTo>
                </a:path>
              </a:pathLst>
            </a:custGeom>
            <a:ln w="670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01266" y="2627321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993986" y="2627321"/>
              <a:ext cx="0" cy="166370"/>
            </a:xfrm>
            <a:custGeom>
              <a:avLst/>
              <a:gdLst/>
              <a:ahLst/>
              <a:cxnLst/>
              <a:rect l="l" t="t" r="r" b="b"/>
              <a:pathLst>
                <a:path h="166369">
                  <a:moveTo>
                    <a:pt x="0" y="166120"/>
                  </a:moveTo>
                  <a:lnTo>
                    <a:pt x="0" y="0"/>
                  </a:lnTo>
                </a:path>
              </a:pathLst>
            </a:custGeom>
            <a:ln w="3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65735" marR="252095" indent="-153670">
              <a:lnSpc>
                <a:spcPct val="100800"/>
              </a:lnSpc>
              <a:spcBef>
                <a:spcPts val="120"/>
              </a:spcBef>
              <a:buClr>
                <a:srgbClr val="00AC8C"/>
              </a:buClr>
              <a:buChar char="•"/>
              <a:tabLst>
                <a:tab pos="167640" algn="l"/>
              </a:tabLst>
            </a:pPr>
            <a:r>
              <a:rPr spc="-35" dirty="0"/>
              <a:t>Dado</a:t>
            </a:r>
            <a:r>
              <a:rPr spc="-45" dirty="0"/>
              <a:t> </a:t>
            </a:r>
            <a:r>
              <a:rPr spc="-70" dirty="0"/>
              <a:t>o</a:t>
            </a:r>
            <a:r>
              <a:rPr spc="-35" dirty="0"/>
              <a:t> cardápio</a:t>
            </a:r>
            <a:r>
              <a:rPr spc="-40" dirty="0"/>
              <a:t> </a:t>
            </a:r>
            <a:r>
              <a:rPr spc="-85" dirty="0"/>
              <a:t>de</a:t>
            </a:r>
            <a:r>
              <a:rPr spc="-35" dirty="0"/>
              <a:t> </a:t>
            </a:r>
            <a:r>
              <a:rPr spc="-25" dirty="0"/>
              <a:t>uma 	</a:t>
            </a:r>
            <a:r>
              <a:rPr spc="-10" dirty="0"/>
              <a:t>lanchonete:</a:t>
            </a:r>
          </a:p>
          <a:p>
            <a:pPr marL="215265">
              <a:lnSpc>
                <a:spcPct val="100000"/>
              </a:lnSpc>
              <a:spcBef>
                <a:spcPts val="890"/>
              </a:spcBef>
              <a:tabLst>
                <a:tab pos="1026160" algn="l"/>
                <a:tab pos="1890395" algn="l"/>
              </a:tabLst>
            </a:pPr>
            <a:r>
              <a:rPr sz="1100" b="1" spc="70" dirty="0">
                <a:latin typeface="Calibri"/>
                <a:cs typeface="Calibri"/>
              </a:rPr>
              <a:t>Código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35" dirty="0">
                <a:latin typeface="Calibri"/>
                <a:cs typeface="Calibri"/>
              </a:rPr>
              <a:t>Produto</a:t>
            </a:r>
            <a:r>
              <a:rPr sz="1100" b="1" dirty="0">
                <a:latin typeface="Calibri"/>
                <a:cs typeface="Calibri"/>
              </a:rPr>
              <a:t>	</a:t>
            </a:r>
            <a:r>
              <a:rPr sz="1100" b="1" spc="-20" dirty="0">
                <a:latin typeface="Calibri"/>
                <a:cs typeface="Calibri"/>
              </a:rPr>
              <a:t>Preço</a:t>
            </a:r>
            <a:endParaRPr sz="1100">
              <a:latin typeface="Calibri"/>
              <a:cs typeface="Calibri"/>
            </a:endParaRPr>
          </a:p>
          <a:p>
            <a:pPr marL="797560" lvl="1" indent="-447675">
              <a:lnSpc>
                <a:spcPct val="100000"/>
              </a:lnSpc>
              <a:spcBef>
                <a:spcPts val="545"/>
              </a:spcBef>
              <a:buAutoNum type="arabicPlain" startAt="100"/>
              <a:tabLst>
                <a:tab pos="797560" algn="l"/>
                <a:tab pos="1957070" algn="l"/>
              </a:tabLst>
            </a:pPr>
            <a:r>
              <a:rPr sz="1100" spc="-40" dirty="0">
                <a:latin typeface="Arial"/>
                <a:cs typeface="Arial"/>
              </a:rPr>
              <a:t>Cachorro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quente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1,20</a:t>
            </a:r>
            <a:endParaRPr sz="1100">
              <a:latin typeface="Arial"/>
              <a:cs typeface="Arial"/>
            </a:endParaRPr>
          </a:p>
          <a:p>
            <a:pPr marL="865505" lvl="1" indent="-515620">
              <a:lnSpc>
                <a:spcPct val="100000"/>
              </a:lnSpc>
              <a:spcBef>
                <a:spcPts val="545"/>
              </a:spcBef>
              <a:buAutoNum type="arabicPlain" startAt="100"/>
              <a:tabLst>
                <a:tab pos="865505" algn="l"/>
                <a:tab pos="1957070" algn="l"/>
              </a:tabLst>
            </a:pPr>
            <a:r>
              <a:rPr sz="1100" spc="-30" dirty="0">
                <a:latin typeface="Arial"/>
                <a:cs typeface="Arial"/>
              </a:rPr>
              <a:t>Bauru </a:t>
            </a:r>
            <a:r>
              <a:rPr sz="1100" spc="-10" dirty="0">
                <a:latin typeface="Arial"/>
                <a:cs typeface="Arial"/>
              </a:rPr>
              <a:t>Simples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1,30</a:t>
            </a:r>
            <a:endParaRPr sz="1100">
              <a:latin typeface="Arial"/>
              <a:cs typeface="Arial"/>
            </a:endParaRPr>
          </a:p>
          <a:p>
            <a:pPr marL="848994" lvl="1" indent="-499109">
              <a:lnSpc>
                <a:spcPct val="100000"/>
              </a:lnSpc>
              <a:spcBef>
                <a:spcPts val="545"/>
              </a:spcBef>
              <a:buAutoNum type="arabicPlain" startAt="100"/>
              <a:tabLst>
                <a:tab pos="848994" algn="l"/>
                <a:tab pos="1957070" algn="l"/>
              </a:tabLst>
            </a:pPr>
            <a:r>
              <a:rPr sz="1100" spc="-30" dirty="0">
                <a:latin typeface="Arial"/>
                <a:cs typeface="Arial"/>
              </a:rPr>
              <a:t>Bauru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com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ovo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1,50</a:t>
            </a:r>
            <a:endParaRPr sz="1100">
              <a:latin typeface="Arial"/>
              <a:cs typeface="Arial"/>
            </a:endParaRPr>
          </a:p>
          <a:p>
            <a:pPr marL="915669" lvl="1" indent="-565785">
              <a:lnSpc>
                <a:spcPct val="100000"/>
              </a:lnSpc>
              <a:spcBef>
                <a:spcPts val="545"/>
              </a:spcBef>
              <a:buAutoNum type="arabicPlain" startAt="100"/>
              <a:tabLst>
                <a:tab pos="915669" algn="l"/>
                <a:tab pos="1957070" algn="l"/>
              </a:tabLst>
            </a:pPr>
            <a:r>
              <a:rPr sz="1100" spc="-10" dirty="0">
                <a:latin typeface="Arial"/>
                <a:cs typeface="Arial"/>
              </a:rPr>
              <a:t>Hambúrguer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1,20</a:t>
            </a:r>
            <a:endParaRPr sz="1100">
              <a:latin typeface="Arial"/>
              <a:cs typeface="Arial"/>
            </a:endParaRPr>
          </a:p>
          <a:p>
            <a:pPr marL="847090" lvl="1" indent="-497205">
              <a:lnSpc>
                <a:spcPct val="100000"/>
              </a:lnSpc>
              <a:spcBef>
                <a:spcPts val="545"/>
              </a:spcBef>
              <a:buAutoNum type="arabicPlain" startAt="100"/>
              <a:tabLst>
                <a:tab pos="847090" algn="l"/>
                <a:tab pos="1957070" algn="l"/>
              </a:tabLst>
            </a:pPr>
            <a:r>
              <a:rPr sz="1100" spc="-10" dirty="0">
                <a:latin typeface="Arial"/>
                <a:cs typeface="Arial"/>
              </a:rPr>
              <a:t>Cheeseburguer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1,30</a:t>
            </a:r>
            <a:endParaRPr sz="1100">
              <a:latin typeface="Arial"/>
              <a:cs typeface="Arial"/>
            </a:endParaRPr>
          </a:p>
          <a:p>
            <a:pPr marL="926465" lvl="1" indent="-576580">
              <a:lnSpc>
                <a:spcPct val="100000"/>
              </a:lnSpc>
              <a:spcBef>
                <a:spcPts val="545"/>
              </a:spcBef>
              <a:buAutoNum type="arabicPlain" startAt="100"/>
              <a:tabLst>
                <a:tab pos="926465" algn="l"/>
                <a:tab pos="1957070" algn="l"/>
              </a:tabLst>
            </a:pPr>
            <a:r>
              <a:rPr sz="1100" spc="-10" dirty="0">
                <a:latin typeface="Arial"/>
                <a:cs typeface="Arial"/>
              </a:rPr>
              <a:t>Refrigerante</a:t>
            </a:r>
            <a:r>
              <a:rPr sz="1100" dirty="0">
                <a:latin typeface="Arial"/>
                <a:cs typeface="Arial"/>
              </a:rPr>
              <a:t>	</a:t>
            </a:r>
            <a:r>
              <a:rPr sz="1100" spc="-20" dirty="0">
                <a:latin typeface="Arial"/>
                <a:cs typeface="Arial"/>
              </a:rPr>
              <a:t>1,00</a:t>
            </a:r>
            <a:endParaRPr sz="11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18363" y="2817836"/>
            <a:ext cx="2153920" cy="10795"/>
          </a:xfrm>
          <a:custGeom>
            <a:avLst/>
            <a:gdLst/>
            <a:ahLst/>
            <a:cxnLst/>
            <a:rect l="l" t="t" r="r" b="b"/>
            <a:pathLst>
              <a:path w="2153920" h="10794">
                <a:moveTo>
                  <a:pt x="2153680" y="0"/>
                </a:moveTo>
                <a:lnTo>
                  <a:pt x="0" y="0"/>
                </a:lnTo>
                <a:lnTo>
                  <a:pt x="0" y="10730"/>
                </a:lnTo>
                <a:lnTo>
                  <a:pt x="2153680" y="10730"/>
                </a:lnTo>
                <a:lnTo>
                  <a:pt x="2153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3041675" y="564515"/>
            <a:ext cx="2640965" cy="1818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9545" marR="28575" indent="-157480">
              <a:lnSpc>
                <a:spcPct val="117600"/>
              </a:lnSpc>
              <a:spcBef>
                <a:spcPts val="100"/>
              </a:spcBef>
              <a:buClr>
                <a:srgbClr val="00AC8C"/>
              </a:buClr>
              <a:buChar char="–"/>
              <a:tabLst>
                <a:tab pos="169545" algn="l"/>
              </a:tabLst>
            </a:pPr>
            <a:r>
              <a:rPr sz="1200" spc="-114" dirty="0">
                <a:latin typeface="Arial"/>
                <a:cs typeface="Arial"/>
              </a:rPr>
              <a:t>Faça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um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algoritmo </a:t>
            </a:r>
            <a:r>
              <a:rPr sz="1200" spc="-80" dirty="0">
                <a:latin typeface="Arial"/>
                <a:cs typeface="Arial"/>
              </a:rPr>
              <a:t>que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leia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o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código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do </a:t>
            </a:r>
            <a:r>
              <a:rPr sz="1200" spc="-20" dirty="0">
                <a:latin typeface="Arial"/>
                <a:cs typeface="Arial"/>
              </a:rPr>
              <a:t>produto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quantidade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que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cliente </a:t>
            </a:r>
            <a:r>
              <a:rPr sz="1200" spc="-85" dirty="0">
                <a:latin typeface="Arial"/>
                <a:cs typeface="Arial"/>
              </a:rPr>
              <a:t>deseja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comprar.</a:t>
            </a:r>
            <a:endParaRPr sz="1200">
              <a:latin typeface="Arial"/>
              <a:cs typeface="Arial"/>
            </a:endParaRPr>
          </a:p>
          <a:p>
            <a:pPr marL="169545" marR="229870" indent="-157480">
              <a:lnSpc>
                <a:spcPct val="117600"/>
              </a:lnSpc>
              <a:spcBef>
                <a:spcPts val="284"/>
              </a:spcBef>
              <a:buClr>
                <a:srgbClr val="00AC8C"/>
              </a:buClr>
              <a:buChar char="–"/>
              <a:tabLst>
                <a:tab pos="169545" algn="l"/>
              </a:tabLst>
            </a:pPr>
            <a:r>
              <a:rPr sz="1200" spc="-60" dirty="0">
                <a:latin typeface="Arial"/>
                <a:cs typeface="Arial"/>
              </a:rPr>
              <a:t>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cliente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pode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comprar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mais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de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um produto,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pergunte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se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ele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deseja </a:t>
            </a:r>
            <a:r>
              <a:rPr sz="1200" spc="-25" dirty="0">
                <a:latin typeface="Arial"/>
                <a:cs typeface="Arial"/>
              </a:rPr>
              <a:t>continuar</a:t>
            </a:r>
            <a:r>
              <a:rPr sz="1200" spc="-10" dirty="0">
                <a:latin typeface="Arial"/>
                <a:cs typeface="Arial"/>
              </a:rPr>
              <a:t> comprando.</a:t>
            </a:r>
            <a:endParaRPr sz="1200">
              <a:latin typeface="Arial"/>
              <a:cs typeface="Arial"/>
            </a:endParaRPr>
          </a:p>
          <a:p>
            <a:pPr marL="169545" marR="5080" indent="-157480">
              <a:lnSpc>
                <a:spcPct val="117600"/>
              </a:lnSpc>
              <a:spcBef>
                <a:spcPts val="280"/>
              </a:spcBef>
              <a:buClr>
                <a:srgbClr val="00AC8C"/>
              </a:buClr>
              <a:buChar char="–"/>
              <a:tabLst>
                <a:tab pos="169545" algn="l"/>
              </a:tabLst>
            </a:pPr>
            <a:r>
              <a:rPr sz="1200" spc="-45" dirty="0">
                <a:latin typeface="Arial"/>
                <a:cs typeface="Arial"/>
              </a:rPr>
              <a:t>Calcule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valor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total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ser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pago</a:t>
            </a:r>
            <a:r>
              <a:rPr sz="1200" spc="-25" dirty="0">
                <a:latin typeface="Arial"/>
                <a:cs typeface="Arial"/>
              </a:rPr>
              <a:t> por </a:t>
            </a:r>
            <a:r>
              <a:rPr sz="1200" spc="-85" dirty="0">
                <a:latin typeface="Arial"/>
                <a:cs typeface="Arial"/>
              </a:rPr>
              <a:t>cada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produto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35" dirty="0">
                <a:latin typeface="Arial"/>
                <a:cs typeface="Arial"/>
              </a:rPr>
              <a:t>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o</a:t>
            </a:r>
            <a:r>
              <a:rPr sz="1200" spc="-30" dirty="0">
                <a:latin typeface="Arial"/>
                <a:cs typeface="Arial"/>
              </a:rPr>
              <a:t> valor </a:t>
            </a:r>
            <a:r>
              <a:rPr sz="1200" dirty="0">
                <a:latin typeface="Arial"/>
                <a:cs typeface="Arial"/>
              </a:rPr>
              <a:t>total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da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compra.</a:t>
            </a:r>
            <a:endParaRPr sz="120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3202038"/>
            <a:ext cx="5760085" cy="38100"/>
          </a:xfrm>
          <a:custGeom>
            <a:avLst/>
            <a:gdLst/>
            <a:ahLst/>
            <a:cxnLst/>
            <a:rect l="l" t="t" r="r" b="b"/>
            <a:pathLst>
              <a:path w="5760085" h="38100">
                <a:moveTo>
                  <a:pt x="5759996" y="0"/>
                </a:moveTo>
                <a:lnTo>
                  <a:pt x="0" y="0"/>
                </a:lnTo>
                <a:lnTo>
                  <a:pt x="0" y="37960"/>
                </a:lnTo>
                <a:lnTo>
                  <a:pt x="5759996" y="37960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pc="-25" dirty="0"/>
              <a:t>52</a:t>
            </a:r>
          </a:p>
        </p:txBody>
      </p:sp>
    </p:spTree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241300" y="-17685"/>
            <a:ext cx="5760085" cy="3240405"/>
          </a:xfrm>
          <a:custGeom>
            <a:avLst/>
            <a:gdLst/>
            <a:ahLst/>
            <a:cxnLst/>
            <a:rect l="l" t="t" r="r" b="b"/>
            <a:pathLst>
              <a:path w="5760085" h="3240405">
                <a:moveTo>
                  <a:pt x="5759996" y="0"/>
                </a:moveTo>
                <a:lnTo>
                  <a:pt x="0" y="0"/>
                </a:lnTo>
                <a:lnTo>
                  <a:pt x="0" y="3239998"/>
                </a:lnTo>
                <a:lnTo>
                  <a:pt x="5759996" y="3239998"/>
                </a:lnTo>
                <a:lnTo>
                  <a:pt x="5759996" y="0"/>
                </a:lnTo>
                <a:close/>
              </a:path>
            </a:pathLst>
          </a:custGeom>
          <a:solidFill>
            <a:srgbClr val="00AC8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31291" y="1710124"/>
            <a:ext cx="5463693" cy="330218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b="1" spc="-10" dirty="0" err="1">
                <a:solidFill>
                  <a:srgbClr val="FFFFFF"/>
                </a:solidFill>
                <a:latin typeface="Palatino Linotype"/>
                <a:cs typeface="Palatino Linotype"/>
              </a:rPr>
              <a:t>Obrigado</a:t>
            </a:r>
            <a:r>
              <a:rPr lang="pt-BR" sz="2050" b="1" spc="-10" dirty="0">
                <a:solidFill>
                  <a:srgbClr val="FFFFFF"/>
                </a:solidFill>
                <a:latin typeface="Palatino Linotype"/>
                <a:cs typeface="Palatino Linotype"/>
              </a:rPr>
              <a:t>!</a:t>
            </a:r>
            <a:endParaRPr sz="2050" dirty="0">
              <a:latin typeface="Palatino Linotype"/>
              <a:cs typeface="Palatino Linotype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2680</Words>
  <Application>Microsoft Office PowerPoint</Application>
  <PresentationFormat>Personalizar</PresentationFormat>
  <Paragraphs>542</Paragraphs>
  <Slides>52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52</vt:i4>
      </vt:variant>
    </vt:vector>
  </HeadingPairs>
  <TitlesOfParts>
    <vt:vector size="64" baseType="lpstr">
      <vt:lpstr>PMingLiU</vt:lpstr>
      <vt:lpstr>Arial</vt:lpstr>
      <vt:lpstr>BIZ UDGothic</vt:lpstr>
      <vt:lpstr>Calibri</vt:lpstr>
      <vt:lpstr>Cambria</vt:lpstr>
      <vt:lpstr>Candara</vt:lpstr>
      <vt:lpstr>Kepler Std Medium</vt:lpstr>
      <vt:lpstr>Palatino Linotype</vt:lpstr>
      <vt:lpstr>Times New Roman</vt:lpstr>
      <vt:lpstr>Utopia Std Caption</vt:lpstr>
      <vt:lpstr>Verdana</vt:lpstr>
      <vt:lpstr>Office Theme</vt:lpstr>
      <vt:lpstr>Apresentação do PowerPoint</vt:lpstr>
      <vt:lpstr>Agenda</vt:lpstr>
      <vt:lpstr>Apresentação do PowerPoint</vt:lpstr>
      <vt:lpstr>Relembrando: Desvio Condicional</vt:lpstr>
      <vt:lpstr>Relembrando: Desvio Condicional Ñ Exemplo</vt:lpstr>
      <vt:lpstr>Resolução</vt:lpstr>
      <vt:lpstr>Estruturas de repetição</vt:lpstr>
      <vt:lpstr>Estrutura de Repetição</vt:lpstr>
      <vt:lpstr>Estrutura de Repetição</vt:lpstr>
      <vt:lpstr>Estrutura de Repetição</vt:lpstr>
      <vt:lpstr>Estrutura de Repetição</vt:lpstr>
      <vt:lpstr>Estrutura de Repetição</vt:lpstr>
      <vt:lpstr>Estrutura de Repetição</vt:lpstr>
      <vt:lpstr>Tipos de Repetições</vt:lpstr>
      <vt:lpstr>Tipos de repetições</vt:lpstr>
      <vt:lpstr>Tipos de repetições</vt:lpstr>
      <vt:lpstr>Tipos de repetições</vt:lpstr>
      <vt:lpstr>Comando while</vt:lpstr>
      <vt:lpstr>Apresentação do PowerPoint</vt:lpstr>
      <vt:lpstr>Sintaxe</vt:lpstr>
      <vt:lpstr>Condição</vt:lpstr>
      <vt:lpstr>Bloco de instruções</vt:lpstr>
      <vt:lpstr>Contador</vt:lpstr>
      <vt:lpstr>Contador</vt:lpstr>
      <vt:lpstr>Contador</vt:lpstr>
      <vt:lpstr>Exemplo 1</vt:lpstr>
      <vt:lpstr>Exemplo 2</vt:lpstr>
      <vt:lpstr>Apresentação do PowerPoint</vt:lpstr>
      <vt:lpstr>Acumulador</vt:lpstr>
      <vt:lpstr>Acumulador</vt:lpstr>
      <vt:lpstr>Exemplo 3</vt:lpstr>
      <vt:lpstr>Exemplo 4</vt:lpstr>
      <vt:lpstr>Exercício 2</vt:lpstr>
      <vt:lpstr>Variável de controle</vt:lpstr>
      <vt:lpstr>Variável de controle</vt:lpstr>
      <vt:lpstr>Exemplo 5</vt:lpstr>
      <vt:lpstr>Exemplo 5</vt:lpstr>
      <vt:lpstr>Exercício 3</vt:lpstr>
      <vt:lpstr>Comando do..while</vt:lpstr>
      <vt:lpstr>do..while</vt:lpstr>
      <vt:lpstr>Sintaxe</vt:lpstr>
      <vt:lpstr>Exemplo 1</vt:lpstr>
      <vt:lpstr>Exemplo 1</vt:lpstr>
      <vt:lpstr>Comparação</vt:lpstr>
      <vt:lpstr>Exercícios</vt:lpstr>
      <vt:lpstr>Exercício 4</vt:lpstr>
      <vt:lpstr>Apresentação do PowerPoint</vt:lpstr>
      <vt:lpstr>Exercício 6</vt:lpstr>
      <vt:lpstr>Exercício 7</vt:lpstr>
      <vt:lpstr>Exercício 8</vt:lpstr>
      <vt:lpstr>Exercício 9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de Repetição: while/do while - Programação de Soluções Computacionais</dc:title>
  <dc:creator>Prof. Dr. Charles Ferreira</dc:creator>
  <cp:lastModifiedBy>GUILHERME DUARTE DE BARROS</cp:lastModifiedBy>
  <cp:revision>1</cp:revision>
  <dcterms:created xsi:type="dcterms:W3CDTF">2024-04-01T18:50:27Z</dcterms:created>
  <dcterms:modified xsi:type="dcterms:W3CDTF">2025-02-04T20:58:00Z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2022-03-25T00:00:00Z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2024-04-01T00:00:00Z</vt:filetime>
  </property>
  <property fmtid="{D5CDD505-2E9C-101B-9397-08002B2CF9AE}" pid="5" name="PTEX.Fullbanner">
    <vt:lpwstr>This is pdfTeX, Version 3.14159265-2.6-1.40.20 (TeX Live 2019/Debian) kpathsea version 6.3.1</vt:lpwstr>
  </property>
  <property fmtid="{D5CDD505-2E9C-101B-9397-08002B2CF9AE}" pid="6" name="Producer">
    <vt:lpwstr>pdfTeX-1.40.20</vt:lpwstr>
  </property>
</Properties>
</file>