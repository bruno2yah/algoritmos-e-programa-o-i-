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67"/>
  </p:notesMasterIdLst>
  <p:sldIdLst>
    <p:sldId id="359" r:id="rId2"/>
    <p:sldId id="362" r:id="rId3"/>
    <p:sldId id="103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1037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1036" r:id="rId36"/>
    <p:sldId id="290" r:id="rId37"/>
    <p:sldId id="291" r:id="rId38"/>
    <p:sldId id="292" r:id="rId39"/>
    <p:sldId id="293" r:id="rId40"/>
    <p:sldId id="1038" r:id="rId41"/>
    <p:sldId id="1039" r:id="rId42"/>
    <p:sldId id="1040" r:id="rId43"/>
    <p:sldId id="1041" r:id="rId44"/>
    <p:sldId id="1042" r:id="rId45"/>
    <p:sldId id="104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1034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749"/>
    <a:srgbClr val="86C13F"/>
    <a:srgbClr val="F9E8F1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AABF64-DC45-44FD-93D1-3F1E6F652BD2}" v="6" dt="2025-09-06T13:40:46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1"/>
    <p:restoredTop sz="91413"/>
  </p:normalViewPr>
  <p:slideViewPr>
    <p:cSldViewPr snapToGrid="0" snapToObjects="1">
      <p:cViewPr varScale="1">
        <p:scale>
          <a:sx n="101" d="100"/>
          <a:sy n="101" d="100"/>
        </p:scale>
        <p:origin x="102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UARTE DE BARROS" userId="a2c79776-eeef-42d8-b602-835425da4449" providerId="ADAL" clId="{B71EADF8-7A24-48D4-8860-D03979A4977F}"/>
    <pc:docChg chg="custSel modSld modMainMaster">
      <pc:chgData name="GUILHERME DUARTE DE BARROS" userId="a2c79776-eeef-42d8-b602-835425da4449" providerId="ADAL" clId="{B71EADF8-7A24-48D4-8860-D03979A4977F}" dt="2025-09-06T13:41:17.727" v="126" actId="20577"/>
      <pc:docMkLst>
        <pc:docMk/>
      </pc:docMkLst>
      <pc:sldChg chg="modSp mod">
        <pc:chgData name="GUILHERME DUARTE DE BARROS" userId="a2c79776-eeef-42d8-b602-835425da4449" providerId="ADAL" clId="{B71EADF8-7A24-48D4-8860-D03979A4977F}" dt="2025-09-06T13:40:46.307" v="125" actId="1076"/>
        <pc:sldMkLst>
          <pc:docMk/>
          <pc:sldMk cId="944363697" sldId="359"/>
        </pc:sldMkLst>
        <pc:spChg chg="mod">
          <ac:chgData name="GUILHERME DUARTE DE BARROS" userId="a2c79776-eeef-42d8-b602-835425da4449" providerId="ADAL" clId="{B71EADF8-7A24-48D4-8860-D03979A4977F}" dt="2025-09-06T13:40:09.484" v="78" actId="1076"/>
          <ac:spMkLst>
            <pc:docMk/>
            <pc:sldMk cId="944363697" sldId="359"/>
            <ac:spMk id="2" creationId="{00000000-0000-0000-0000-000000000000}"/>
          </ac:spMkLst>
        </pc:spChg>
        <pc:spChg chg="mod">
          <ac:chgData name="GUILHERME DUARTE DE BARROS" userId="a2c79776-eeef-42d8-b602-835425da4449" providerId="ADAL" clId="{B71EADF8-7A24-48D4-8860-D03979A4977F}" dt="2025-09-06T13:40:35.132" v="123" actId="1076"/>
          <ac:spMkLst>
            <pc:docMk/>
            <pc:sldMk cId="944363697" sldId="359"/>
            <ac:spMk id="3" creationId="{00000000-0000-0000-0000-000000000000}"/>
          </ac:spMkLst>
        </pc:spChg>
        <pc:picChg chg="mod">
          <ac:chgData name="GUILHERME DUARTE DE BARROS" userId="a2c79776-eeef-42d8-b602-835425da4449" providerId="ADAL" clId="{B71EADF8-7A24-48D4-8860-D03979A4977F}" dt="2025-09-06T13:40:46.307" v="125" actId="1076"/>
          <ac:picMkLst>
            <pc:docMk/>
            <pc:sldMk cId="944363697" sldId="359"/>
            <ac:picMk id="4" creationId="{16FDF1DA-9C40-4F07-B135-0F74F9AC6A31}"/>
          </ac:picMkLst>
        </pc:picChg>
      </pc:sldChg>
      <pc:sldChg chg="modSp mod">
        <pc:chgData name="GUILHERME DUARTE DE BARROS" userId="a2c79776-eeef-42d8-b602-835425da4449" providerId="ADAL" clId="{B71EADF8-7A24-48D4-8860-D03979A4977F}" dt="2025-09-06T13:41:17.727" v="126" actId="20577"/>
        <pc:sldMkLst>
          <pc:docMk/>
          <pc:sldMk cId="2479978710" sldId="1034"/>
        </pc:sldMkLst>
        <pc:spChg chg="mod">
          <ac:chgData name="GUILHERME DUARTE DE BARROS" userId="a2c79776-eeef-42d8-b602-835425da4449" providerId="ADAL" clId="{B71EADF8-7A24-48D4-8860-D03979A4977F}" dt="2025-09-06T13:41:17.727" v="126" actId="20577"/>
          <ac:spMkLst>
            <pc:docMk/>
            <pc:sldMk cId="2479978710" sldId="1034"/>
            <ac:spMk id="3" creationId="{00000000-0000-0000-0000-000000000000}"/>
          </ac:spMkLst>
        </pc:spChg>
      </pc:sldChg>
      <pc:sldMasterChg chg="delSp modSp mod modSldLayout">
        <pc:chgData name="GUILHERME DUARTE DE BARROS" userId="a2c79776-eeef-42d8-b602-835425da4449" providerId="ADAL" clId="{B71EADF8-7A24-48D4-8860-D03979A4977F}" dt="2025-09-06T13:38:36.636" v="46" actId="14100"/>
        <pc:sldMasterMkLst>
          <pc:docMk/>
          <pc:sldMasterMk cId="603483883" sldId="2147483698"/>
        </pc:sldMasterMkLst>
        <pc:spChg chg="mod">
          <ac:chgData name="GUILHERME DUARTE DE BARROS" userId="a2c79776-eeef-42d8-b602-835425da4449" providerId="ADAL" clId="{B71EADF8-7A24-48D4-8860-D03979A4977F}" dt="2025-09-06T13:38:36.636" v="46" actId="14100"/>
          <ac:spMkLst>
            <pc:docMk/>
            <pc:sldMasterMk cId="603483883" sldId="2147483698"/>
            <ac:spMk id="10" creationId="{00000000-0000-0000-0000-000000000000}"/>
          </ac:spMkLst>
        </pc:spChg>
        <pc:picChg chg="del">
          <ac:chgData name="GUILHERME DUARTE DE BARROS" userId="a2c79776-eeef-42d8-b602-835425da4449" providerId="ADAL" clId="{B71EADF8-7A24-48D4-8860-D03979A4977F}" dt="2025-09-06T13:38:12.216" v="1" actId="478"/>
          <ac:picMkLst>
            <pc:docMk/>
            <pc:sldMasterMk cId="603483883" sldId="2147483698"/>
            <ac:picMk id="6" creationId="{4B4B7DEF-255E-6E34-784E-7AD573F7ED03}"/>
          </ac:picMkLst>
        </pc:picChg>
        <pc:sldLayoutChg chg="delSp mod">
          <pc:chgData name="GUILHERME DUARTE DE BARROS" userId="a2c79776-eeef-42d8-b602-835425da4449" providerId="ADAL" clId="{B71EADF8-7A24-48D4-8860-D03979A4977F}" dt="2025-09-06T13:38:09.229" v="0" actId="478"/>
          <pc:sldLayoutMkLst>
            <pc:docMk/>
            <pc:sldMasterMk cId="603483883" sldId="2147483698"/>
            <pc:sldLayoutMk cId="188356800" sldId="2147483699"/>
          </pc:sldLayoutMkLst>
          <pc:picChg chg="del">
            <ac:chgData name="GUILHERME DUARTE DE BARROS" userId="a2c79776-eeef-42d8-b602-835425da4449" providerId="ADAL" clId="{B71EADF8-7A24-48D4-8860-D03979A4977F}" dt="2025-09-06T13:38:09.229" v="0" actId="478"/>
            <ac:picMkLst>
              <pc:docMk/>
              <pc:sldMasterMk cId="603483883" sldId="2147483698"/>
              <pc:sldLayoutMk cId="188356800" sldId="2147483699"/>
              <ac:picMk id="6" creationId="{32B3F98D-08DF-FDA1-A3AB-6841687A460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5932F-CE17-9A44-9516-14514EDB84B9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2F3C2-3209-F246-B209-47FA026A2A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7103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3"/>
            <a:ext cx="8361229" cy="3155021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para editar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2858" y="5336653"/>
            <a:ext cx="7205280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59829" cy="5452472"/>
            <a:chOff x="752858" y="744469"/>
            <a:chExt cx="10659829" cy="5452472"/>
          </a:xfrm>
        </p:grpSpPr>
        <p:sp>
          <p:nvSpPr>
            <p:cNvPr id="11" name="Freeform 6"/>
            <p:cNvSpPr/>
            <p:nvPr/>
          </p:nvSpPr>
          <p:spPr bwMode="auto">
            <a:xfrm>
              <a:off x="8137674" y="1788453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Retângulo 9"/>
          <p:cNvSpPr/>
          <p:nvPr userDrawn="1"/>
        </p:nvSpPr>
        <p:spPr>
          <a:xfrm>
            <a:off x="2871788" y="0"/>
            <a:ext cx="2500312" cy="657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5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4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3335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45" y="928690"/>
            <a:ext cx="11115679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46" y="252888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049" y="252888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60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684" y="914403"/>
            <a:ext cx="11029954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684" y="2569467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8684" y="3533810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82098" y="2569467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82098" y="3533810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4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957" y="885826"/>
            <a:ext cx="11187117" cy="1485900"/>
          </a:xfrm>
        </p:spPr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68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15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896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801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7266"/>
            <a:ext cx="9601200" cy="1485900"/>
          </a:xfrm>
        </p:spPr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566991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36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53684" y="1009922"/>
            <a:ext cx="1565766" cy="5243244"/>
          </a:xfrm>
        </p:spPr>
        <p:txBody>
          <a:bodyPr vert="eaVert"/>
          <a:lstStyle/>
          <a:p>
            <a:r>
              <a:rPr lang="pt-BR" dirty="0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8723" y="1009922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447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42641" y="2278908"/>
            <a:ext cx="5372268" cy="405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9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64335" y="4372192"/>
            <a:ext cx="5016444" cy="28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14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216074">
              <a:spcBef>
                <a:spcPts val="254"/>
              </a:spcBef>
            </a:pPr>
            <a:fld id="{81D60167-4931-47E6-BA6A-407CBD079E47}" type="slidenum">
              <a:rPr lang="pt-BR" spc="-106" smtClean="0"/>
              <a:pPr marL="216074">
                <a:spcBef>
                  <a:spcPts val="254"/>
                </a:spcBef>
              </a:pPr>
              <a:t>‹nº›</a:t>
            </a:fld>
            <a:endParaRPr lang="pt-BR" spc="-106" dirty="0"/>
          </a:p>
        </p:txBody>
      </p:sp>
    </p:spTree>
    <p:extLst>
      <p:ext uri="{BB962C8B-B14F-4D97-AF65-F5344CB8AC3E}">
        <p14:creationId xmlns:p14="http://schemas.microsoft.com/office/powerpoint/2010/main" val="2172908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14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216074">
              <a:spcBef>
                <a:spcPts val="254"/>
              </a:spcBef>
            </a:pPr>
            <a:fld id="{81D60167-4931-47E6-BA6A-407CBD079E47}" type="slidenum">
              <a:rPr lang="pt-BR" spc="-106" smtClean="0"/>
              <a:pPr marL="216074">
                <a:spcBef>
                  <a:spcPts val="254"/>
                </a:spcBef>
              </a:pPr>
              <a:t>‹nº›</a:t>
            </a:fld>
            <a:endParaRPr lang="pt-BR" spc="-106" dirty="0"/>
          </a:p>
        </p:txBody>
      </p:sp>
    </p:spTree>
    <p:extLst>
      <p:ext uri="{BB962C8B-B14F-4D97-AF65-F5344CB8AC3E}">
        <p14:creationId xmlns:p14="http://schemas.microsoft.com/office/powerpoint/2010/main" val="401187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5748" y="901593"/>
            <a:ext cx="11172829" cy="8129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5788" y="1828798"/>
            <a:ext cx="10972789" cy="424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114288" y="-57156"/>
            <a:ext cx="128600" cy="700087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CaixaDeTexto 9"/>
          <p:cNvSpPr txBox="1"/>
          <p:nvPr userDrawn="1"/>
        </p:nvSpPr>
        <p:spPr>
          <a:xfrm>
            <a:off x="3682872" y="118578"/>
            <a:ext cx="6320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0" u="sng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Programação de Soluções computacionais </a:t>
            </a:r>
            <a:endParaRPr lang="pt-BR" sz="2000" b="1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-128588" y="694422"/>
            <a:ext cx="12444413" cy="943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48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4048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5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6.xml"/><Relationship Id="rId5" Type="http://schemas.openxmlformats.org/officeDocument/2006/relationships/slide" Target="slide32.xml"/><Relationship Id="rId4" Type="http://schemas.openxmlformats.org/officeDocument/2006/relationships/slide" Target="slide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99887" y="1677300"/>
            <a:ext cx="8361229" cy="2659340"/>
          </a:xfrm>
        </p:spPr>
        <p:txBody>
          <a:bodyPr/>
          <a:lstStyle/>
          <a:p>
            <a:r>
              <a:rPr lang="pt-BR" sz="5400"/>
              <a:t>Algoritmos e Programação I</a:t>
            </a:r>
            <a:endParaRPr lang="pt-BR" sz="5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62607" y="5376131"/>
            <a:ext cx="7205280" cy="1086237"/>
          </a:xfrm>
        </p:spPr>
        <p:txBody>
          <a:bodyPr/>
          <a:lstStyle/>
          <a:p>
            <a:r>
              <a:rPr lang="pt-BR" dirty="0"/>
              <a:t>Dr. Guilherme Duarte de Barros</a:t>
            </a:r>
          </a:p>
          <a:p>
            <a:r>
              <a:rPr lang="pt-BR" dirty="0"/>
              <a:t>guilherme.d.barros@sp.senac.br</a:t>
            </a:r>
          </a:p>
        </p:txBody>
      </p:sp>
      <p:pic>
        <p:nvPicPr>
          <p:cNvPr id="4" name="Picture 8" descr="Resultado de imagem para ícone e-mnail">
            <a:extLst>
              <a:ext uri="{FF2B5EF4-FFF2-40B4-BE49-F238E27FC236}">
                <a16:creationId xmlns:a16="http://schemas.microsoft.com/office/drawing/2014/main" id="{16FDF1DA-9C40-4F07-B135-0F74F9AC6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163" y="5367163"/>
            <a:ext cx="503777" cy="50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363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585" y="2193364"/>
            <a:ext cx="11172829" cy="2233493"/>
          </a:xfrm>
        </p:spPr>
        <p:txBody>
          <a:bodyPr>
            <a:noAutofit/>
          </a:bodyPr>
          <a:lstStyle/>
          <a:p>
            <a:pPr algn="ctr"/>
            <a:r>
              <a:rPr lang="pt-BR" sz="6600" dirty="0"/>
              <a:t>Tipos de dados, operadores e comandos de saída-entrada</a:t>
            </a:r>
          </a:p>
        </p:txBody>
      </p:sp>
    </p:spTree>
    <p:extLst>
      <p:ext uri="{BB962C8B-B14F-4D97-AF65-F5344CB8AC3E}">
        <p14:creationId xmlns:p14="http://schemas.microsoft.com/office/powerpoint/2010/main" val="338369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388" y="878870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pc="-21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139" y="1990756"/>
            <a:ext cx="8005474" cy="4413686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latin typeface="Palatino Linotype"/>
                <a:cs typeface="Palatino Linotype"/>
                <a:hlinkClick r:id="rId2" action="ppaction://hlinksldjump"/>
              </a:rPr>
              <a:t>Tipos</a:t>
            </a:r>
            <a:r>
              <a:rPr sz="2959" b="1" spc="-53" dirty="0"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2959" b="1" dirty="0">
                <a:latin typeface="Palatino Linotype"/>
                <a:cs typeface="Palatino Linotype"/>
                <a:hlinkClick r:id="rId2" action="ppaction://hlinksldjump"/>
              </a:rPr>
              <a:t>de</a:t>
            </a:r>
            <a:r>
              <a:rPr sz="2959" b="1" spc="-53" dirty="0"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2959" b="1" spc="-21" dirty="0">
                <a:latin typeface="Palatino Linotype"/>
                <a:cs typeface="Palatino Linotype"/>
                <a:hlinkClick r:id="rId2" action="ppaction://hlinksldjump"/>
              </a:rPr>
              <a:t>dados</a:t>
            </a:r>
            <a:endParaRPr sz="2959" dirty="0">
              <a:latin typeface="Palatino Linotype"/>
              <a:cs typeface="Palatino Linotype"/>
            </a:endParaRPr>
          </a:p>
          <a:p>
            <a:pPr marL="26841" marR="5950749" indent="13421">
              <a:lnSpc>
                <a:spcPct val="172100"/>
              </a:lnSpc>
            </a:pPr>
            <a:r>
              <a:rPr sz="2959" b="1" spc="-21" dirty="0">
                <a:latin typeface="Palatino Linotype"/>
                <a:cs typeface="Palatino Linotype"/>
                <a:hlinkClick r:id="rId3" action="ppaction://hlinksldjump"/>
              </a:rPr>
              <a:t>Operadores</a:t>
            </a:r>
            <a:r>
              <a:rPr sz="2959" b="1" spc="-21" dirty="0">
                <a:latin typeface="Palatino Linotype"/>
                <a:cs typeface="Palatino Linotype"/>
              </a:rPr>
              <a:t> </a:t>
            </a:r>
            <a:r>
              <a:rPr sz="2959" b="1" spc="-21" dirty="0">
                <a:latin typeface="Palatino Linotype"/>
                <a:cs typeface="Palatino Linotype"/>
                <a:hlinkClick r:id="rId4" action="ppaction://hlinksldjump"/>
              </a:rPr>
              <a:t>Variáveis</a:t>
            </a:r>
            <a:endParaRPr sz="2959" dirty="0">
              <a:latin typeface="Palatino Linotype"/>
              <a:cs typeface="Palatino Linotype"/>
            </a:endParaRPr>
          </a:p>
          <a:p>
            <a:pPr marL="40262" marR="10737">
              <a:lnSpc>
                <a:spcPct val="172100"/>
              </a:lnSpc>
            </a:pPr>
            <a:r>
              <a:rPr sz="2959" b="1" dirty="0">
                <a:latin typeface="Palatino Linotype"/>
                <a:cs typeface="Palatino Linotype"/>
                <a:hlinkClick r:id="rId5" action="ppaction://hlinksldjump"/>
              </a:rPr>
              <a:t>Estrutura</a:t>
            </a:r>
            <a:r>
              <a:rPr sz="2959" b="1" spc="18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2959" b="1" dirty="0">
                <a:latin typeface="Palatino Linotype"/>
                <a:cs typeface="Palatino Linotype"/>
                <a:hlinkClick r:id="rId5" action="ppaction://hlinksldjump"/>
              </a:rPr>
              <a:t>de</a:t>
            </a:r>
            <a:r>
              <a:rPr sz="2959" b="1" spc="18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2959" b="1" dirty="0">
                <a:latin typeface="Palatino Linotype"/>
                <a:cs typeface="Palatino Linotype"/>
                <a:hlinkClick r:id="rId5" action="ppaction://hlinksldjump"/>
              </a:rPr>
              <a:t>um</a:t>
            </a:r>
            <a:r>
              <a:rPr sz="2959" b="1" spc="18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2959" b="1" dirty="0">
                <a:latin typeface="Palatino Linotype"/>
                <a:cs typeface="Palatino Linotype"/>
                <a:hlinkClick r:id="rId5" action="ppaction://hlinksldjump"/>
              </a:rPr>
              <a:t>programa/</a:t>
            </a:r>
            <a:r>
              <a:rPr sz="2959" b="1" spc="18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2959" b="1" dirty="0">
                <a:latin typeface="Palatino Linotype"/>
                <a:cs typeface="Palatino Linotype"/>
                <a:hlinkClick r:id="rId5" action="ppaction://hlinksldjump"/>
              </a:rPr>
              <a:t>comando</a:t>
            </a:r>
            <a:r>
              <a:rPr sz="2959" b="1" spc="18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2959" b="1" dirty="0">
                <a:latin typeface="Palatino Linotype"/>
                <a:cs typeface="Palatino Linotype"/>
                <a:hlinkClick r:id="rId5" action="ppaction://hlinksldjump"/>
              </a:rPr>
              <a:t>de</a:t>
            </a:r>
            <a:r>
              <a:rPr sz="2959" b="1" spc="180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2959" b="1" spc="-21" dirty="0">
                <a:latin typeface="Palatino Linotype"/>
                <a:cs typeface="Palatino Linotype"/>
                <a:hlinkClick r:id="rId5" action="ppaction://hlinksldjump"/>
              </a:rPr>
              <a:t>saída</a:t>
            </a:r>
            <a:r>
              <a:rPr sz="2959" b="1" spc="-21" dirty="0">
                <a:latin typeface="Palatino Linotype"/>
                <a:cs typeface="Palatino Linotype"/>
              </a:rPr>
              <a:t> </a:t>
            </a:r>
            <a:r>
              <a:rPr sz="2959" b="1" dirty="0">
                <a:latin typeface="Palatino Linotype"/>
                <a:cs typeface="Palatino Linotype"/>
                <a:hlinkClick r:id="rId6" action="ppaction://hlinksldjump"/>
              </a:rPr>
              <a:t>Comando</a:t>
            </a:r>
            <a:r>
              <a:rPr sz="2959" b="1" spc="21" dirty="0">
                <a:latin typeface="Palatino Linotype"/>
                <a:cs typeface="Palatino Linotype"/>
                <a:hlinkClick r:id="rId6" action="ppaction://hlinksldjump"/>
              </a:rPr>
              <a:t> </a:t>
            </a:r>
            <a:r>
              <a:rPr sz="2959" b="1" dirty="0">
                <a:latin typeface="Palatino Linotype"/>
                <a:cs typeface="Palatino Linotype"/>
                <a:hlinkClick r:id="rId6" action="ppaction://hlinksldjump"/>
              </a:rPr>
              <a:t>de</a:t>
            </a:r>
            <a:r>
              <a:rPr sz="2959" b="1" spc="32" dirty="0">
                <a:latin typeface="Palatino Linotype"/>
                <a:cs typeface="Palatino Linotype"/>
                <a:hlinkClick r:id="rId6" action="ppaction://hlinksldjump"/>
              </a:rPr>
              <a:t> </a:t>
            </a:r>
            <a:r>
              <a:rPr sz="2959" b="1" spc="-21" dirty="0">
                <a:latin typeface="Palatino Linotype"/>
                <a:cs typeface="Palatino Linotype"/>
                <a:hlinkClick r:id="rId6" action="ppaction://hlinksldjump"/>
              </a:rPr>
              <a:t>Entrada</a:t>
            </a:r>
            <a:endParaRPr sz="2959" dirty="0">
              <a:latin typeface="Palatino Linotype"/>
              <a:cs typeface="Palatino Linotype"/>
            </a:endParaRPr>
          </a:p>
          <a:p>
            <a:pPr marL="40262">
              <a:spcBef>
                <a:spcPts val="2557"/>
              </a:spcBef>
            </a:pPr>
            <a:r>
              <a:rPr sz="2959" b="1" spc="-21" dirty="0">
                <a:latin typeface="Palatino Linotype"/>
                <a:cs typeface="Palatino Linotype"/>
                <a:hlinkClick r:id="rId7" action="ppaction://hlinksldjump"/>
              </a:rPr>
              <a:t>Exercícios</a:t>
            </a:r>
            <a:endParaRPr sz="2959" dirty="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16177" y="6404442"/>
            <a:ext cx="191917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106" dirty="0">
                <a:solidFill>
                  <a:srgbClr val="009380"/>
                </a:solidFill>
                <a:latin typeface="Calibri"/>
                <a:cs typeface="Calibri"/>
              </a:rPr>
              <a:t>2</a:t>
            </a:r>
            <a:endParaRPr sz="2114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298239" y="2784806"/>
            <a:ext cx="7017252" cy="925444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41604" marR="10737" indent="-16105">
              <a:lnSpc>
                <a:spcPct val="100800"/>
              </a:lnSpc>
              <a:spcBef>
                <a:spcPts val="232"/>
              </a:spcBef>
            </a:pPr>
            <a:r>
              <a:rPr sz="2959" spc="169" dirty="0">
                <a:solidFill>
                  <a:srgbClr val="002060"/>
                </a:solidFill>
                <a:latin typeface="PMingLiU"/>
                <a:cs typeface="PMingLiU"/>
              </a:rPr>
              <a:t>Tipos</a:t>
            </a:r>
            <a:r>
              <a:rPr sz="2959" spc="127" dirty="0">
                <a:solidFill>
                  <a:srgbClr val="002060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002060"/>
                </a:solidFill>
                <a:latin typeface="PMingLiU"/>
                <a:cs typeface="PMingLiU"/>
              </a:rPr>
              <a:t>de</a:t>
            </a:r>
            <a:r>
              <a:rPr sz="2959" spc="127" dirty="0">
                <a:solidFill>
                  <a:srgbClr val="002060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002060"/>
                </a:solidFill>
                <a:latin typeface="PMingLiU"/>
                <a:cs typeface="PMingLiU"/>
              </a:rPr>
              <a:t>dados,</a:t>
            </a:r>
            <a:r>
              <a:rPr sz="2959" spc="190" dirty="0">
                <a:solidFill>
                  <a:srgbClr val="002060"/>
                </a:solidFill>
                <a:latin typeface="PMingLiU"/>
                <a:cs typeface="PMingLiU"/>
              </a:rPr>
              <a:t> </a:t>
            </a:r>
            <a:r>
              <a:rPr sz="2959" spc="21" dirty="0" err="1">
                <a:solidFill>
                  <a:srgbClr val="002060"/>
                </a:solidFill>
                <a:latin typeface="PMingLiU"/>
                <a:cs typeface="PMingLiU"/>
              </a:rPr>
              <a:t>operadores</a:t>
            </a:r>
            <a:r>
              <a:rPr sz="2959" spc="127" dirty="0">
                <a:solidFill>
                  <a:srgbClr val="002060"/>
                </a:solidFill>
                <a:latin typeface="PMingLiU"/>
                <a:cs typeface="PMingLiU"/>
              </a:rPr>
              <a:t> e</a:t>
            </a:r>
            <a:r>
              <a:rPr lang="pt-BR" sz="2959" spc="137" dirty="0">
                <a:solidFill>
                  <a:srgbClr val="002060"/>
                </a:solidFill>
                <a:latin typeface="PMingLiU"/>
                <a:cs typeface="PMingLiU"/>
              </a:rPr>
              <a:t> comandos </a:t>
            </a:r>
            <a:r>
              <a:rPr sz="2959" dirty="0">
                <a:solidFill>
                  <a:srgbClr val="002060"/>
                </a:solidFill>
                <a:latin typeface="PMingLiU"/>
                <a:cs typeface="PMingLiU"/>
              </a:rPr>
              <a:t>de</a:t>
            </a:r>
            <a:r>
              <a:rPr sz="2959" spc="169" dirty="0">
                <a:solidFill>
                  <a:srgbClr val="002060"/>
                </a:solidFill>
                <a:latin typeface="PMingLiU"/>
                <a:cs typeface="PMingLiU"/>
              </a:rPr>
              <a:t> </a:t>
            </a:r>
            <a:r>
              <a:rPr sz="2959" spc="-21" dirty="0" err="1">
                <a:solidFill>
                  <a:srgbClr val="002060"/>
                </a:solidFill>
                <a:latin typeface="PMingLiU"/>
                <a:cs typeface="PMingLiU"/>
              </a:rPr>
              <a:t>sa</a:t>
            </a:r>
            <a:r>
              <a:rPr lang="pt-BR" sz="2959" spc="-21" dirty="0">
                <a:solidFill>
                  <a:srgbClr val="002060"/>
                </a:solidFill>
                <a:latin typeface="PMingLiU"/>
                <a:cs typeface="PMingLiU"/>
              </a:rPr>
              <a:t>í</a:t>
            </a:r>
            <a:r>
              <a:rPr sz="2959" spc="-21" dirty="0">
                <a:solidFill>
                  <a:srgbClr val="002060"/>
                </a:solidFill>
                <a:latin typeface="PMingLiU"/>
                <a:cs typeface="PMingLiU"/>
              </a:rPr>
              <a:t>da</a:t>
            </a:r>
            <a:r>
              <a:rPr lang="pt-BR" sz="2959" spc="-21" dirty="0">
                <a:solidFill>
                  <a:srgbClr val="002060"/>
                </a:solidFill>
                <a:latin typeface="PMingLiU"/>
                <a:cs typeface="PMingLiU"/>
              </a:rPr>
              <a:t> - entrada</a:t>
            </a:r>
            <a:endParaRPr sz="2959" dirty="0">
              <a:solidFill>
                <a:srgbClr val="002060"/>
              </a:solidFill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28587" y="852218"/>
            <a:ext cx="4516454" cy="697953"/>
          </a:xfrm>
          <a:prstGeom prst="rect">
            <a:avLst/>
          </a:prstGeom>
        </p:spPr>
        <p:txBody>
          <a:bodyPr vert="horz" wrap="square" lIns="0" tIns="30866" rIns="0" bIns="0" rtlCol="0">
            <a:spAutoFit/>
          </a:bodyPr>
          <a:lstStyle/>
          <a:p>
            <a:pPr marL="26841">
              <a:spcBef>
                <a:spcPts val="241"/>
              </a:spcBef>
            </a:pPr>
            <a:r>
              <a:rPr sz="4333" spc="-190" dirty="0">
                <a:solidFill>
                  <a:srgbClr val="002060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Tipos</a:t>
            </a:r>
            <a:r>
              <a:rPr sz="4333" spc="-85" dirty="0">
                <a:solidFill>
                  <a:srgbClr val="002060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4333" spc="-275" dirty="0">
                <a:solidFill>
                  <a:srgbClr val="002060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</a:t>
            </a:r>
            <a:r>
              <a:rPr sz="4333" spc="-85" dirty="0">
                <a:solidFill>
                  <a:srgbClr val="002060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4333" spc="-211" dirty="0">
                <a:solidFill>
                  <a:srgbClr val="002060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dados</a:t>
            </a:r>
            <a:endParaRPr sz="4333" dirty="0">
              <a:solidFill>
                <a:srgbClr val="00206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469" y="908930"/>
            <a:ext cx="6153411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Tipos</a:t>
            </a:r>
            <a:r>
              <a:rPr spc="-53" dirty="0"/>
              <a:t> </a:t>
            </a:r>
            <a:r>
              <a:rPr dirty="0"/>
              <a:t>de</a:t>
            </a:r>
            <a:r>
              <a:rPr spc="-53" dirty="0"/>
              <a:t> </a:t>
            </a:r>
            <a:r>
              <a:rPr spc="-21" dirty="0"/>
              <a:t>dados</a:t>
            </a:r>
            <a:r>
              <a:rPr lang="pt-BR" spc="-21" dirty="0"/>
              <a:t> 	</a:t>
            </a:r>
            <a:endParaRPr spc="-21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74">
              <a:spcBef>
                <a:spcPts val="254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5</a:t>
            </a:fld>
            <a:endParaRPr spc="-106" dirty="0"/>
          </a:p>
        </p:txBody>
      </p:sp>
      <p:sp>
        <p:nvSpPr>
          <p:cNvPr id="3" name="object 3"/>
          <p:cNvSpPr txBox="1"/>
          <p:nvPr/>
        </p:nvSpPr>
        <p:spPr>
          <a:xfrm>
            <a:off x="280469" y="1465189"/>
            <a:ext cx="7005628" cy="3930472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37" dirty="0">
                <a:latin typeface="Calibri"/>
                <a:cs typeface="Calibri"/>
              </a:rPr>
              <a:t>Todos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os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dados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possuem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95" dirty="0">
                <a:latin typeface="Calibri"/>
                <a:cs typeface="Calibri"/>
              </a:rPr>
              <a:t>tipo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que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identifica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tipo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informação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armazenada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63" dirty="0">
                <a:latin typeface="Arial"/>
                <a:cs typeface="Arial"/>
              </a:rPr>
              <a:t>quanto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(em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bytes)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pode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ser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armazenado</a:t>
            </a:r>
            <a:endParaRPr sz="2536" dirty="0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80" dirty="0">
                <a:latin typeface="Calibri"/>
                <a:cs typeface="Calibri"/>
              </a:rPr>
              <a:t>Classificados</a:t>
            </a:r>
            <a:r>
              <a:rPr sz="2959" b="1" spc="85" dirty="0">
                <a:latin typeface="Calibri"/>
                <a:cs typeface="Calibri"/>
              </a:rPr>
              <a:t> </a:t>
            </a:r>
            <a:r>
              <a:rPr sz="2959" b="1" spc="-53" dirty="0">
                <a:latin typeface="Calibri"/>
                <a:cs typeface="Calibri"/>
              </a:rPr>
              <a:t>em: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1" dirty="0">
                <a:latin typeface="Arial"/>
                <a:cs typeface="Arial"/>
              </a:rPr>
              <a:t>Literal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(caracter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ou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sequência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caracteres);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85" dirty="0">
                <a:latin typeface="Arial"/>
                <a:cs typeface="Arial"/>
              </a:rPr>
              <a:t>Numérico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(inteiro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/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real);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16" dirty="0">
                <a:latin typeface="Arial"/>
                <a:cs typeface="Arial"/>
              </a:rPr>
              <a:t>Lógico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(verdadeiro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ou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falso).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09" y="791982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Tipos</a:t>
            </a:r>
            <a:r>
              <a:rPr spc="-53" dirty="0"/>
              <a:t> </a:t>
            </a:r>
            <a:r>
              <a:rPr dirty="0"/>
              <a:t>de</a:t>
            </a:r>
            <a:r>
              <a:rPr spc="-53" dirty="0"/>
              <a:t> </a:t>
            </a:r>
            <a:r>
              <a:rPr spc="-21" dirty="0"/>
              <a:t>dados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74">
              <a:spcBef>
                <a:spcPts val="254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6</a:t>
            </a:fld>
            <a:endParaRPr spc="-106" dirty="0"/>
          </a:p>
        </p:txBody>
      </p:sp>
      <p:sp>
        <p:nvSpPr>
          <p:cNvPr id="3" name="object 3"/>
          <p:cNvSpPr/>
          <p:nvPr/>
        </p:nvSpPr>
        <p:spPr>
          <a:xfrm>
            <a:off x="307311" y="1592122"/>
            <a:ext cx="11419711" cy="22815"/>
          </a:xfrm>
          <a:custGeom>
            <a:avLst/>
            <a:gdLst/>
            <a:ahLst/>
            <a:cxnLst/>
            <a:rect l="l" t="t" r="r" b="b"/>
            <a:pathLst>
              <a:path w="5403215" h="10795">
                <a:moveTo>
                  <a:pt x="5403054" y="0"/>
                </a:moveTo>
                <a:lnTo>
                  <a:pt x="0" y="0"/>
                </a:lnTo>
                <a:lnTo>
                  <a:pt x="0" y="10532"/>
                </a:lnTo>
                <a:lnTo>
                  <a:pt x="5403054" y="10532"/>
                </a:lnTo>
                <a:lnTo>
                  <a:pt x="5403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4" name="object 4"/>
          <p:cNvSpPr txBox="1"/>
          <p:nvPr/>
        </p:nvSpPr>
        <p:spPr>
          <a:xfrm>
            <a:off x="402114" y="1619098"/>
            <a:ext cx="1434677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b="1" spc="116" dirty="0">
                <a:latin typeface="Calibri"/>
                <a:cs typeface="Calibri"/>
              </a:rPr>
              <a:t>Primitivos</a:t>
            </a:r>
            <a:endParaRPr sz="2219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7311" y="2098799"/>
            <a:ext cx="11419711" cy="0"/>
          </a:xfrm>
          <a:custGeom>
            <a:avLst/>
            <a:gdLst/>
            <a:ahLst/>
            <a:cxnLst/>
            <a:rect l="l" t="t" r="r" b="b"/>
            <a:pathLst>
              <a:path w="5403215">
                <a:moveTo>
                  <a:pt x="0" y="0"/>
                </a:moveTo>
                <a:lnTo>
                  <a:pt x="5403054" y="0"/>
                </a:lnTo>
              </a:path>
            </a:pathLst>
          </a:custGeom>
          <a:ln w="65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6" name="object 6"/>
          <p:cNvSpPr txBox="1"/>
          <p:nvPr/>
        </p:nvSpPr>
        <p:spPr>
          <a:xfrm>
            <a:off x="394238" y="2110474"/>
            <a:ext cx="1848034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spc="-63" dirty="0">
                <a:latin typeface="Arial"/>
                <a:cs typeface="Arial"/>
              </a:rPr>
              <a:t>Tipos </a:t>
            </a:r>
            <a:r>
              <a:rPr sz="2219" spc="-137" dirty="0">
                <a:latin typeface="Arial"/>
                <a:cs typeface="Arial"/>
              </a:rPr>
              <a:t>de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spc="-74" dirty="0">
                <a:latin typeface="Arial"/>
                <a:cs typeface="Arial"/>
              </a:rPr>
              <a:t>dados</a:t>
            </a:r>
            <a:endParaRPr sz="221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9503" y="2110474"/>
            <a:ext cx="1206525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spc="-21" dirty="0">
                <a:latin typeface="Arial"/>
                <a:cs typeface="Arial"/>
              </a:rPr>
              <a:t>Definição</a:t>
            </a:r>
            <a:endParaRPr sz="2219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9929" y="2183311"/>
            <a:ext cx="11434474" cy="414701"/>
            <a:chOff x="140500" y="1033029"/>
            <a:chExt cx="5410200" cy="196215"/>
          </a:xfrm>
        </p:grpSpPr>
        <p:sp>
          <p:nvSpPr>
            <p:cNvPr id="9" name="object 9"/>
            <p:cNvSpPr/>
            <p:nvPr/>
          </p:nvSpPr>
          <p:spPr>
            <a:xfrm>
              <a:off x="3103359" y="1035252"/>
              <a:ext cx="0" cy="163195"/>
            </a:xfrm>
            <a:custGeom>
              <a:avLst/>
              <a:gdLst/>
              <a:ahLst/>
              <a:cxnLst/>
              <a:rect l="l" t="t" r="r" b="b"/>
              <a:pathLst>
                <a:path h="163194">
                  <a:moveTo>
                    <a:pt x="0" y="163057"/>
                  </a:moveTo>
                  <a:lnTo>
                    <a:pt x="0" y="0"/>
                  </a:lnTo>
                </a:path>
              </a:pathLst>
            </a:custGeom>
            <a:ln w="38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/>
            <p:cNvSpPr/>
            <p:nvPr/>
          </p:nvSpPr>
          <p:spPr>
            <a:xfrm>
              <a:off x="143992" y="1225547"/>
              <a:ext cx="5403215" cy="0"/>
            </a:xfrm>
            <a:custGeom>
              <a:avLst/>
              <a:gdLst/>
              <a:ahLst/>
              <a:cxnLst/>
              <a:rect l="l" t="t" r="r" b="b"/>
              <a:pathLst>
                <a:path w="5403215">
                  <a:moveTo>
                    <a:pt x="0" y="0"/>
                  </a:moveTo>
                  <a:lnTo>
                    <a:pt x="5403054" y="0"/>
                  </a:lnTo>
                </a:path>
              </a:pathLst>
            </a:custGeom>
            <a:ln w="65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2113" y="2804298"/>
            <a:ext cx="2987458" cy="105259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841" marR="10737" algn="just">
              <a:lnSpc>
                <a:spcPct val="101899"/>
              </a:lnSpc>
              <a:spcBef>
                <a:spcPts val="232"/>
              </a:spcBef>
            </a:pPr>
            <a:r>
              <a:rPr lang="pt-BR" sz="2219" b="1" spc="106" dirty="0">
                <a:solidFill>
                  <a:srgbClr val="00AC8C"/>
                </a:solidFill>
                <a:latin typeface="Calibri"/>
                <a:cs typeface="Calibri"/>
              </a:rPr>
              <a:t>L</a:t>
            </a:r>
            <a:r>
              <a:rPr sz="2219" b="1" spc="106" dirty="0">
                <a:solidFill>
                  <a:srgbClr val="00AC8C"/>
                </a:solidFill>
                <a:latin typeface="Calibri"/>
                <a:cs typeface="Calibri"/>
              </a:rPr>
              <a:t>iteral</a:t>
            </a:r>
            <a:r>
              <a:rPr lang="pt-BR" sz="2219" b="1" spc="708" dirty="0">
                <a:solidFill>
                  <a:srgbClr val="00AC8C"/>
                </a:solidFill>
                <a:latin typeface="Calibri"/>
                <a:cs typeface="Calibri"/>
              </a:rPr>
              <a:t>:</a:t>
            </a:r>
            <a:r>
              <a:rPr sz="2219" spc="454" dirty="0">
                <a:latin typeface="Verdana"/>
                <a:cs typeface="Verdana"/>
              </a:rPr>
              <a:t> </a:t>
            </a:r>
            <a:r>
              <a:rPr sz="2219" dirty="0">
                <a:latin typeface="Arial"/>
                <a:cs typeface="Arial"/>
              </a:rPr>
              <a:t>também</a:t>
            </a:r>
            <a:r>
              <a:rPr sz="2219" spc="592" dirty="0">
                <a:latin typeface="Arial"/>
                <a:cs typeface="Arial"/>
              </a:rPr>
              <a:t> </a:t>
            </a:r>
            <a:r>
              <a:rPr sz="2219" spc="-74" dirty="0">
                <a:latin typeface="Arial"/>
                <a:cs typeface="Arial"/>
              </a:rPr>
              <a:t>co- </a:t>
            </a:r>
            <a:r>
              <a:rPr sz="2219" dirty="0">
                <a:latin typeface="Arial"/>
                <a:cs typeface="Arial"/>
              </a:rPr>
              <a:t>nhecido</a:t>
            </a:r>
            <a:r>
              <a:rPr sz="2219" spc="74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como</a:t>
            </a:r>
            <a:r>
              <a:rPr sz="2219" spc="74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texto</a:t>
            </a:r>
            <a:r>
              <a:rPr sz="2219" spc="85" dirty="0">
                <a:latin typeface="Arial"/>
                <a:cs typeface="Arial"/>
              </a:rPr>
              <a:t> </a:t>
            </a:r>
            <a:r>
              <a:rPr sz="2219" spc="-53" dirty="0">
                <a:latin typeface="Arial"/>
                <a:cs typeface="Arial"/>
              </a:rPr>
              <a:t>ou </a:t>
            </a:r>
            <a:r>
              <a:rPr sz="2219" spc="-21" dirty="0">
                <a:latin typeface="Arial"/>
                <a:cs typeface="Arial"/>
              </a:rPr>
              <a:t>caractere</a:t>
            </a:r>
            <a:endParaRPr sz="2219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9418" y="2601851"/>
            <a:ext cx="2970011" cy="704230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841" marR="10737">
              <a:lnSpc>
                <a:spcPct val="101899"/>
              </a:lnSpc>
              <a:spcBef>
                <a:spcPts val="232"/>
              </a:spcBef>
            </a:pPr>
            <a:r>
              <a:rPr sz="2219" dirty="0">
                <a:latin typeface="Arial"/>
                <a:cs typeface="Arial"/>
              </a:rPr>
              <a:t>Poderá</a:t>
            </a:r>
            <a:r>
              <a:rPr sz="2219" spc="497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receber</a:t>
            </a:r>
            <a:r>
              <a:rPr sz="2219" spc="507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letras, </a:t>
            </a:r>
            <a:r>
              <a:rPr sz="2219" spc="-74" dirty="0">
                <a:latin typeface="Arial"/>
                <a:cs typeface="Arial"/>
              </a:rPr>
              <a:t>números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spc="-211" dirty="0">
                <a:latin typeface="Arial"/>
                <a:cs typeface="Arial"/>
              </a:rPr>
              <a:t>e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símbolos</a:t>
            </a:r>
            <a:endParaRPr sz="2219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9929" y="2674668"/>
            <a:ext cx="11434474" cy="2426470"/>
            <a:chOff x="140500" y="1265514"/>
            <a:chExt cx="5410200" cy="1148080"/>
          </a:xfrm>
        </p:grpSpPr>
        <p:sp>
          <p:nvSpPr>
            <p:cNvPr id="14" name="object 14"/>
            <p:cNvSpPr/>
            <p:nvPr/>
          </p:nvSpPr>
          <p:spPr>
            <a:xfrm>
              <a:off x="3103359" y="1267736"/>
              <a:ext cx="0" cy="585470"/>
            </a:xfrm>
            <a:custGeom>
              <a:avLst/>
              <a:gdLst/>
              <a:ahLst/>
              <a:cxnLst/>
              <a:rect l="l" t="t" r="r" b="b"/>
              <a:pathLst>
                <a:path h="585469">
                  <a:moveTo>
                    <a:pt x="0" y="584979"/>
                  </a:moveTo>
                  <a:lnTo>
                    <a:pt x="0" y="0"/>
                  </a:lnTo>
                </a:path>
              </a:pathLst>
            </a:custGeom>
            <a:ln w="38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/>
            <p:cNvSpPr/>
            <p:nvPr/>
          </p:nvSpPr>
          <p:spPr>
            <a:xfrm>
              <a:off x="143992" y="1879953"/>
              <a:ext cx="5403215" cy="0"/>
            </a:xfrm>
            <a:custGeom>
              <a:avLst/>
              <a:gdLst/>
              <a:ahLst/>
              <a:cxnLst/>
              <a:rect l="l" t="t" r="r" b="b"/>
              <a:pathLst>
                <a:path w="5403215">
                  <a:moveTo>
                    <a:pt x="0" y="0"/>
                  </a:moveTo>
                  <a:lnTo>
                    <a:pt x="5403054" y="0"/>
                  </a:lnTo>
                </a:path>
              </a:pathLst>
            </a:custGeom>
            <a:ln w="65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/>
            <p:cNvSpPr/>
            <p:nvPr/>
          </p:nvSpPr>
          <p:spPr>
            <a:xfrm>
              <a:off x="3103359" y="1922152"/>
              <a:ext cx="0" cy="489584"/>
            </a:xfrm>
            <a:custGeom>
              <a:avLst/>
              <a:gdLst/>
              <a:ahLst/>
              <a:cxnLst/>
              <a:rect l="l" t="t" r="r" b="b"/>
              <a:pathLst>
                <a:path h="489585">
                  <a:moveTo>
                    <a:pt x="0" y="489182"/>
                  </a:moveTo>
                  <a:lnTo>
                    <a:pt x="0" y="0"/>
                  </a:lnTo>
                </a:path>
              </a:pathLst>
            </a:custGeom>
            <a:ln w="38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56743" y="1478031"/>
            <a:ext cx="4407370" cy="1459145"/>
          </a:xfrm>
          <a:prstGeom prst="rect">
            <a:avLst/>
          </a:prstGeom>
        </p:spPr>
        <p:txBody>
          <a:bodyPr vert="horz" wrap="square" lIns="0" tIns="24157" rIns="0" bIns="0" rtlCol="0">
            <a:spAutoFit/>
          </a:bodyPr>
          <a:lstStyle/>
          <a:p>
            <a:pPr marL="26841" marR="10737">
              <a:lnSpc>
                <a:spcPct val="145300"/>
              </a:lnSpc>
              <a:spcBef>
                <a:spcPts val="190"/>
              </a:spcBef>
              <a:tabLst>
                <a:tab pos="2057397" algn="l"/>
              </a:tabLst>
            </a:pPr>
            <a:r>
              <a:rPr sz="2219" b="1" spc="127" dirty="0">
                <a:latin typeface="Calibri"/>
                <a:cs typeface="Calibri"/>
              </a:rPr>
              <a:t>Específicos </a:t>
            </a:r>
            <a:r>
              <a:rPr sz="2219" b="1" spc="116" dirty="0">
                <a:latin typeface="Calibri"/>
                <a:cs typeface="Calibri"/>
              </a:rPr>
              <a:t>para</a:t>
            </a:r>
            <a:r>
              <a:rPr sz="2219" b="1" spc="127" dirty="0">
                <a:latin typeface="Calibri"/>
                <a:cs typeface="Calibri"/>
              </a:rPr>
              <a:t> </a:t>
            </a:r>
            <a:r>
              <a:rPr sz="2219" b="1" spc="190" dirty="0">
                <a:latin typeface="Calibri"/>
                <a:cs typeface="Calibri"/>
              </a:rPr>
              <a:t>Linguagem</a:t>
            </a:r>
            <a:r>
              <a:rPr sz="2219" b="1" spc="127" dirty="0">
                <a:latin typeface="Calibri"/>
                <a:cs typeface="Calibri"/>
              </a:rPr>
              <a:t> </a:t>
            </a:r>
            <a:r>
              <a:rPr sz="2219" b="1" spc="85" dirty="0">
                <a:latin typeface="Calibri"/>
                <a:cs typeface="Calibri"/>
              </a:rPr>
              <a:t>Java </a:t>
            </a:r>
            <a:r>
              <a:rPr sz="2219" spc="-63" dirty="0">
                <a:latin typeface="Arial"/>
                <a:cs typeface="Arial"/>
              </a:rPr>
              <a:t>Tipos</a:t>
            </a:r>
            <a:r>
              <a:rPr sz="2219" spc="-95" dirty="0">
                <a:latin typeface="Arial"/>
                <a:cs typeface="Arial"/>
              </a:rPr>
              <a:t> </a:t>
            </a:r>
            <a:r>
              <a:rPr sz="2219" spc="-137" dirty="0">
                <a:latin typeface="Arial"/>
                <a:cs typeface="Arial"/>
              </a:rPr>
              <a:t>de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dados</a:t>
            </a:r>
            <a:r>
              <a:rPr sz="2219" spc="824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Capacidade </a:t>
            </a:r>
            <a:r>
              <a:rPr sz="2219" b="1" spc="106" dirty="0">
                <a:solidFill>
                  <a:srgbClr val="00AC8C"/>
                </a:solidFill>
                <a:latin typeface="Calibri"/>
                <a:cs typeface="Calibri"/>
              </a:rPr>
              <a:t>char/String</a:t>
            </a:r>
            <a:r>
              <a:rPr sz="2219" b="1" dirty="0">
                <a:solidFill>
                  <a:srgbClr val="00AC8C"/>
                </a:solidFill>
                <a:latin typeface="Calibri"/>
                <a:cs typeface="Calibri"/>
              </a:rPr>
              <a:t>	</a:t>
            </a:r>
            <a:r>
              <a:rPr sz="2219" spc="-190" dirty="0">
                <a:latin typeface="Arial"/>
                <a:cs typeface="Arial"/>
              </a:rPr>
              <a:t>16</a:t>
            </a:r>
            <a:r>
              <a:rPr sz="2219" spc="-3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bits</a:t>
            </a:r>
            <a:r>
              <a:rPr sz="2219" spc="-32" dirty="0">
                <a:latin typeface="Arial"/>
                <a:cs typeface="Arial"/>
              </a:rPr>
              <a:t> </a:t>
            </a:r>
            <a:r>
              <a:rPr sz="2219" spc="-137" dirty="0">
                <a:latin typeface="Arial"/>
                <a:cs typeface="Arial"/>
              </a:rPr>
              <a:t>(2</a:t>
            </a:r>
            <a:r>
              <a:rPr sz="2219" spc="-32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bytes)</a:t>
            </a:r>
            <a:endParaRPr sz="2219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2114" y="4178190"/>
            <a:ext cx="948847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b="1" spc="95" dirty="0">
                <a:solidFill>
                  <a:srgbClr val="00AC8C"/>
                </a:solidFill>
                <a:latin typeface="Calibri"/>
                <a:cs typeface="Calibri"/>
              </a:rPr>
              <a:t>inteiro</a:t>
            </a:r>
            <a:endParaRPr sz="2219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29417" y="3984940"/>
            <a:ext cx="3551129" cy="105259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841" marR="10737">
              <a:lnSpc>
                <a:spcPct val="101899"/>
              </a:lnSpc>
              <a:spcBef>
                <a:spcPts val="232"/>
              </a:spcBef>
            </a:pPr>
            <a:r>
              <a:rPr sz="2219" spc="-85" dirty="0">
                <a:latin typeface="Arial"/>
                <a:cs typeface="Arial"/>
              </a:rPr>
              <a:t>poderá</a:t>
            </a:r>
            <a:r>
              <a:rPr sz="2219" spc="-74" dirty="0">
                <a:latin typeface="Arial"/>
                <a:cs typeface="Arial"/>
              </a:rPr>
              <a:t> </a:t>
            </a:r>
            <a:r>
              <a:rPr sz="2219" spc="-106" dirty="0">
                <a:latin typeface="Arial"/>
                <a:cs typeface="Arial"/>
              </a:rPr>
              <a:t>receber</a:t>
            </a:r>
            <a:r>
              <a:rPr sz="2219" spc="-53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números</a:t>
            </a:r>
            <a:r>
              <a:rPr sz="2219" spc="814" dirty="0">
                <a:latin typeface="Arial"/>
                <a:cs typeface="Arial"/>
              </a:rPr>
              <a:t> </a:t>
            </a:r>
            <a:r>
              <a:rPr sz="2219" b="1" spc="63" dirty="0">
                <a:solidFill>
                  <a:srgbClr val="00AC8C"/>
                </a:solidFill>
                <a:latin typeface="Calibri"/>
                <a:cs typeface="Calibri"/>
              </a:rPr>
              <a:t>int </a:t>
            </a:r>
            <a:r>
              <a:rPr sz="2219" dirty="0">
                <a:latin typeface="Arial"/>
                <a:cs typeface="Arial"/>
              </a:rPr>
              <a:t>inteiros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positivos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ou</a:t>
            </a:r>
            <a:r>
              <a:rPr sz="2219" spc="-32" dirty="0">
                <a:latin typeface="Arial"/>
                <a:cs typeface="Arial"/>
              </a:rPr>
              <a:t> </a:t>
            </a:r>
            <a:r>
              <a:rPr sz="2219" spc="-53" dirty="0">
                <a:latin typeface="Arial"/>
                <a:cs typeface="Arial"/>
              </a:rPr>
              <a:t>ne- </a:t>
            </a:r>
            <a:r>
              <a:rPr sz="2219" spc="-21" dirty="0">
                <a:latin typeface="Arial"/>
                <a:cs typeface="Arial"/>
              </a:rPr>
              <a:t>gativos</a:t>
            </a:r>
            <a:endParaRPr sz="2219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61927" y="4329582"/>
            <a:ext cx="143602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>
              <a:spcBef>
                <a:spcPts val="285"/>
              </a:spcBef>
            </a:pPr>
            <a:r>
              <a:rPr sz="2219" spc="-232" dirty="0">
                <a:latin typeface="Arial"/>
                <a:cs typeface="Arial"/>
              </a:rPr>
              <a:t>a</a:t>
            </a:r>
            <a:endParaRPr sz="2219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4181" y="3984940"/>
            <a:ext cx="2959274" cy="1086749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  <a:tabLst>
                <a:tab pos="587828" algn="l"/>
                <a:tab pos="1319257" algn="l"/>
                <a:tab pos="1830587" algn="l"/>
                <a:tab pos="2858614" algn="l"/>
              </a:tabLst>
            </a:pPr>
            <a:r>
              <a:rPr sz="2219" spc="-53" dirty="0">
                <a:latin typeface="Arial"/>
                <a:cs typeface="Arial"/>
              </a:rPr>
              <a:t>32</a:t>
            </a:r>
            <a:r>
              <a:rPr sz="2219" dirty="0">
                <a:latin typeface="Arial"/>
                <a:cs typeface="Arial"/>
              </a:rPr>
              <a:t>	</a:t>
            </a:r>
            <a:r>
              <a:rPr sz="2219" spc="-42" dirty="0">
                <a:latin typeface="Arial"/>
                <a:cs typeface="Arial"/>
              </a:rPr>
              <a:t>bits</a:t>
            </a:r>
            <a:r>
              <a:rPr sz="2219" dirty="0">
                <a:latin typeface="Arial"/>
                <a:cs typeface="Arial"/>
              </a:rPr>
              <a:t>	</a:t>
            </a:r>
            <a:r>
              <a:rPr sz="2219" spc="-53" dirty="0">
                <a:latin typeface="Arial"/>
                <a:cs typeface="Arial"/>
              </a:rPr>
              <a:t>(4</a:t>
            </a:r>
            <a:r>
              <a:rPr sz="2219" dirty="0">
                <a:latin typeface="Arial"/>
                <a:cs typeface="Arial"/>
              </a:rPr>
              <a:t>	</a:t>
            </a:r>
            <a:r>
              <a:rPr sz="2219" spc="-21" dirty="0">
                <a:latin typeface="Arial"/>
                <a:cs typeface="Arial"/>
              </a:rPr>
              <a:t>bytes)</a:t>
            </a:r>
            <a:r>
              <a:rPr sz="2219" dirty="0">
                <a:latin typeface="Arial"/>
                <a:cs typeface="Arial"/>
              </a:rPr>
              <a:t>	</a:t>
            </a:r>
            <a:r>
              <a:rPr sz="2219" spc="-106" dirty="0">
                <a:latin typeface="Arial"/>
                <a:cs typeface="Arial"/>
              </a:rPr>
              <a:t>-</a:t>
            </a:r>
            <a:endParaRPr sz="2219">
              <a:latin typeface="Arial"/>
              <a:cs typeface="Arial"/>
            </a:endParaRPr>
          </a:p>
          <a:p>
            <a:pPr marL="26841">
              <a:spcBef>
                <a:spcPts val="53"/>
              </a:spcBef>
            </a:pPr>
            <a:r>
              <a:rPr sz="2219" spc="-21" dirty="0">
                <a:latin typeface="Arial"/>
                <a:cs typeface="Arial"/>
              </a:rPr>
              <a:t>2.147.438.648</a:t>
            </a:r>
            <a:endParaRPr sz="2219">
              <a:latin typeface="Arial"/>
              <a:cs typeface="Arial"/>
            </a:endParaRPr>
          </a:p>
          <a:p>
            <a:pPr marL="26841">
              <a:spcBef>
                <a:spcPts val="53"/>
              </a:spcBef>
            </a:pPr>
            <a:r>
              <a:rPr sz="2219" spc="-21" dirty="0">
                <a:latin typeface="Arial"/>
                <a:cs typeface="Arial"/>
              </a:rPr>
              <a:t>2.147.483.647</a:t>
            </a:r>
            <a:endParaRPr sz="2219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7311" y="5146971"/>
            <a:ext cx="11419711" cy="22815"/>
          </a:xfrm>
          <a:custGeom>
            <a:avLst/>
            <a:gdLst/>
            <a:ahLst/>
            <a:cxnLst/>
            <a:rect l="l" t="t" r="r" b="b"/>
            <a:pathLst>
              <a:path w="5403215" h="10794">
                <a:moveTo>
                  <a:pt x="5403054" y="0"/>
                </a:moveTo>
                <a:lnTo>
                  <a:pt x="0" y="0"/>
                </a:lnTo>
                <a:lnTo>
                  <a:pt x="0" y="10532"/>
                </a:lnTo>
                <a:lnTo>
                  <a:pt x="5403054" y="10532"/>
                </a:lnTo>
                <a:lnTo>
                  <a:pt x="5403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23" name="object 23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11" y="801153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Tipos</a:t>
            </a:r>
            <a:r>
              <a:rPr spc="-53" dirty="0"/>
              <a:t> </a:t>
            </a:r>
            <a:r>
              <a:rPr dirty="0"/>
              <a:t>de</a:t>
            </a:r>
            <a:r>
              <a:rPr spc="-53" dirty="0"/>
              <a:t> </a:t>
            </a:r>
            <a:r>
              <a:rPr spc="-21" dirty="0"/>
              <a:t>dados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74">
              <a:spcBef>
                <a:spcPts val="254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7</a:t>
            </a:fld>
            <a:endParaRPr spc="-106" dirty="0"/>
          </a:p>
        </p:txBody>
      </p:sp>
      <p:sp>
        <p:nvSpPr>
          <p:cNvPr id="3" name="object 3"/>
          <p:cNvSpPr/>
          <p:nvPr/>
        </p:nvSpPr>
        <p:spPr>
          <a:xfrm>
            <a:off x="307311" y="1593060"/>
            <a:ext cx="11419711" cy="22815"/>
          </a:xfrm>
          <a:custGeom>
            <a:avLst/>
            <a:gdLst/>
            <a:ahLst/>
            <a:cxnLst/>
            <a:rect l="l" t="t" r="r" b="b"/>
            <a:pathLst>
              <a:path w="5403215" h="10795">
                <a:moveTo>
                  <a:pt x="5403054" y="0"/>
                </a:moveTo>
                <a:lnTo>
                  <a:pt x="0" y="0"/>
                </a:lnTo>
                <a:lnTo>
                  <a:pt x="0" y="10532"/>
                </a:lnTo>
                <a:lnTo>
                  <a:pt x="5403054" y="10532"/>
                </a:lnTo>
                <a:lnTo>
                  <a:pt x="5403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4" name="object 4"/>
          <p:cNvSpPr txBox="1"/>
          <p:nvPr/>
        </p:nvSpPr>
        <p:spPr>
          <a:xfrm>
            <a:off x="402114" y="1620036"/>
            <a:ext cx="1434677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b="1" spc="116" dirty="0">
                <a:latin typeface="Calibri"/>
                <a:cs typeface="Calibri"/>
              </a:rPr>
              <a:t>Primitivos</a:t>
            </a:r>
            <a:endParaRPr sz="2219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7311" y="2099738"/>
            <a:ext cx="11419711" cy="0"/>
          </a:xfrm>
          <a:custGeom>
            <a:avLst/>
            <a:gdLst/>
            <a:ahLst/>
            <a:cxnLst/>
            <a:rect l="l" t="t" r="r" b="b"/>
            <a:pathLst>
              <a:path w="5403215">
                <a:moveTo>
                  <a:pt x="0" y="0"/>
                </a:moveTo>
                <a:lnTo>
                  <a:pt x="5403054" y="0"/>
                </a:lnTo>
              </a:path>
            </a:pathLst>
          </a:custGeom>
          <a:ln w="65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6" name="object 6"/>
          <p:cNvSpPr txBox="1"/>
          <p:nvPr/>
        </p:nvSpPr>
        <p:spPr>
          <a:xfrm>
            <a:off x="394238" y="2111413"/>
            <a:ext cx="1848034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spc="-63" dirty="0">
                <a:latin typeface="Arial"/>
                <a:cs typeface="Arial"/>
              </a:rPr>
              <a:t>Tipos </a:t>
            </a:r>
            <a:r>
              <a:rPr sz="2219" spc="-137" dirty="0">
                <a:latin typeface="Arial"/>
                <a:cs typeface="Arial"/>
              </a:rPr>
              <a:t>de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spc="-74" dirty="0">
                <a:latin typeface="Arial"/>
                <a:cs typeface="Arial"/>
              </a:rPr>
              <a:t>dados</a:t>
            </a:r>
            <a:endParaRPr sz="221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9503" y="2111413"/>
            <a:ext cx="1206525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spc="-21" dirty="0">
                <a:latin typeface="Arial"/>
                <a:cs typeface="Arial"/>
              </a:rPr>
              <a:t>Definição</a:t>
            </a:r>
            <a:endParaRPr sz="2219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61941" y="2188948"/>
            <a:ext cx="0" cy="344913"/>
          </a:xfrm>
          <a:custGeom>
            <a:avLst/>
            <a:gdLst/>
            <a:ahLst/>
            <a:cxnLst/>
            <a:rect l="l" t="t" r="r" b="b"/>
            <a:pathLst>
              <a:path h="163194">
                <a:moveTo>
                  <a:pt x="0" y="163057"/>
                </a:moveTo>
                <a:lnTo>
                  <a:pt x="0" y="0"/>
                </a:lnTo>
              </a:path>
            </a:pathLst>
          </a:custGeom>
          <a:ln w="3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9" name="object 9"/>
          <p:cNvSpPr txBox="1"/>
          <p:nvPr/>
        </p:nvSpPr>
        <p:spPr>
          <a:xfrm>
            <a:off x="6656743" y="1478971"/>
            <a:ext cx="4407370" cy="1015780"/>
          </a:xfrm>
          <a:prstGeom prst="rect">
            <a:avLst/>
          </a:prstGeom>
        </p:spPr>
        <p:txBody>
          <a:bodyPr vert="horz" wrap="square" lIns="0" tIns="177154" rIns="0" bIns="0" rtlCol="0">
            <a:spAutoFit/>
          </a:bodyPr>
          <a:lstStyle/>
          <a:p>
            <a:pPr marL="26841">
              <a:spcBef>
                <a:spcPts val="1395"/>
              </a:spcBef>
            </a:pPr>
            <a:r>
              <a:rPr sz="2219" b="1" spc="127" dirty="0">
                <a:latin typeface="Calibri"/>
                <a:cs typeface="Calibri"/>
              </a:rPr>
              <a:t>Específicos </a:t>
            </a:r>
            <a:r>
              <a:rPr sz="2219" b="1" spc="116" dirty="0">
                <a:latin typeface="Calibri"/>
                <a:cs typeface="Calibri"/>
              </a:rPr>
              <a:t>para</a:t>
            </a:r>
            <a:r>
              <a:rPr sz="2219" b="1" spc="127" dirty="0">
                <a:latin typeface="Calibri"/>
                <a:cs typeface="Calibri"/>
              </a:rPr>
              <a:t> </a:t>
            </a:r>
            <a:r>
              <a:rPr sz="2219" b="1" spc="190" dirty="0">
                <a:latin typeface="Calibri"/>
                <a:cs typeface="Calibri"/>
              </a:rPr>
              <a:t>Linguagem</a:t>
            </a:r>
            <a:r>
              <a:rPr sz="2219" b="1" spc="127" dirty="0">
                <a:latin typeface="Calibri"/>
                <a:cs typeface="Calibri"/>
              </a:rPr>
              <a:t> </a:t>
            </a:r>
            <a:r>
              <a:rPr sz="2219" b="1" spc="85" dirty="0">
                <a:latin typeface="Calibri"/>
                <a:cs typeface="Calibri"/>
              </a:rPr>
              <a:t>Java</a:t>
            </a:r>
            <a:endParaRPr sz="2219">
              <a:latin typeface="Calibri"/>
              <a:cs typeface="Calibri"/>
            </a:endParaRPr>
          </a:p>
          <a:p>
            <a:pPr marL="26841">
              <a:spcBef>
                <a:spcPts val="1205"/>
              </a:spcBef>
            </a:pPr>
            <a:r>
              <a:rPr sz="2219" spc="-63" dirty="0">
                <a:latin typeface="Arial"/>
                <a:cs typeface="Arial"/>
              </a:rPr>
              <a:t>Tipos</a:t>
            </a:r>
            <a:r>
              <a:rPr sz="2219" spc="-95" dirty="0">
                <a:latin typeface="Arial"/>
                <a:cs typeface="Arial"/>
              </a:rPr>
              <a:t> </a:t>
            </a:r>
            <a:r>
              <a:rPr sz="2219" spc="-137" dirty="0">
                <a:latin typeface="Arial"/>
                <a:cs typeface="Arial"/>
              </a:rPr>
              <a:t>de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dados</a:t>
            </a:r>
            <a:r>
              <a:rPr sz="2219" spc="824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Capacidade</a:t>
            </a:r>
            <a:endParaRPr sz="2219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7311" y="2591114"/>
            <a:ext cx="11419711" cy="0"/>
          </a:xfrm>
          <a:custGeom>
            <a:avLst/>
            <a:gdLst/>
            <a:ahLst/>
            <a:cxnLst/>
            <a:rect l="l" t="t" r="r" b="b"/>
            <a:pathLst>
              <a:path w="5403215">
                <a:moveTo>
                  <a:pt x="0" y="0"/>
                </a:moveTo>
                <a:lnTo>
                  <a:pt x="5403054" y="0"/>
                </a:lnTo>
              </a:path>
            </a:pathLst>
          </a:custGeom>
          <a:ln w="65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1" name="object 11"/>
          <p:cNvSpPr txBox="1"/>
          <p:nvPr/>
        </p:nvSpPr>
        <p:spPr>
          <a:xfrm>
            <a:off x="402113" y="2805238"/>
            <a:ext cx="2987458" cy="105259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841" marR="10737" algn="just">
              <a:lnSpc>
                <a:spcPct val="101899"/>
              </a:lnSpc>
              <a:spcBef>
                <a:spcPts val="232"/>
              </a:spcBef>
            </a:pPr>
            <a:r>
              <a:rPr lang="pt-BR" sz="2219" b="1" spc="106" dirty="0">
                <a:solidFill>
                  <a:srgbClr val="00AC8C"/>
                </a:solidFill>
                <a:latin typeface="Calibri"/>
                <a:cs typeface="Calibri"/>
              </a:rPr>
              <a:t>R</a:t>
            </a:r>
            <a:r>
              <a:rPr sz="2219" b="1" spc="106" dirty="0" err="1">
                <a:solidFill>
                  <a:srgbClr val="00AC8C"/>
                </a:solidFill>
                <a:latin typeface="Calibri"/>
                <a:cs typeface="Calibri"/>
              </a:rPr>
              <a:t>eal</a:t>
            </a:r>
            <a:r>
              <a:rPr lang="pt-BR" sz="2219" b="1" spc="241" dirty="0">
                <a:solidFill>
                  <a:srgbClr val="00AC8C"/>
                </a:solidFill>
                <a:latin typeface="Calibri"/>
                <a:cs typeface="Calibri"/>
              </a:rPr>
              <a:t>:</a:t>
            </a:r>
            <a:r>
              <a:rPr sz="2219" spc="-21" dirty="0">
                <a:latin typeface="Verdana"/>
                <a:cs typeface="Verdana"/>
              </a:rPr>
              <a:t> </a:t>
            </a:r>
            <a:r>
              <a:rPr sz="2219" dirty="0">
                <a:latin typeface="Arial"/>
                <a:cs typeface="Arial"/>
              </a:rPr>
              <a:t>também</a:t>
            </a:r>
            <a:r>
              <a:rPr sz="2219" spc="127" dirty="0">
                <a:latin typeface="Arial"/>
                <a:cs typeface="Arial"/>
              </a:rPr>
              <a:t> </a:t>
            </a:r>
            <a:r>
              <a:rPr sz="2219" spc="-63" dirty="0">
                <a:latin typeface="Arial"/>
                <a:cs typeface="Arial"/>
              </a:rPr>
              <a:t>conhe- </a:t>
            </a:r>
            <a:r>
              <a:rPr sz="2219" dirty="0">
                <a:latin typeface="Arial"/>
                <a:cs typeface="Arial"/>
              </a:rPr>
              <a:t>cido</a:t>
            </a:r>
            <a:r>
              <a:rPr sz="2219" spc="169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como</a:t>
            </a:r>
            <a:r>
              <a:rPr sz="2219" spc="169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ponto</a:t>
            </a:r>
            <a:r>
              <a:rPr sz="2219" spc="180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flutu- </a:t>
            </a:r>
            <a:r>
              <a:rPr sz="2219" spc="-42" dirty="0">
                <a:latin typeface="Arial"/>
                <a:cs typeface="Arial"/>
              </a:rPr>
              <a:t>ante</a:t>
            </a:r>
            <a:endParaRPr sz="2219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9418" y="2602790"/>
            <a:ext cx="2937801" cy="1400959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841" marR="10737" algn="just">
              <a:lnSpc>
                <a:spcPct val="101899"/>
              </a:lnSpc>
              <a:spcBef>
                <a:spcPts val="232"/>
              </a:spcBef>
            </a:pPr>
            <a:r>
              <a:rPr sz="2219" spc="-85" dirty="0">
                <a:latin typeface="Arial"/>
                <a:cs typeface="Arial"/>
              </a:rPr>
              <a:t>poderá</a:t>
            </a:r>
            <a:r>
              <a:rPr sz="2219" spc="-21" dirty="0">
                <a:latin typeface="Arial"/>
                <a:cs typeface="Arial"/>
              </a:rPr>
              <a:t> </a:t>
            </a:r>
            <a:r>
              <a:rPr sz="2219" spc="-106" dirty="0">
                <a:latin typeface="Arial"/>
                <a:cs typeface="Arial"/>
              </a:rPr>
              <a:t>receber</a:t>
            </a:r>
            <a:r>
              <a:rPr sz="2219" spc="-32" dirty="0">
                <a:latin typeface="Arial"/>
                <a:cs typeface="Arial"/>
              </a:rPr>
              <a:t> </a:t>
            </a:r>
            <a:r>
              <a:rPr sz="2219" spc="-85" dirty="0">
                <a:latin typeface="Arial"/>
                <a:cs typeface="Arial"/>
              </a:rPr>
              <a:t>números </a:t>
            </a:r>
            <a:r>
              <a:rPr sz="2219" dirty="0">
                <a:latin typeface="Arial"/>
                <a:cs typeface="Arial"/>
              </a:rPr>
              <a:t>reais,</a:t>
            </a:r>
            <a:r>
              <a:rPr sz="2219" spc="4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isto é,</a:t>
            </a:r>
            <a:r>
              <a:rPr sz="2219" spc="3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com </a:t>
            </a:r>
            <a:r>
              <a:rPr sz="2219" spc="-148" dirty="0">
                <a:latin typeface="Arial"/>
                <a:cs typeface="Arial"/>
              </a:rPr>
              <a:t>casas </a:t>
            </a:r>
            <a:r>
              <a:rPr sz="2219" dirty="0">
                <a:latin typeface="Arial"/>
                <a:cs typeface="Arial"/>
              </a:rPr>
              <a:t>decimais,</a:t>
            </a:r>
            <a:r>
              <a:rPr sz="2219" spc="465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positivos</a:t>
            </a:r>
            <a:r>
              <a:rPr sz="2219" spc="338" dirty="0">
                <a:latin typeface="Arial"/>
                <a:cs typeface="Arial"/>
              </a:rPr>
              <a:t> </a:t>
            </a:r>
            <a:r>
              <a:rPr sz="2219" spc="-53" dirty="0">
                <a:latin typeface="Arial"/>
                <a:cs typeface="Arial"/>
              </a:rPr>
              <a:t>ou </a:t>
            </a:r>
            <a:r>
              <a:rPr sz="2219" spc="-21" dirty="0">
                <a:latin typeface="Arial"/>
                <a:cs typeface="Arial"/>
              </a:rPr>
              <a:t>negativos</a:t>
            </a:r>
            <a:endParaRPr sz="2219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61941" y="2680302"/>
            <a:ext cx="0" cy="1379652"/>
          </a:xfrm>
          <a:custGeom>
            <a:avLst/>
            <a:gdLst/>
            <a:ahLst/>
            <a:cxnLst/>
            <a:rect l="l" t="t" r="r" b="b"/>
            <a:pathLst>
              <a:path h="652780">
                <a:moveTo>
                  <a:pt x="0" y="652249"/>
                </a:moveTo>
                <a:lnTo>
                  <a:pt x="0" y="0"/>
                </a:lnTo>
              </a:path>
            </a:pathLst>
          </a:custGeom>
          <a:ln w="3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4" name="object 14"/>
          <p:cNvSpPr txBox="1"/>
          <p:nvPr/>
        </p:nvSpPr>
        <p:spPr>
          <a:xfrm>
            <a:off x="6656742" y="2602789"/>
            <a:ext cx="1699066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b="1" spc="-21" dirty="0">
                <a:solidFill>
                  <a:srgbClr val="00AC8C"/>
                </a:solidFill>
                <a:latin typeface="Calibri"/>
                <a:cs typeface="Calibri"/>
              </a:rPr>
              <a:t>float/double</a:t>
            </a:r>
            <a:endParaRPr sz="2219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55640" y="2602791"/>
            <a:ext cx="3025036" cy="142915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64419">
              <a:spcBef>
                <a:spcPts val="285"/>
              </a:spcBef>
            </a:pPr>
            <a:r>
              <a:rPr sz="2219" spc="-21" dirty="0">
                <a:latin typeface="Arial"/>
                <a:cs typeface="Arial"/>
              </a:rPr>
              <a:t>32</a:t>
            </a:r>
            <a:r>
              <a:rPr sz="2219" spc="53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bits</a:t>
            </a:r>
            <a:r>
              <a:rPr sz="2219" spc="53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(de</a:t>
            </a:r>
            <a:r>
              <a:rPr sz="2219" spc="53" dirty="0">
                <a:latin typeface="Arial"/>
                <a:cs typeface="Arial"/>
              </a:rPr>
              <a:t> </a:t>
            </a:r>
            <a:r>
              <a:rPr sz="2219" spc="-74" dirty="0">
                <a:latin typeface="Arial"/>
                <a:cs typeface="Arial"/>
              </a:rPr>
              <a:t>-</a:t>
            </a:r>
            <a:r>
              <a:rPr sz="2219" spc="-127" dirty="0">
                <a:latin typeface="Arial"/>
                <a:cs typeface="Arial"/>
              </a:rPr>
              <a:t>3,4E-</a:t>
            </a:r>
            <a:r>
              <a:rPr sz="2219" dirty="0">
                <a:latin typeface="Arial"/>
                <a:cs typeface="Arial"/>
              </a:rPr>
              <a:t>38</a:t>
            </a:r>
            <a:r>
              <a:rPr sz="2219" spc="53" dirty="0">
                <a:latin typeface="Arial"/>
                <a:cs typeface="Arial"/>
              </a:rPr>
              <a:t> </a:t>
            </a:r>
            <a:r>
              <a:rPr sz="2219" spc="-53" dirty="0">
                <a:latin typeface="Arial"/>
                <a:cs typeface="Arial"/>
              </a:rPr>
              <a:t>até</a:t>
            </a:r>
            <a:endParaRPr sz="2219">
              <a:latin typeface="Arial"/>
              <a:cs typeface="Arial"/>
            </a:endParaRPr>
          </a:p>
          <a:p>
            <a:pPr marL="64419" marR="10737" indent="-38920">
              <a:lnSpc>
                <a:spcPct val="101899"/>
              </a:lnSpc>
            </a:pPr>
            <a:r>
              <a:rPr sz="2219" spc="-106" dirty="0">
                <a:latin typeface="Arial"/>
                <a:cs typeface="Arial"/>
              </a:rPr>
              <a:t>+3,4E+38)</a:t>
            </a:r>
            <a:r>
              <a:rPr sz="2219" spc="74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64</a:t>
            </a:r>
            <a:r>
              <a:rPr sz="2219" spc="85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bits</a:t>
            </a:r>
            <a:r>
              <a:rPr sz="2219" spc="85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(8</a:t>
            </a:r>
            <a:r>
              <a:rPr sz="2219" spc="85" dirty="0">
                <a:latin typeface="Arial"/>
                <a:cs typeface="Arial"/>
              </a:rPr>
              <a:t> </a:t>
            </a:r>
            <a:r>
              <a:rPr sz="2219" spc="-53" dirty="0">
                <a:latin typeface="Arial"/>
                <a:cs typeface="Arial"/>
              </a:rPr>
              <a:t>by- </a:t>
            </a:r>
            <a:r>
              <a:rPr sz="2219" dirty="0">
                <a:latin typeface="Arial"/>
                <a:cs typeface="Arial"/>
              </a:rPr>
              <a:t>tes)</a:t>
            </a:r>
            <a:r>
              <a:rPr sz="2219" spc="581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(de</a:t>
            </a:r>
            <a:r>
              <a:rPr sz="2219" spc="592" dirty="0">
                <a:latin typeface="Arial"/>
                <a:cs typeface="Arial"/>
              </a:rPr>
              <a:t> </a:t>
            </a:r>
            <a:r>
              <a:rPr sz="2219" spc="-95" dirty="0">
                <a:latin typeface="Arial"/>
                <a:cs typeface="Arial"/>
              </a:rPr>
              <a:t>-</a:t>
            </a:r>
            <a:r>
              <a:rPr sz="2219" spc="-137" dirty="0">
                <a:latin typeface="Arial"/>
                <a:cs typeface="Arial"/>
              </a:rPr>
              <a:t>1,7E-</a:t>
            </a:r>
            <a:r>
              <a:rPr sz="2219" dirty="0">
                <a:latin typeface="Arial"/>
                <a:cs typeface="Arial"/>
              </a:rPr>
              <a:t>308</a:t>
            </a:r>
            <a:r>
              <a:rPr sz="2219" spc="592" dirty="0">
                <a:latin typeface="Arial"/>
                <a:cs typeface="Arial"/>
              </a:rPr>
              <a:t> </a:t>
            </a:r>
            <a:r>
              <a:rPr sz="2219" spc="-53" dirty="0">
                <a:latin typeface="Arial"/>
                <a:cs typeface="Arial"/>
              </a:rPr>
              <a:t>até</a:t>
            </a:r>
            <a:endParaRPr sz="2219">
              <a:latin typeface="Arial"/>
              <a:cs typeface="Arial"/>
            </a:endParaRPr>
          </a:p>
          <a:p>
            <a:pPr marL="26841">
              <a:spcBef>
                <a:spcPts val="53"/>
              </a:spcBef>
            </a:pPr>
            <a:r>
              <a:rPr sz="2219" spc="-21" dirty="0">
                <a:latin typeface="Arial"/>
                <a:cs typeface="Arial"/>
              </a:rPr>
              <a:t>+1,7E+308)</a:t>
            </a:r>
            <a:endParaRPr sz="2219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7311" y="4116400"/>
            <a:ext cx="11419711" cy="0"/>
          </a:xfrm>
          <a:custGeom>
            <a:avLst/>
            <a:gdLst/>
            <a:ahLst/>
            <a:cxnLst/>
            <a:rect l="l" t="t" r="r" b="b"/>
            <a:pathLst>
              <a:path w="5403215">
                <a:moveTo>
                  <a:pt x="0" y="0"/>
                </a:moveTo>
                <a:lnTo>
                  <a:pt x="5403054" y="0"/>
                </a:lnTo>
              </a:path>
            </a:pathLst>
          </a:custGeom>
          <a:ln w="65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7" name="object 17"/>
          <p:cNvSpPr txBox="1"/>
          <p:nvPr/>
        </p:nvSpPr>
        <p:spPr>
          <a:xfrm>
            <a:off x="402113" y="4328181"/>
            <a:ext cx="2987458" cy="704230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841" marR="10737">
              <a:lnSpc>
                <a:spcPct val="101899"/>
              </a:lnSpc>
              <a:spcBef>
                <a:spcPts val="232"/>
              </a:spcBef>
            </a:pPr>
            <a:r>
              <a:rPr sz="2219" b="1" spc="190" dirty="0" err="1">
                <a:solidFill>
                  <a:srgbClr val="00AC8C"/>
                </a:solidFill>
                <a:latin typeface="Calibri"/>
                <a:cs typeface="Calibri"/>
              </a:rPr>
              <a:t>Lógico</a:t>
            </a:r>
            <a:r>
              <a:rPr lang="pt-BR" sz="2219" b="1" spc="431" dirty="0">
                <a:solidFill>
                  <a:srgbClr val="00AC8C"/>
                </a:solidFill>
                <a:latin typeface="Calibri"/>
                <a:cs typeface="Calibri"/>
              </a:rPr>
              <a:t>:</a:t>
            </a:r>
            <a:r>
              <a:rPr sz="2219" spc="159" dirty="0">
                <a:latin typeface="Verdana"/>
                <a:cs typeface="Verdana"/>
              </a:rPr>
              <a:t> </a:t>
            </a:r>
            <a:r>
              <a:rPr sz="2219" dirty="0">
                <a:latin typeface="Arial"/>
                <a:cs typeface="Arial"/>
              </a:rPr>
              <a:t>também</a:t>
            </a:r>
            <a:r>
              <a:rPr sz="2219" spc="317" dirty="0">
                <a:latin typeface="Arial"/>
                <a:cs typeface="Arial"/>
              </a:rPr>
              <a:t> </a:t>
            </a:r>
            <a:r>
              <a:rPr sz="2219" spc="-74" dirty="0">
                <a:latin typeface="Arial"/>
                <a:cs typeface="Arial"/>
              </a:rPr>
              <a:t>co- </a:t>
            </a:r>
            <a:r>
              <a:rPr sz="2219" spc="-53" dirty="0">
                <a:latin typeface="Arial"/>
                <a:cs typeface="Arial"/>
              </a:rPr>
              <a:t>nhecido </a:t>
            </a:r>
            <a:r>
              <a:rPr sz="2219" spc="-74" dirty="0">
                <a:latin typeface="Arial"/>
                <a:cs typeface="Arial"/>
              </a:rPr>
              <a:t>como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booleano</a:t>
            </a:r>
            <a:endParaRPr sz="2219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61941" y="4205589"/>
            <a:ext cx="0" cy="889795"/>
          </a:xfrm>
          <a:custGeom>
            <a:avLst/>
            <a:gdLst/>
            <a:ahLst/>
            <a:cxnLst/>
            <a:rect l="l" t="t" r="r" b="b"/>
            <a:pathLst>
              <a:path h="421005">
                <a:moveTo>
                  <a:pt x="0" y="420805"/>
                </a:moveTo>
                <a:lnTo>
                  <a:pt x="0" y="0"/>
                </a:lnTo>
              </a:path>
            </a:pathLst>
          </a:custGeom>
          <a:ln w="3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9" name="object 19"/>
          <p:cNvSpPr txBox="1"/>
          <p:nvPr/>
        </p:nvSpPr>
        <p:spPr>
          <a:xfrm>
            <a:off x="3529418" y="4128055"/>
            <a:ext cx="4250350" cy="73242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dirty="0">
                <a:latin typeface="Arial"/>
                <a:cs typeface="Arial"/>
              </a:rPr>
              <a:t>poderá</a:t>
            </a:r>
            <a:r>
              <a:rPr sz="2219" spc="60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receber</a:t>
            </a:r>
            <a:r>
              <a:rPr sz="2219" spc="60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verda-</a:t>
            </a:r>
            <a:r>
              <a:rPr sz="2219" spc="537" dirty="0">
                <a:latin typeface="Arial"/>
                <a:cs typeface="Arial"/>
              </a:rPr>
              <a:t> </a:t>
            </a:r>
            <a:r>
              <a:rPr sz="2219" b="1" spc="95" dirty="0">
                <a:solidFill>
                  <a:srgbClr val="00AC8C"/>
                </a:solidFill>
                <a:latin typeface="Calibri"/>
                <a:cs typeface="Calibri"/>
              </a:rPr>
              <a:t>boolean</a:t>
            </a:r>
            <a:endParaRPr sz="2219">
              <a:latin typeface="Calibri"/>
              <a:cs typeface="Calibri"/>
            </a:endParaRPr>
          </a:p>
          <a:p>
            <a:pPr marL="26841">
              <a:spcBef>
                <a:spcPts val="53"/>
              </a:spcBef>
            </a:pPr>
            <a:r>
              <a:rPr sz="2219" spc="-42" dirty="0">
                <a:latin typeface="Arial"/>
                <a:cs typeface="Arial"/>
              </a:rPr>
              <a:t>deiro</a:t>
            </a:r>
            <a:r>
              <a:rPr sz="2219" spc="-85" dirty="0">
                <a:latin typeface="Arial"/>
                <a:cs typeface="Arial"/>
              </a:rPr>
              <a:t> </a:t>
            </a:r>
            <a:r>
              <a:rPr sz="2219" spc="-95" dirty="0">
                <a:latin typeface="Arial"/>
                <a:cs typeface="Arial"/>
              </a:rPr>
              <a:t>(1)</a:t>
            </a:r>
            <a:r>
              <a:rPr sz="2219" spc="-53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ou</a:t>
            </a:r>
            <a:r>
              <a:rPr sz="2219" spc="-63" dirty="0">
                <a:latin typeface="Arial"/>
                <a:cs typeface="Arial"/>
              </a:rPr>
              <a:t> </a:t>
            </a:r>
            <a:r>
              <a:rPr sz="2219" spc="-53" dirty="0">
                <a:latin typeface="Arial"/>
                <a:cs typeface="Arial"/>
              </a:rPr>
              <a:t>falso</a:t>
            </a:r>
            <a:r>
              <a:rPr sz="2219" spc="-74" dirty="0">
                <a:latin typeface="Arial"/>
                <a:cs typeface="Arial"/>
              </a:rPr>
              <a:t> </a:t>
            </a:r>
            <a:r>
              <a:rPr sz="2219" spc="-53" dirty="0">
                <a:latin typeface="Arial"/>
                <a:cs typeface="Arial"/>
              </a:rPr>
              <a:t>(0)</a:t>
            </a:r>
            <a:endParaRPr sz="2219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94180" y="4128054"/>
            <a:ext cx="2442575" cy="378094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219" spc="-190" dirty="0">
                <a:latin typeface="Arial"/>
                <a:cs typeface="Arial"/>
              </a:rPr>
              <a:t>8</a:t>
            </a:r>
            <a:r>
              <a:rPr sz="2219" spc="-42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bits</a:t>
            </a:r>
            <a:r>
              <a:rPr sz="2219" spc="-116" dirty="0">
                <a:latin typeface="Arial"/>
                <a:cs typeface="Arial"/>
              </a:rPr>
              <a:t> </a:t>
            </a:r>
            <a:r>
              <a:rPr sz="2219" dirty="0">
                <a:latin typeface="Arial"/>
                <a:cs typeface="Arial"/>
              </a:rPr>
              <a:t>(true</a:t>
            </a:r>
            <a:r>
              <a:rPr sz="2219" spc="-85" dirty="0">
                <a:latin typeface="Arial"/>
                <a:cs typeface="Arial"/>
              </a:rPr>
              <a:t> </a:t>
            </a:r>
            <a:r>
              <a:rPr sz="2219" spc="-21" dirty="0">
                <a:latin typeface="Arial"/>
                <a:cs typeface="Arial"/>
              </a:rPr>
              <a:t>ou</a:t>
            </a:r>
            <a:r>
              <a:rPr sz="2219" spc="-74" dirty="0">
                <a:latin typeface="Arial"/>
                <a:cs typeface="Arial"/>
              </a:rPr>
              <a:t> </a:t>
            </a:r>
            <a:r>
              <a:rPr sz="2219" spc="-42" dirty="0">
                <a:latin typeface="Arial"/>
                <a:cs typeface="Arial"/>
              </a:rPr>
              <a:t>false)</a:t>
            </a:r>
            <a:endParaRPr sz="2219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7311" y="5145548"/>
            <a:ext cx="11419711" cy="22815"/>
          </a:xfrm>
          <a:custGeom>
            <a:avLst/>
            <a:gdLst/>
            <a:ahLst/>
            <a:cxnLst/>
            <a:rect l="l" t="t" r="r" b="b"/>
            <a:pathLst>
              <a:path w="5403215" h="10794">
                <a:moveTo>
                  <a:pt x="5403054" y="0"/>
                </a:moveTo>
                <a:lnTo>
                  <a:pt x="0" y="0"/>
                </a:lnTo>
                <a:lnTo>
                  <a:pt x="0" y="10532"/>
                </a:lnTo>
                <a:lnTo>
                  <a:pt x="5403054" y="10532"/>
                </a:lnTo>
                <a:lnTo>
                  <a:pt x="5403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22" name="object 22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468" y="745500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Será</a:t>
            </a:r>
            <a:r>
              <a:rPr spc="-21" dirty="0"/>
              <a:t> </a:t>
            </a:r>
            <a:r>
              <a:rPr dirty="0"/>
              <a:t>que</a:t>
            </a:r>
            <a:r>
              <a:rPr spc="-11" dirty="0"/>
              <a:t> </a:t>
            </a:r>
            <a:r>
              <a:rPr dirty="0"/>
              <a:t>entendi</a:t>
            </a:r>
            <a:r>
              <a:rPr spc="-11" dirty="0"/>
              <a:t> </a:t>
            </a:r>
            <a:r>
              <a:rPr spc="-21" dirty="0"/>
              <a:t>tudo?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74">
              <a:spcBef>
                <a:spcPts val="254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8</a:t>
            </a:fld>
            <a:endParaRPr spc="-106" dirty="0"/>
          </a:p>
        </p:txBody>
      </p:sp>
      <p:sp>
        <p:nvSpPr>
          <p:cNvPr id="3" name="object 3"/>
          <p:cNvSpPr txBox="1"/>
          <p:nvPr/>
        </p:nvSpPr>
        <p:spPr>
          <a:xfrm>
            <a:off x="299754" y="1648773"/>
            <a:ext cx="7598825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351623" indent="-324782">
              <a:spcBef>
                <a:spcPts val="285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211" dirty="0">
                <a:latin typeface="Calibri"/>
                <a:cs typeface="Calibri"/>
              </a:rPr>
              <a:t>Qual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63" dirty="0">
                <a:latin typeface="Calibri"/>
                <a:cs typeface="Calibri"/>
              </a:rPr>
              <a:t>é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o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tipo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de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63" dirty="0">
                <a:latin typeface="Calibri"/>
                <a:cs typeface="Calibri"/>
              </a:rPr>
              <a:t>dado/constante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63" dirty="0">
                <a:latin typeface="Calibri"/>
                <a:cs typeface="Calibri"/>
              </a:rPr>
              <a:t>a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seguir?</a:t>
            </a:r>
            <a:endParaRPr sz="2959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8579" y="904313"/>
            <a:ext cx="1154184" cy="944820"/>
          </a:xfrm>
          <a:custGeom>
            <a:avLst/>
            <a:gdLst/>
            <a:ahLst/>
            <a:cxnLst/>
            <a:rect l="l" t="t" r="r" b="b"/>
            <a:pathLst>
              <a:path w="546100" h="447040">
                <a:moveTo>
                  <a:pt x="225714" y="211944"/>
                </a:moveTo>
                <a:lnTo>
                  <a:pt x="13145" y="429757"/>
                </a:lnTo>
                <a:lnTo>
                  <a:pt x="2565" y="441466"/>
                </a:lnTo>
                <a:lnTo>
                  <a:pt x="0" y="446461"/>
                </a:lnTo>
                <a:lnTo>
                  <a:pt x="5283" y="444556"/>
                </a:lnTo>
                <a:lnTo>
                  <a:pt x="18252" y="435565"/>
                </a:lnTo>
                <a:lnTo>
                  <a:pt x="315715" y="211944"/>
                </a:lnTo>
                <a:lnTo>
                  <a:pt x="494892" y="211944"/>
                </a:lnTo>
                <a:lnTo>
                  <a:pt x="514592" y="207967"/>
                </a:lnTo>
                <a:lnTo>
                  <a:pt x="530680" y="197121"/>
                </a:lnTo>
                <a:lnTo>
                  <a:pt x="541526" y="181034"/>
                </a:lnTo>
                <a:lnTo>
                  <a:pt x="545503" y="161333"/>
                </a:lnTo>
                <a:lnTo>
                  <a:pt x="545503" y="50610"/>
                </a:lnTo>
                <a:lnTo>
                  <a:pt x="541526" y="30910"/>
                </a:lnTo>
                <a:lnTo>
                  <a:pt x="530680" y="14823"/>
                </a:lnTo>
                <a:lnTo>
                  <a:pt x="514592" y="3977"/>
                </a:lnTo>
                <a:lnTo>
                  <a:pt x="494892" y="0"/>
                </a:lnTo>
                <a:lnTo>
                  <a:pt x="180713" y="0"/>
                </a:lnTo>
                <a:lnTo>
                  <a:pt x="161013" y="3977"/>
                </a:lnTo>
                <a:lnTo>
                  <a:pt x="144926" y="14823"/>
                </a:lnTo>
                <a:lnTo>
                  <a:pt x="134080" y="30910"/>
                </a:lnTo>
                <a:lnTo>
                  <a:pt x="130103" y="50610"/>
                </a:lnTo>
                <a:lnTo>
                  <a:pt x="130103" y="161333"/>
                </a:lnTo>
                <a:lnTo>
                  <a:pt x="134080" y="181034"/>
                </a:lnTo>
                <a:lnTo>
                  <a:pt x="144926" y="197121"/>
                </a:lnTo>
                <a:lnTo>
                  <a:pt x="161013" y="207967"/>
                </a:lnTo>
                <a:lnTo>
                  <a:pt x="180713" y="211944"/>
                </a:lnTo>
                <a:lnTo>
                  <a:pt x="225714" y="211944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5" name="object 5"/>
          <p:cNvSpPr txBox="1"/>
          <p:nvPr/>
        </p:nvSpPr>
        <p:spPr>
          <a:xfrm>
            <a:off x="8275074" y="932470"/>
            <a:ext cx="675063" cy="28594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691" spc="-74" dirty="0">
                <a:latin typeface="Arial"/>
                <a:cs typeface="Arial"/>
              </a:rPr>
              <a:t>String?</a:t>
            </a:r>
            <a:endParaRPr sz="1691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12915" y="1686736"/>
            <a:ext cx="1599753" cy="405306"/>
          </a:xfrm>
          <a:custGeom>
            <a:avLst/>
            <a:gdLst/>
            <a:ahLst/>
            <a:cxnLst/>
            <a:rect l="l" t="t" r="r" b="b"/>
            <a:pathLst>
              <a:path w="756920" h="191769">
                <a:moveTo>
                  <a:pt x="265498" y="95611"/>
                </a:moveTo>
                <a:lnTo>
                  <a:pt x="21608" y="95746"/>
                </a:lnTo>
                <a:lnTo>
                  <a:pt x="5712" y="96917"/>
                </a:lnTo>
                <a:lnTo>
                  <a:pt x="0" y="100091"/>
                </a:lnTo>
                <a:lnTo>
                  <a:pt x="4540" y="104790"/>
                </a:lnTo>
                <a:lnTo>
                  <a:pt x="19406" y="110540"/>
                </a:lnTo>
                <a:lnTo>
                  <a:pt x="265498" y="185612"/>
                </a:lnTo>
                <a:lnTo>
                  <a:pt x="265498" y="140937"/>
                </a:lnTo>
                <a:lnTo>
                  <a:pt x="269476" y="160638"/>
                </a:lnTo>
                <a:lnTo>
                  <a:pt x="280322" y="176725"/>
                </a:lnTo>
                <a:lnTo>
                  <a:pt x="296409" y="187571"/>
                </a:lnTo>
                <a:lnTo>
                  <a:pt x="316109" y="191548"/>
                </a:lnTo>
                <a:lnTo>
                  <a:pt x="705900" y="191548"/>
                </a:lnTo>
                <a:lnTo>
                  <a:pt x="725601" y="187571"/>
                </a:lnTo>
                <a:lnTo>
                  <a:pt x="741688" y="176725"/>
                </a:lnTo>
                <a:lnTo>
                  <a:pt x="752534" y="160638"/>
                </a:lnTo>
                <a:lnTo>
                  <a:pt x="756511" y="140937"/>
                </a:lnTo>
                <a:lnTo>
                  <a:pt x="756511" y="50610"/>
                </a:lnTo>
                <a:lnTo>
                  <a:pt x="752534" y="30910"/>
                </a:lnTo>
                <a:lnTo>
                  <a:pt x="741688" y="14823"/>
                </a:lnTo>
                <a:lnTo>
                  <a:pt x="725601" y="3977"/>
                </a:lnTo>
                <a:lnTo>
                  <a:pt x="705900" y="0"/>
                </a:lnTo>
                <a:lnTo>
                  <a:pt x="316109" y="0"/>
                </a:lnTo>
                <a:lnTo>
                  <a:pt x="296409" y="3977"/>
                </a:lnTo>
                <a:lnTo>
                  <a:pt x="280322" y="14823"/>
                </a:lnTo>
                <a:lnTo>
                  <a:pt x="269476" y="30910"/>
                </a:lnTo>
                <a:lnTo>
                  <a:pt x="265498" y="50610"/>
                </a:lnTo>
                <a:lnTo>
                  <a:pt x="265498" y="9561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7" name="object 7"/>
          <p:cNvSpPr txBox="1"/>
          <p:nvPr/>
        </p:nvSpPr>
        <p:spPr>
          <a:xfrm>
            <a:off x="8575589" y="1720940"/>
            <a:ext cx="834770" cy="28594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691" spc="-116" dirty="0">
                <a:latin typeface="Arial"/>
                <a:cs typeface="Arial"/>
              </a:rPr>
              <a:t>boolean?</a:t>
            </a:r>
            <a:endParaRPr sz="1691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02052" y="1926259"/>
            <a:ext cx="1385021" cy="695195"/>
          </a:xfrm>
          <a:custGeom>
            <a:avLst/>
            <a:gdLst/>
            <a:ahLst/>
            <a:cxnLst/>
            <a:rect l="l" t="t" r="r" b="b"/>
            <a:pathLst>
              <a:path w="655320" h="328930">
                <a:moveTo>
                  <a:pt x="377342" y="235730"/>
                </a:moveTo>
                <a:lnTo>
                  <a:pt x="18996" y="9468"/>
                </a:lnTo>
                <a:lnTo>
                  <a:pt x="5361" y="1536"/>
                </a:lnTo>
                <a:lnTo>
                  <a:pt x="0" y="0"/>
                </a:lnTo>
                <a:lnTo>
                  <a:pt x="3051" y="4668"/>
                </a:lnTo>
                <a:lnTo>
                  <a:pt x="14655" y="15353"/>
                </a:lnTo>
                <a:lnTo>
                  <a:pt x="377342" y="325731"/>
                </a:lnTo>
                <a:lnTo>
                  <a:pt x="377342" y="278171"/>
                </a:lnTo>
                <a:lnTo>
                  <a:pt x="381319" y="297872"/>
                </a:lnTo>
                <a:lnTo>
                  <a:pt x="392165" y="313959"/>
                </a:lnTo>
                <a:lnTo>
                  <a:pt x="408252" y="324805"/>
                </a:lnTo>
                <a:lnTo>
                  <a:pt x="427953" y="328782"/>
                </a:lnTo>
                <a:lnTo>
                  <a:pt x="604470" y="328782"/>
                </a:lnTo>
                <a:lnTo>
                  <a:pt x="624170" y="324805"/>
                </a:lnTo>
                <a:lnTo>
                  <a:pt x="640257" y="313959"/>
                </a:lnTo>
                <a:lnTo>
                  <a:pt x="651104" y="297872"/>
                </a:lnTo>
                <a:lnTo>
                  <a:pt x="655081" y="278171"/>
                </a:lnTo>
                <a:lnTo>
                  <a:pt x="655081" y="190729"/>
                </a:lnTo>
                <a:lnTo>
                  <a:pt x="651104" y="171029"/>
                </a:lnTo>
                <a:lnTo>
                  <a:pt x="640257" y="154942"/>
                </a:lnTo>
                <a:lnTo>
                  <a:pt x="624170" y="144096"/>
                </a:lnTo>
                <a:lnTo>
                  <a:pt x="604470" y="140118"/>
                </a:lnTo>
                <a:lnTo>
                  <a:pt x="427953" y="140118"/>
                </a:lnTo>
                <a:lnTo>
                  <a:pt x="408252" y="144096"/>
                </a:lnTo>
                <a:lnTo>
                  <a:pt x="392165" y="154942"/>
                </a:lnTo>
                <a:lnTo>
                  <a:pt x="381319" y="171029"/>
                </a:lnTo>
                <a:lnTo>
                  <a:pt x="377342" y="190729"/>
                </a:lnTo>
                <a:lnTo>
                  <a:pt x="377342" y="23573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9" name="object 9"/>
          <p:cNvSpPr txBox="1"/>
          <p:nvPr/>
        </p:nvSpPr>
        <p:spPr>
          <a:xfrm>
            <a:off x="8800979" y="2250523"/>
            <a:ext cx="385175" cy="28594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691" spc="-42" dirty="0">
                <a:latin typeface="Arial"/>
                <a:cs typeface="Arial"/>
              </a:rPr>
              <a:t>int?</a:t>
            </a:r>
            <a:endParaRPr sz="1691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86242" y="1941281"/>
            <a:ext cx="1195788" cy="1292418"/>
          </a:xfrm>
          <a:custGeom>
            <a:avLst/>
            <a:gdLst/>
            <a:ahLst/>
            <a:cxnLst/>
            <a:rect l="l" t="t" r="r" b="b"/>
            <a:pathLst>
              <a:path w="565785" h="611505">
                <a:moveTo>
                  <a:pt x="324855" y="419573"/>
                </a:moveTo>
                <a:lnTo>
                  <a:pt x="14501" y="15477"/>
                </a:lnTo>
                <a:lnTo>
                  <a:pt x="4460" y="3316"/>
                </a:lnTo>
                <a:lnTo>
                  <a:pt x="0" y="0"/>
                </a:lnTo>
                <a:lnTo>
                  <a:pt x="1311" y="5401"/>
                </a:lnTo>
                <a:lnTo>
                  <a:pt x="8585" y="19394"/>
                </a:lnTo>
                <a:lnTo>
                  <a:pt x="234854" y="419573"/>
                </a:lnTo>
                <a:lnTo>
                  <a:pt x="172571" y="419573"/>
                </a:lnTo>
                <a:lnTo>
                  <a:pt x="152871" y="423550"/>
                </a:lnTo>
                <a:lnTo>
                  <a:pt x="136784" y="434397"/>
                </a:lnTo>
                <a:lnTo>
                  <a:pt x="125938" y="450484"/>
                </a:lnTo>
                <a:lnTo>
                  <a:pt x="121960" y="470184"/>
                </a:lnTo>
                <a:lnTo>
                  <a:pt x="121960" y="560511"/>
                </a:lnTo>
                <a:lnTo>
                  <a:pt x="125938" y="580211"/>
                </a:lnTo>
                <a:lnTo>
                  <a:pt x="136784" y="596299"/>
                </a:lnTo>
                <a:lnTo>
                  <a:pt x="152871" y="607145"/>
                </a:lnTo>
                <a:lnTo>
                  <a:pt x="172571" y="611122"/>
                </a:lnTo>
                <a:lnTo>
                  <a:pt x="514788" y="611122"/>
                </a:lnTo>
                <a:lnTo>
                  <a:pt x="534488" y="607145"/>
                </a:lnTo>
                <a:lnTo>
                  <a:pt x="550576" y="596299"/>
                </a:lnTo>
                <a:lnTo>
                  <a:pt x="561422" y="580211"/>
                </a:lnTo>
                <a:lnTo>
                  <a:pt x="565399" y="560511"/>
                </a:lnTo>
                <a:lnTo>
                  <a:pt x="565399" y="470184"/>
                </a:lnTo>
                <a:lnTo>
                  <a:pt x="561422" y="450484"/>
                </a:lnTo>
                <a:lnTo>
                  <a:pt x="550576" y="434397"/>
                </a:lnTo>
                <a:lnTo>
                  <a:pt x="534488" y="423550"/>
                </a:lnTo>
                <a:lnTo>
                  <a:pt x="514788" y="419573"/>
                </a:lnTo>
                <a:lnTo>
                  <a:pt x="324855" y="41957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1" name="object 11"/>
          <p:cNvSpPr txBox="1"/>
          <p:nvPr/>
        </p:nvSpPr>
        <p:spPr>
          <a:xfrm>
            <a:off x="8245439" y="2862265"/>
            <a:ext cx="735457" cy="28594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691" spc="-106" dirty="0">
                <a:latin typeface="Arial"/>
                <a:cs typeface="Arial"/>
              </a:rPr>
              <a:t>double?</a:t>
            </a:r>
            <a:endParaRPr sz="1691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4823" y="2381082"/>
            <a:ext cx="3569918" cy="1093642"/>
          </a:xfrm>
          <a:prstGeom prst="rect">
            <a:avLst/>
          </a:prstGeom>
        </p:spPr>
        <p:txBody>
          <a:bodyPr vert="horz" wrap="square" lIns="0" tIns="170443" rIns="0" bIns="0" rtlCol="0">
            <a:spAutoFit/>
          </a:bodyPr>
          <a:lstStyle/>
          <a:p>
            <a:pPr marL="359675" indent="-332834">
              <a:spcBef>
                <a:spcPts val="1342"/>
              </a:spcBef>
              <a:buClr>
                <a:srgbClr val="00AC8C"/>
              </a:buClr>
              <a:buChar char="–"/>
              <a:tabLst>
                <a:tab pos="359675" algn="l"/>
              </a:tabLst>
            </a:pPr>
            <a:r>
              <a:rPr lang="pt-BR" sz="2536" spc="-137" dirty="0">
                <a:latin typeface="Arial"/>
                <a:cs typeface="Arial"/>
              </a:rPr>
              <a:t>F</a:t>
            </a:r>
            <a:r>
              <a:rPr sz="2536" spc="-137" dirty="0" err="1">
                <a:latin typeface="Arial"/>
                <a:cs typeface="Arial"/>
              </a:rPr>
              <a:t>alse</a:t>
            </a:r>
            <a:r>
              <a:rPr lang="pt-BR" sz="2536" spc="-53" dirty="0">
                <a:latin typeface="Arial"/>
                <a:cs typeface="Arial"/>
              </a:rPr>
              <a:t>:</a:t>
            </a:r>
            <a:r>
              <a:rPr sz="2536" spc="-232" dirty="0">
                <a:latin typeface="Verdana"/>
                <a:cs typeface="Verdana"/>
              </a:rPr>
              <a:t> </a:t>
            </a:r>
            <a:r>
              <a:rPr sz="2536" spc="-74" dirty="0">
                <a:latin typeface="Arial"/>
                <a:cs typeface="Arial"/>
              </a:rPr>
              <a:t>lógico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(boolean)</a:t>
            </a:r>
            <a:endParaRPr sz="2536" dirty="0">
              <a:latin typeface="Arial"/>
              <a:cs typeface="Arial"/>
            </a:endParaRPr>
          </a:p>
          <a:p>
            <a:pPr marL="359675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359675" algn="l"/>
              </a:tabLst>
            </a:pPr>
            <a:r>
              <a:rPr sz="2536" spc="-254" dirty="0">
                <a:latin typeface="Arial"/>
                <a:cs typeface="Arial"/>
              </a:rPr>
              <a:t>21</a:t>
            </a:r>
            <a:r>
              <a:rPr lang="pt-BR" sz="2536" spc="-53" dirty="0">
                <a:latin typeface="Arial"/>
                <a:cs typeface="Arial"/>
              </a:rPr>
              <a:t>:</a:t>
            </a:r>
            <a:r>
              <a:rPr sz="2536" spc="-241" dirty="0">
                <a:latin typeface="Verdana"/>
                <a:cs typeface="Verdana"/>
              </a:rPr>
              <a:t> </a:t>
            </a:r>
            <a:r>
              <a:rPr sz="2536" spc="-21" dirty="0">
                <a:latin typeface="Arial"/>
                <a:cs typeface="Arial"/>
              </a:rPr>
              <a:t>inteiro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(int)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87836" y="2740490"/>
            <a:ext cx="3416921" cy="923347"/>
          </a:xfrm>
          <a:custGeom>
            <a:avLst/>
            <a:gdLst/>
            <a:ahLst/>
            <a:cxnLst/>
            <a:rect l="l" t="t" r="r" b="b"/>
            <a:pathLst>
              <a:path w="1616710" h="436880">
                <a:moveTo>
                  <a:pt x="665868" y="194587"/>
                </a:moveTo>
                <a:lnTo>
                  <a:pt x="480436" y="418333"/>
                </a:lnTo>
                <a:lnTo>
                  <a:pt x="470890" y="430917"/>
                </a:lnTo>
                <a:lnTo>
                  <a:pt x="468874" y="436261"/>
                </a:lnTo>
                <a:lnTo>
                  <a:pt x="474188" y="434167"/>
                </a:lnTo>
                <a:lnTo>
                  <a:pt x="486632" y="424438"/>
                </a:lnTo>
                <a:lnTo>
                  <a:pt x="755869" y="194587"/>
                </a:lnTo>
                <a:lnTo>
                  <a:pt x="1565684" y="194587"/>
                </a:lnTo>
                <a:lnTo>
                  <a:pt x="1585384" y="190610"/>
                </a:lnTo>
                <a:lnTo>
                  <a:pt x="1601471" y="179764"/>
                </a:lnTo>
                <a:lnTo>
                  <a:pt x="1612318" y="163677"/>
                </a:lnTo>
                <a:lnTo>
                  <a:pt x="1616295" y="143976"/>
                </a:lnTo>
                <a:lnTo>
                  <a:pt x="1616295" y="50610"/>
                </a:lnTo>
                <a:lnTo>
                  <a:pt x="1612318" y="30910"/>
                </a:lnTo>
                <a:lnTo>
                  <a:pt x="1601471" y="14823"/>
                </a:lnTo>
                <a:lnTo>
                  <a:pt x="1585384" y="3977"/>
                </a:lnTo>
                <a:lnTo>
                  <a:pt x="1565684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43976"/>
                </a:lnTo>
                <a:lnTo>
                  <a:pt x="3977" y="163677"/>
                </a:lnTo>
                <a:lnTo>
                  <a:pt x="14823" y="179764"/>
                </a:lnTo>
                <a:lnTo>
                  <a:pt x="30910" y="190610"/>
                </a:lnTo>
                <a:lnTo>
                  <a:pt x="50610" y="194587"/>
                </a:lnTo>
                <a:lnTo>
                  <a:pt x="665868" y="19458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4" name="object 14"/>
          <p:cNvSpPr txBox="1"/>
          <p:nvPr/>
        </p:nvSpPr>
        <p:spPr>
          <a:xfrm>
            <a:off x="4099166" y="2801766"/>
            <a:ext cx="3255872" cy="28594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691" spc="-53" dirty="0">
                <a:latin typeface="Arial"/>
                <a:cs typeface="Arial"/>
              </a:rPr>
              <a:t>String</a:t>
            </a:r>
            <a:r>
              <a:rPr sz="1691" spc="-21" dirty="0">
                <a:latin typeface="Arial"/>
                <a:cs typeface="Arial"/>
              </a:rPr>
              <a:t> </a:t>
            </a:r>
            <a:r>
              <a:rPr sz="1691" spc="-159" dirty="0">
                <a:latin typeface="Arial"/>
                <a:cs typeface="Arial"/>
              </a:rPr>
              <a:t>são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85" dirty="0">
                <a:latin typeface="Arial"/>
                <a:cs typeface="Arial"/>
              </a:rPr>
              <a:t>escritas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116" dirty="0">
                <a:latin typeface="Arial"/>
                <a:cs typeface="Arial"/>
              </a:rPr>
              <a:t>com</a:t>
            </a:r>
            <a:r>
              <a:rPr sz="1691" spc="-21" dirty="0">
                <a:latin typeface="Arial"/>
                <a:cs typeface="Arial"/>
              </a:rPr>
              <a:t> </a:t>
            </a:r>
            <a:r>
              <a:rPr sz="1691" spc="-148" dirty="0">
                <a:latin typeface="Arial"/>
                <a:cs typeface="Arial"/>
              </a:rPr>
              <a:t>aspas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53" dirty="0">
                <a:latin typeface="Arial"/>
                <a:cs typeface="Arial"/>
              </a:rPr>
              <a:t>duplas</a:t>
            </a:r>
            <a:endParaRPr sz="1691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4825" y="3442502"/>
            <a:ext cx="4808652" cy="2156240"/>
          </a:xfrm>
          <a:prstGeom prst="rect">
            <a:avLst/>
          </a:prstGeom>
        </p:spPr>
        <p:txBody>
          <a:bodyPr vert="horz" wrap="square" lIns="0" tIns="170443" rIns="0" bIns="0" rtlCol="0">
            <a:spAutoFit/>
          </a:bodyPr>
          <a:lstStyle/>
          <a:p>
            <a:pPr marL="359675" indent="-332834">
              <a:spcBef>
                <a:spcPts val="1342"/>
              </a:spcBef>
              <a:buClr>
                <a:srgbClr val="00AC8C"/>
              </a:buClr>
              <a:buChar char="–"/>
              <a:tabLst>
                <a:tab pos="359675" algn="l"/>
              </a:tabLst>
            </a:pPr>
            <a:r>
              <a:rPr sz="2536" dirty="0">
                <a:latin typeface="Arial"/>
                <a:cs typeface="Arial"/>
              </a:rPr>
              <a:t>“O</a:t>
            </a:r>
            <a:r>
              <a:rPr sz="2536" spc="-106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resultado</a:t>
            </a:r>
            <a:r>
              <a:rPr sz="2536" spc="-95" dirty="0">
                <a:latin typeface="Arial"/>
                <a:cs typeface="Arial"/>
              </a:rPr>
              <a:t> </a:t>
            </a:r>
            <a:r>
              <a:rPr sz="2536" spc="-63" dirty="0">
                <a:latin typeface="Arial"/>
                <a:cs typeface="Arial"/>
              </a:rPr>
              <a:t>é:”</a:t>
            </a:r>
            <a:r>
              <a:rPr sz="2536" spc="-264" dirty="0">
                <a:latin typeface="Verdana"/>
                <a:cs typeface="Verdana"/>
              </a:rPr>
              <a:t> </a:t>
            </a:r>
            <a:r>
              <a:rPr sz="2536" dirty="0">
                <a:latin typeface="Arial"/>
                <a:cs typeface="Arial"/>
              </a:rPr>
              <a:t>literal</a:t>
            </a:r>
            <a:r>
              <a:rPr sz="2536" spc="-95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(String)</a:t>
            </a:r>
            <a:endParaRPr sz="2536" dirty="0">
              <a:latin typeface="Arial"/>
              <a:cs typeface="Arial"/>
            </a:endParaRPr>
          </a:p>
          <a:p>
            <a:pPr marL="359675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359675" algn="l"/>
              </a:tabLst>
            </a:pPr>
            <a:r>
              <a:rPr sz="2536" spc="-222" dirty="0">
                <a:latin typeface="Arial"/>
                <a:cs typeface="Arial"/>
              </a:rPr>
              <a:t>3.1415</a:t>
            </a:r>
            <a:r>
              <a:rPr lang="pt-BR" sz="2536" spc="-63" dirty="0">
                <a:latin typeface="Arial"/>
                <a:cs typeface="Arial"/>
              </a:rPr>
              <a:t>:</a:t>
            </a:r>
            <a:r>
              <a:rPr sz="2536" spc="-241" dirty="0">
                <a:latin typeface="Verdana"/>
                <a:cs typeface="Verdana"/>
              </a:rPr>
              <a:t> </a:t>
            </a:r>
            <a:r>
              <a:rPr sz="2536" spc="-95" dirty="0">
                <a:latin typeface="Arial"/>
                <a:cs typeface="Arial"/>
              </a:rPr>
              <a:t>real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(double)</a:t>
            </a:r>
            <a:endParaRPr sz="2536" dirty="0">
              <a:latin typeface="Arial"/>
              <a:cs typeface="Arial"/>
            </a:endParaRPr>
          </a:p>
          <a:p>
            <a:pPr marL="359675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359675" algn="l"/>
              </a:tabLst>
            </a:pPr>
            <a:r>
              <a:rPr sz="2536" dirty="0">
                <a:latin typeface="Arial"/>
                <a:cs typeface="Arial"/>
              </a:rPr>
              <a:t>“true”</a:t>
            </a:r>
            <a:r>
              <a:rPr sz="2536" spc="-241" dirty="0">
                <a:latin typeface="Verdana"/>
                <a:cs typeface="Verdana"/>
              </a:rPr>
              <a:t> </a:t>
            </a:r>
            <a:r>
              <a:rPr sz="2536" dirty="0">
                <a:latin typeface="Arial"/>
                <a:cs typeface="Arial"/>
              </a:rPr>
              <a:t>literal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(String)</a:t>
            </a:r>
            <a:endParaRPr sz="2536" dirty="0">
              <a:latin typeface="Arial"/>
              <a:cs typeface="Arial"/>
            </a:endParaRPr>
          </a:p>
          <a:p>
            <a:pPr marL="359675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359675" algn="l"/>
              </a:tabLst>
            </a:pPr>
            <a:r>
              <a:rPr sz="2536" dirty="0">
                <a:latin typeface="Arial"/>
                <a:cs typeface="Arial"/>
              </a:rPr>
              <a:t>‘h’</a:t>
            </a:r>
            <a:r>
              <a:rPr sz="2536" spc="-190" dirty="0">
                <a:latin typeface="Verdana"/>
                <a:cs typeface="Verdana"/>
              </a:rPr>
              <a:t> </a:t>
            </a:r>
            <a:r>
              <a:rPr sz="2536" dirty="0">
                <a:latin typeface="Arial"/>
                <a:cs typeface="Arial"/>
              </a:rPr>
              <a:t>literal </a:t>
            </a:r>
            <a:r>
              <a:rPr sz="2536" spc="-21" dirty="0">
                <a:latin typeface="Arial"/>
                <a:cs typeface="Arial"/>
              </a:rPr>
              <a:t>(char)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64796" y="5572385"/>
            <a:ext cx="3348476" cy="922005"/>
          </a:xfrm>
          <a:custGeom>
            <a:avLst/>
            <a:gdLst/>
            <a:ahLst/>
            <a:cxnLst/>
            <a:rect l="l" t="t" r="r" b="b"/>
            <a:pathLst>
              <a:path w="1584325" h="436244">
                <a:moveTo>
                  <a:pt x="740078" y="241927"/>
                </a:moveTo>
                <a:lnTo>
                  <a:pt x="470586" y="11825"/>
                </a:lnTo>
                <a:lnTo>
                  <a:pt x="458143" y="2095"/>
                </a:lnTo>
                <a:lnTo>
                  <a:pt x="452831" y="0"/>
                </a:lnTo>
                <a:lnTo>
                  <a:pt x="454849" y="5341"/>
                </a:lnTo>
                <a:lnTo>
                  <a:pt x="464396" y="17925"/>
                </a:lnTo>
                <a:lnTo>
                  <a:pt x="650078" y="241927"/>
                </a:lnTo>
                <a:lnTo>
                  <a:pt x="50610" y="241927"/>
                </a:lnTo>
                <a:lnTo>
                  <a:pt x="30910" y="245904"/>
                </a:lnTo>
                <a:lnTo>
                  <a:pt x="14823" y="256750"/>
                </a:lnTo>
                <a:lnTo>
                  <a:pt x="3977" y="272837"/>
                </a:lnTo>
                <a:lnTo>
                  <a:pt x="0" y="292537"/>
                </a:lnTo>
                <a:lnTo>
                  <a:pt x="0" y="385397"/>
                </a:lnTo>
                <a:lnTo>
                  <a:pt x="3977" y="405097"/>
                </a:lnTo>
                <a:lnTo>
                  <a:pt x="14823" y="421185"/>
                </a:lnTo>
                <a:lnTo>
                  <a:pt x="30910" y="432031"/>
                </a:lnTo>
                <a:lnTo>
                  <a:pt x="50610" y="436008"/>
                </a:lnTo>
                <a:lnTo>
                  <a:pt x="1533597" y="436008"/>
                </a:lnTo>
                <a:lnTo>
                  <a:pt x="1553297" y="432031"/>
                </a:lnTo>
                <a:lnTo>
                  <a:pt x="1569385" y="421185"/>
                </a:lnTo>
                <a:lnTo>
                  <a:pt x="1580231" y="405097"/>
                </a:lnTo>
                <a:lnTo>
                  <a:pt x="1584208" y="385397"/>
                </a:lnTo>
                <a:lnTo>
                  <a:pt x="1584208" y="292537"/>
                </a:lnTo>
                <a:lnTo>
                  <a:pt x="1580231" y="272837"/>
                </a:lnTo>
                <a:lnTo>
                  <a:pt x="1569385" y="256750"/>
                </a:lnTo>
                <a:lnTo>
                  <a:pt x="1553297" y="245904"/>
                </a:lnTo>
                <a:lnTo>
                  <a:pt x="1533597" y="241927"/>
                </a:lnTo>
                <a:lnTo>
                  <a:pt x="740078" y="24192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7" name="object 17"/>
          <p:cNvSpPr txBox="1"/>
          <p:nvPr/>
        </p:nvSpPr>
        <p:spPr>
          <a:xfrm>
            <a:off x="2544951" y="6096504"/>
            <a:ext cx="3188769" cy="28594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691" spc="-85" dirty="0">
                <a:latin typeface="Arial"/>
                <a:cs typeface="Arial"/>
              </a:rPr>
              <a:t>char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159" dirty="0">
                <a:latin typeface="Arial"/>
                <a:cs typeface="Arial"/>
              </a:rPr>
              <a:t>são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85" dirty="0">
                <a:latin typeface="Arial"/>
                <a:cs typeface="Arial"/>
              </a:rPr>
              <a:t>escritas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116" dirty="0">
                <a:latin typeface="Arial"/>
                <a:cs typeface="Arial"/>
              </a:rPr>
              <a:t>com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148" dirty="0">
                <a:latin typeface="Arial"/>
                <a:cs typeface="Arial"/>
              </a:rPr>
              <a:t>aspas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63" dirty="0">
                <a:latin typeface="Arial"/>
                <a:cs typeface="Arial"/>
              </a:rPr>
              <a:t>simples</a:t>
            </a:r>
            <a:endParaRPr sz="1691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042667" y="2567034"/>
            <a:ext cx="5369640" cy="1136273"/>
          </a:xfrm>
          <a:prstGeom prst="rect">
            <a:avLst/>
          </a:prstGeom>
        </p:spPr>
        <p:txBody>
          <a:bodyPr vert="horz" wrap="square" lIns="0" tIns="464947" rIns="0" bIns="0" rtlCol="0" anchor="t">
            <a:spAutoFit/>
          </a:bodyPr>
          <a:lstStyle/>
          <a:p>
            <a:pPr marL="1356835">
              <a:lnSpc>
                <a:spcPct val="100000"/>
              </a:lnSpc>
              <a:spcBef>
                <a:spcPts val="241"/>
              </a:spcBef>
            </a:pPr>
            <a:r>
              <a:rPr sz="4333" b="0" spc="-201" dirty="0">
                <a:solidFill>
                  <a:srgbClr val="002060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Operadores</a:t>
            </a:r>
            <a:endParaRPr sz="4333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773006" y="9240641"/>
            <a:ext cx="10602269" cy="465511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41604" marR="10737" indent="-16105">
              <a:lnSpc>
                <a:spcPct val="100800"/>
              </a:lnSpc>
              <a:spcBef>
                <a:spcPts val="232"/>
              </a:spcBef>
            </a:pP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Tipos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dados,</a:t>
            </a:r>
            <a:r>
              <a:rPr sz="2959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operadores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e</a:t>
            </a:r>
            <a:r>
              <a:rPr sz="2959" spc="13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782" dirty="0">
                <a:solidFill>
                  <a:srgbClr val="FFFFFF"/>
                </a:solidFill>
                <a:latin typeface="PMingLiU"/>
                <a:cs typeface="PMingLiU"/>
              </a:rPr>
              <a:t>co�</a:t>
            </a:r>
            <a:r>
              <a:rPr sz="2959" spc="-63" dirty="0">
                <a:solidFill>
                  <a:srgbClr val="FFFFFF"/>
                </a:solidFill>
                <a:latin typeface="PMingLiU"/>
                <a:cs typeface="PMingLiU"/>
              </a:rPr>
              <a:t> mandos</a:t>
            </a:r>
            <a:r>
              <a:rPr sz="2959" spc="15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21" dirty="0">
                <a:solidFill>
                  <a:srgbClr val="FFFFFF"/>
                </a:solidFill>
                <a:latin typeface="PMingLiU"/>
                <a:cs typeface="PMingLiU"/>
              </a:rPr>
              <a:t>saida�entrada</a:t>
            </a:r>
            <a:endParaRPr sz="2959">
              <a:latin typeface="PMingLiU"/>
              <a:cs typeface="PMingLiU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399" y="291386"/>
            <a:ext cx="4211429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Operadores</a:t>
            </a:r>
            <a:r>
              <a:rPr sz="2959" b="1" spc="-74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2060"/>
                </a:solidFill>
                <a:latin typeface="Palatino Linotype"/>
                <a:cs typeface="Palatino Linotype"/>
              </a:rPr>
              <a:t>Aritméticos</a:t>
            </a:r>
            <a:endParaRPr sz="2959" dirty="0">
              <a:solidFill>
                <a:srgbClr val="002060"/>
              </a:solidFill>
              <a:latin typeface="Palatino Linotype"/>
              <a:cs typeface="Palatino Linotype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458" y="1839769"/>
          <a:ext cx="10689622" cy="3121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9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3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3000" b="1" spc="65" dirty="0">
                          <a:latin typeface="Calibri"/>
                          <a:cs typeface="Calibri"/>
                        </a:rPr>
                        <a:t>Operação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657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3000" b="1" spc="75" dirty="0">
                          <a:latin typeface="Calibri"/>
                          <a:cs typeface="Calibri"/>
                        </a:rPr>
                        <a:t>Operador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657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3000" b="1" spc="60" dirty="0">
                          <a:latin typeface="Calibri"/>
                          <a:cs typeface="Calibri"/>
                        </a:rPr>
                        <a:t>Expressão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657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3000" b="1" spc="60" dirty="0">
                          <a:latin typeface="Calibri"/>
                          <a:cs typeface="Calibri"/>
                        </a:rPr>
                        <a:t>Resultado</a:t>
                      </a:r>
                      <a:endParaRPr sz="3000">
                        <a:latin typeface="Calibri"/>
                        <a:cs typeface="Calibri"/>
                      </a:endParaRPr>
                    </a:p>
                  </a:txBody>
                  <a:tcPr marL="0" marR="0" marT="6576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9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3000" spc="-10" dirty="0">
                          <a:latin typeface="Arial"/>
                          <a:cs typeface="Arial"/>
                        </a:rPr>
                        <a:t>Adição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59051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+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59051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3000" spc="-114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30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30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-60" dirty="0">
                          <a:latin typeface="Arial"/>
                          <a:cs typeface="Arial"/>
                        </a:rPr>
                        <a:t>4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59051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10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59051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619"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3000" spc="-10" dirty="0">
                          <a:latin typeface="Arial"/>
                          <a:cs typeface="Arial"/>
                        </a:rPr>
                        <a:t>Subtração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-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114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3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3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-50" dirty="0">
                          <a:latin typeface="Arial"/>
                          <a:cs typeface="Arial"/>
                        </a:rPr>
                        <a:t>9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4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3000" spc="-60" dirty="0">
                          <a:latin typeface="Arial"/>
                          <a:cs typeface="Arial"/>
                        </a:rPr>
                        <a:t>2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19"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3000" spc="-10" dirty="0">
                          <a:latin typeface="Arial"/>
                          <a:cs typeface="Arial"/>
                        </a:rPr>
                        <a:t>Multiplicação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15" dirty="0">
                          <a:latin typeface="Arial"/>
                          <a:cs typeface="Arial"/>
                        </a:rPr>
                        <a:t>*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114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3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65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3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-50" dirty="0">
                          <a:latin typeface="Arial"/>
                          <a:cs typeface="Arial"/>
                        </a:rPr>
                        <a:t>3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36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619"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3000" spc="-10" dirty="0">
                          <a:latin typeface="Arial"/>
                          <a:cs typeface="Arial"/>
                        </a:rPr>
                        <a:t>Divisão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20" dirty="0">
                          <a:latin typeface="Arial"/>
                          <a:cs typeface="Arial"/>
                        </a:rPr>
                        <a:t>/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20" dirty="0">
                          <a:latin typeface="Arial"/>
                          <a:cs typeface="Arial"/>
                        </a:rPr>
                        <a:t>44/2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22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013"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Módulo</a:t>
                      </a:r>
                      <a:r>
                        <a:rPr sz="3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-75" dirty="0">
                          <a:latin typeface="Arial"/>
                          <a:cs typeface="Arial"/>
                        </a:rPr>
                        <a:t>(Resto</a:t>
                      </a:r>
                      <a:r>
                        <a:rPr sz="3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-50" dirty="0">
                          <a:latin typeface="Arial"/>
                          <a:cs typeface="Arial"/>
                        </a:rPr>
                        <a:t>da</a:t>
                      </a:r>
                      <a:r>
                        <a:rPr sz="3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-10" dirty="0">
                          <a:latin typeface="Arial"/>
                          <a:cs typeface="Arial"/>
                        </a:rPr>
                        <a:t>Divisão)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325" dirty="0">
                          <a:latin typeface="Arial"/>
                          <a:cs typeface="Arial"/>
                        </a:rPr>
                        <a:t>%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114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3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-275" dirty="0">
                          <a:latin typeface="Arial"/>
                          <a:cs typeface="Arial"/>
                        </a:rPr>
                        <a:t>%</a:t>
                      </a:r>
                      <a:r>
                        <a:rPr sz="3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000" spc="-50" dirty="0">
                          <a:latin typeface="Arial"/>
                          <a:cs typeface="Arial"/>
                        </a:rPr>
                        <a:t>3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982" y="0"/>
            <a:ext cx="0" cy="683216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80524">
              <a:spcBef>
                <a:spcPts val="254"/>
              </a:spcBef>
            </a:pPr>
            <a:r>
              <a:rPr spc="-53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497" y="856993"/>
            <a:ext cx="4741549" cy="17105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Precedência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de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2060"/>
                </a:solidFill>
                <a:latin typeface="Palatino Linotype"/>
                <a:cs typeface="Palatino Linotype"/>
              </a:rPr>
              <a:t>Operadores</a:t>
            </a:r>
            <a:endParaRPr sz="2959" dirty="0">
              <a:solidFill>
                <a:srgbClr val="002060"/>
              </a:solidFill>
              <a:latin typeface="Palatino Linotype"/>
              <a:cs typeface="Palatino Linotype"/>
            </a:endParaRPr>
          </a:p>
          <a:p>
            <a:pPr>
              <a:spcBef>
                <a:spcPts val="2388"/>
              </a:spcBef>
            </a:pPr>
            <a:endParaRPr sz="2959" dirty="0">
              <a:latin typeface="Palatino Linotype"/>
              <a:cs typeface="Palatino Linotype"/>
            </a:endParaRPr>
          </a:p>
          <a:p>
            <a:pPr marL="1372940"/>
            <a:r>
              <a:rPr sz="2959" spc="-21" dirty="0">
                <a:latin typeface="Arial"/>
                <a:cs typeface="Arial"/>
              </a:rPr>
              <a:t>menor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96709" y="1897123"/>
            <a:ext cx="184669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41" dirty="0">
                <a:latin typeface="Arial"/>
                <a:cs typeface="Arial"/>
              </a:rPr>
              <a:t>6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106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4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+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5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-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3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3821" y="2658405"/>
            <a:ext cx="481805" cy="20311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-</a:t>
            </a:r>
            <a:endParaRPr sz="2959">
              <a:latin typeface="Arial"/>
              <a:cs typeface="Arial"/>
            </a:endParaRPr>
          </a:p>
          <a:p>
            <a:pPr marL="45630">
              <a:spcBef>
                <a:spcPts val="2748"/>
              </a:spcBef>
            </a:pP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1" dirty="0">
                <a:latin typeface="Arial"/>
                <a:cs typeface="Arial"/>
              </a:rPr>
              <a:t>*</a:t>
            </a:r>
            <a:endParaRPr sz="2959">
              <a:latin typeface="Arial"/>
              <a:cs typeface="Arial"/>
            </a:endParaRPr>
          </a:p>
          <a:p>
            <a:pPr marL="76498">
              <a:spcBef>
                <a:spcPts val="2219"/>
              </a:spcBef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4692" y="5203783"/>
            <a:ext cx="97971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maior</a:t>
            </a:r>
            <a:endParaRPr sz="2959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39035" y="2667355"/>
            <a:ext cx="790482" cy="2562020"/>
            <a:chOff x="800072" y="994437"/>
            <a:chExt cx="374015" cy="1212215"/>
          </a:xfrm>
        </p:grpSpPr>
        <p:sp>
          <p:nvSpPr>
            <p:cNvPr id="7" name="object 7"/>
            <p:cNvSpPr/>
            <p:nvPr/>
          </p:nvSpPr>
          <p:spPr>
            <a:xfrm>
              <a:off x="915044" y="994437"/>
              <a:ext cx="144145" cy="978535"/>
            </a:xfrm>
            <a:custGeom>
              <a:avLst/>
              <a:gdLst/>
              <a:ahLst/>
              <a:cxnLst/>
              <a:rect l="l" t="t" r="r" b="b"/>
              <a:pathLst>
                <a:path w="144144" h="978535">
                  <a:moveTo>
                    <a:pt x="0" y="978350"/>
                  </a:moveTo>
                  <a:lnTo>
                    <a:pt x="143999" y="978350"/>
                  </a:lnTo>
                  <a:lnTo>
                    <a:pt x="143999" y="0"/>
                  </a:lnTo>
                  <a:lnTo>
                    <a:pt x="0" y="0"/>
                  </a:lnTo>
                  <a:lnTo>
                    <a:pt x="0" y="978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/>
            <p:cNvSpPr/>
            <p:nvPr/>
          </p:nvSpPr>
          <p:spPr>
            <a:xfrm>
              <a:off x="800072" y="1832559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5" h="374014">
                  <a:moveTo>
                    <a:pt x="373943" y="0"/>
                  </a:moveTo>
                  <a:lnTo>
                    <a:pt x="186971" y="140228"/>
                  </a:lnTo>
                  <a:lnTo>
                    <a:pt x="0" y="0"/>
                  </a:lnTo>
                  <a:lnTo>
                    <a:pt x="186971" y="373943"/>
                  </a:lnTo>
                  <a:lnTo>
                    <a:pt x="373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" name="object 9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2982" y="0"/>
            <a:ext cx="0" cy="683216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80524">
              <a:spcBef>
                <a:spcPts val="254"/>
              </a:spcBef>
            </a:pPr>
            <a:r>
              <a:rPr spc="-53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54" y="970115"/>
            <a:ext cx="4741549" cy="17105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Precedência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de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2060"/>
                </a:solidFill>
                <a:latin typeface="Palatino Linotype"/>
                <a:cs typeface="Palatino Linotype"/>
              </a:rPr>
              <a:t>Operadores</a:t>
            </a:r>
            <a:endParaRPr sz="2959" dirty="0">
              <a:solidFill>
                <a:srgbClr val="002060"/>
              </a:solidFill>
              <a:latin typeface="Palatino Linotype"/>
              <a:cs typeface="Palatino Linotype"/>
            </a:endParaRPr>
          </a:p>
          <a:p>
            <a:pPr>
              <a:spcBef>
                <a:spcPts val="2388"/>
              </a:spcBef>
            </a:pPr>
            <a:endParaRPr sz="2959" dirty="0">
              <a:latin typeface="Palatino Linotype"/>
              <a:cs typeface="Palatino Linotype"/>
            </a:endParaRPr>
          </a:p>
          <a:p>
            <a:pPr marL="1372940"/>
            <a:r>
              <a:rPr sz="2959" spc="-21" dirty="0">
                <a:latin typeface="Arial"/>
                <a:cs typeface="Arial"/>
              </a:rPr>
              <a:t>menor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8919" y="2041187"/>
            <a:ext cx="889795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spc="-241" dirty="0">
                <a:latin typeface="Arial"/>
                <a:cs typeface="Arial"/>
              </a:rPr>
              <a:t>6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4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2233" y="1988062"/>
            <a:ext cx="1032055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127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5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-</a:t>
            </a:r>
            <a:r>
              <a:rPr sz="2959" spc="-106" dirty="0">
                <a:latin typeface="Arial"/>
                <a:cs typeface="Arial"/>
              </a:rPr>
              <a:t> 3</a:t>
            </a:r>
            <a:endParaRPr sz="29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4078" y="2771527"/>
            <a:ext cx="481805" cy="20311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-</a:t>
            </a:r>
            <a:endParaRPr sz="2959">
              <a:latin typeface="Arial"/>
              <a:cs typeface="Arial"/>
            </a:endParaRPr>
          </a:p>
          <a:p>
            <a:pPr marL="45630">
              <a:spcBef>
                <a:spcPts val="2748"/>
              </a:spcBef>
            </a:pP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1" dirty="0">
                <a:latin typeface="Arial"/>
                <a:cs typeface="Arial"/>
              </a:rPr>
              <a:t>*</a:t>
            </a:r>
            <a:endParaRPr sz="2959">
              <a:latin typeface="Arial"/>
              <a:cs typeface="Arial"/>
            </a:endParaRPr>
          </a:p>
          <a:p>
            <a:pPr marL="76498">
              <a:spcBef>
                <a:spcPts val="2219"/>
              </a:spcBef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44949" y="5316905"/>
            <a:ext cx="97971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maior</a:t>
            </a:r>
            <a:endParaRPr sz="2959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39292" y="2780477"/>
            <a:ext cx="790482" cy="2562020"/>
            <a:chOff x="800072" y="994437"/>
            <a:chExt cx="374015" cy="1212215"/>
          </a:xfrm>
        </p:grpSpPr>
        <p:sp>
          <p:nvSpPr>
            <p:cNvPr id="8" name="object 8"/>
            <p:cNvSpPr/>
            <p:nvPr/>
          </p:nvSpPr>
          <p:spPr>
            <a:xfrm>
              <a:off x="915044" y="994437"/>
              <a:ext cx="144145" cy="978535"/>
            </a:xfrm>
            <a:custGeom>
              <a:avLst/>
              <a:gdLst/>
              <a:ahLst/>
              <a:cxnLst/>
              <a:rect l="l" t="t" r="r" b="b"/>
              <a:pathLst>
                <a:path w="144144" h="978535">
                  <a:moveTo>
                    <a:pt x="0" y="978350"/>
                  </a:moveTo>
                  <a:lnTo>
                    <a:pt x="143999" y="978350"/>
                  </a:lnTo>
                  <a:lnTo>
                    <a:pt x="143999" y="0"/>
                  </a:lnTo>
                  <a:lnTo>
                    <a:pt x="0" y="0"/>
                  </a:lnTo>
                  <a:lnTo>
                    <a:pt x="0" y="978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/>
            <p:cNvSpPr/>
            <p:nvPr/>
          </p:nvSpPr>
          <p:spPr>
            <a:xfrm>
              <a:off x="800072" y="1832559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5" h="374014">
                  <a:moveTo>
                    <a:pt x="373943" y="0"/>
                  </a:moveTo>
                  <a:lnTo>
                    <a:pt x="186971" y="140228"/>
                  </a:lnTo>
                  <a:lnTo>
                    <a:pt x="0" y="0"/>
                  </a:lnTo>
                  <a:lnTo>
                    <a:pt x="186971" y="373943"/>
                  </a:lnTo>
                  <a:lnTo>
                    <a:pt x="373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78724" y="6404442"/>
            <a:ext cx="328808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53" dirty="0">
                <a:solidFill>
                  <a:srgbClr val="009380"/>
                </a:solidFill>
                <a:latin typeface="Calibri"/>
                <a:cs typeface="Calibri"/>
              </a:rPr>
              <a:t>11</a:t>
            </a:r>
            <a:endParaRPr sz="2114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531" y="894700"/>
            <a:ext cx="4741549" cy="17105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Precedência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de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2060"/>
                </a:solidFill>
                <a:latin typeface="Palatino Linotype"/>
                <a:cs typeface="Palatino Linotype"/>
              </a:rPr>
              <a:t>Operadores</a:t>
            </a:r>
            <a:endParaRPr sz="2959" dirty="0">
              <a:solidFill>
                <a:srgbClr val="002060"/>
              </a:solidFill>
              <a:latin typeface="Palatino Linotype"/>
              <a:cs typeface="Palatino Linotype"/>
            </a:endParaRPr>
          </a:p>
          <a:p>
            <a:pPr>
              <a:spcBef>
                <a:spcPts val="2388"/>
              </a:spcBef>
            </a:pPr>
            <a:endParaRPr sz="2959" dirty="0">
              <a:latin typeface="Palatino Linotype"/>
              <a:cs typeface="Palatino Linotype"/>
            </a:endParaRPr>
          </a:p>
          <a:p>
            <a:pPr marL="1372940"/>
            <a:r>
              <a:rPr sz="2959" spc="-21" dirty="0">
                <a:latin typeface="Arial"/>
                <a:cs typeface="Arial"/>
              </a:rPr>
              <a:t>menor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9832" y="2132099"/>
            <a:ext cx="889795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spc="-241" dirty="0">
                <a:latin typeface="Arial"/>
                <a:cs typeface="Arial"/>
              </a:rPr>
              <a:t>6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4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28918" y="2041187"/>
            <a:ext cx="1645383" cy="529916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3814" rIns="0" bIns="0" rtlCol="0">
            <a:spAutoFit/>
          </a:bodyPr>
          <a:lstStyle/>
          <a:p>
            <a:pPr marL="1080368">
              <a:spcBef>
                <a:spcPts val="581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8599" y="2078976"/>
            <a:ext cx="457647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-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3</a:t>
            </a:r>
            <a:endParaRPr sz="295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0855" y="2696112"/>
            <a:ext cx="481805" cy="20311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-</a:t>
            </a:r>
            <a:endParaRPr sz="2959">
              <a:latin typeface="Arial"/>
              <a:cs typeface="Arial"/>
            </a:endParaRPr>
          </a:p>
          <a:p>
            <a:pPr marL="45630">
              <a:spcBef>
                <a:spcPts val="2748"/>
              </a:spcBef>
            </a:pP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1" dirty="0">
                <a:latin typeface="Arial"/>
                <a:cs typeface="Arial"/>
              </a:rPr>
              <a:t>*</a:t>
            </a:r>
            <a:endParaRPr sz="2959">
              <a:latin typeface="Arial"/>
              <a:cs typeface="Arial"/>
            </a:endParaRPr>
          </a:p>
          <a:p>
            <a:pPr marL="76498">
              <a:spcBef>
                <a:spcPts val="2219"/>
              </a:spcBef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1726" y="5241490"/>
            <a:ext cx="97971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maior</a:t>
            </a:r>
            <a:endParaRPr sz="2959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46069" y="2705062"/>
            <a:ext cx="790482" cy="2562020"/>
            <a:chOff x="800072" y="994437"/>
            <a:chExt cx="374015" cy="1212215"/>
          </a:xfrm>
        </p:grpSpPr>
        <p:sp>
          <p:nvSpPr>
            <p:cNvPr id="9" name="object 9"/>
            <p:cNvSpPr/>
            <p:nvPr/>
          </p:nvSpPr>
          <p:spPr>
            <a:xfrm>
              <a:off x="915044" y="994437"/>
              <a:ext cx="144145" cy="978535"/>
            </a:xfrm>
            <a:custGeom>
              <a:avLst/>
              <a:gdLst/>
              <a:ahLst/>
              <a:cxnLst/>
              <a:rect l="l" t="t" r="r" b="b"/>
              <a:pathLst>
                <a:path w="144144" h="978535">
                  <a:moveTo>
                    <a:pt x="0" y="978350"/>
                  </a:moveTo>
                  <a:lnTo>
                    <a:pt x="143999" y="978350"/>
                  </a:lnTo>
                  <a:lnTo>
                    <a:pt x="143999" y="0"/>
                  </a:lnTo>
                  <a:lnTo>
                    <a:pt x="0" y="0"/>
                  </a:lnTo>
                  <a:lnTo>
                    <a:pt x="0" y="978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/>
            <p:cNvSpPr/>
            <p:nvPr/>
          </p:nvSpPr>
          <p:spPr>
            <a:xfrm>
              <a:off x="800072" y="1832559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5" h="374014">
                  <a:moveTo>
                    <a:pt x="373943" y="0"/>
                  </a:moveTo>
                  <a:lnTo>
                    <a:pt x="186971" y="140228"/>
                  </a:lnTo>
                  <a:lnTo>
                    <a:pt x="0" y="0"/>
                  </a:lnTo>
                  <a:lnTo>
                    <a:pt x="186971" y="373943"/>
                  </a:lnTo>
                  <a:lnTo>
                    <a:pt x="373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578724" y="6404442"/>
            <a:ext cx="328808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53" dirty="0">
                <a:solidFill>
                  <a:srgbClr val="009380"/>
                </a:solidFill>
                <a:latin typeface="Calibri"/>
                <a:cs typeface="Calibri"/>
              </a:rPr>
              <a:t>11</a:t>
            </a:r>
            <a:endParaRPr sz="2114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54" y="948544"/>
            <a:ext cx="4741549" cy="17105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AC8C"/>
                </a:solidFill>
                <a:latin typeface="Palatino Linotype"/>
                <a:cs typeface="Palatino Linotype"/>
              </a:rPr>
              <a:t>Precedência</a:t>
            </a:r>
            <a:r>
              <a:rPr sz="2959" b="1" spc="127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2959" b="1" dirty="0">
                <a:solidFill>
                  <a:srgbClr val="00AC8C"/>
                </a:solidFill>
                <a:latin typeface="Palatino Linotype"/>
                <a:cs typeface="Palatino Linotype"/>
              </a:rPr>
              <a:t>de</a:t>
            </a:r>
            <a:r>
              <a:rPr sz="2959" b="1" spc="127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AC8C"/>
                </a:solidFill>
                <a:latin typeface="Palatino Linotype"/>
                <a:cs typeface="Palatino Linotype"/>
              </a:rPr>
              <a:t>Operadores</a:t>
            </a:r>
            <a:endParaRPr sz="2959" dirty="0">
              <a:latin typeface="Palatino Linotype"/>
              <a:cs typeface="Palatino Linotype"/>
            </a:endParaRPr>
          </a:p>
          <a:p>
            <a:pPr>
              <a:spcBef>
                <a:spcPts val="2388"/>
              </a:spcBef>
            </a:pPr>
            <a:endParaRPr sz="2959" dirty="0">
              <a:latin typeface="Palatino Linotype"/>
              <a:cs typeface="Palatino Linotype"/>
            </a:endParaRPr>
          </a:p>
          <a:p>
            <a:pPr marL="1372940"/>
            <a:r>
              <a:rPr sz="2959" spc="-21" dirty="0">
                <a:latin typeface="Arial"/>
                <a:cs typeface="Arial"/>
              </a:rPr>
              <a:t>menor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0744" y="2223037"/>
            <a:ext cx="889795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spc="-241" dirty="0">
                <a:latin typeface="Arial"/>
                <a:cs typeface="Arial"/>
              </a:rPr>
              <a:t>6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4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9831" y="2132100"/>
            <a:ext cx="1645383" cy="529916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3814" rIns="0" bIns="0" rtlCol="0">
            <a:spAutoFit/>
          </a:bodyPr>
          <a:lstStyle/>
          <a:p>
            <a:pPr marL="1080368">
              <a:spcBef>
                <a:spcPts val="581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8918" y="2041188"/>
            <a:ext cx="2327157" cy="622068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65075" rIns="0" bIns="0" rtlCol="0">
            <a:spAutoFit/>
          </a:bodyPr>
          <a:lstStyle/>
          <a:p>
            <a:pPr marR="68444" algn="r">
              <a:spcBef>
                <a:spcPts val="1300"/>
              </a:spcBef>
            </a:pPr>
            <a:r>
              <a:rPr sz="2959" dirty="0">
                <a:latin typeface="Arial"/>
                <a:cs typeface="Arial"/>
              </a:rPr>
              <a:t>-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3</a:t>
            </a:r>
            <a:endParaRPr sz="295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9944" y="2884249"/>
            <a:ext cx="481805" cy="20311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-</a:t>
            </a:r>
            <a:endParaRPr sz="2959">
              <a:latin typeface="Arial"/>
              <a:cs typeface="Arial"/>
            </a:endParaRPr>
          </a:p>
          <a:p>
            <a:pPr marL="45630">
              <a:spcBef>
                <a:spcPts val="2748"/>
              </a:spcBef>
            </a:pP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1" dirty="0">
                <a:latin typeface="Arial"/>
                <a:cs typeface="Arial"/>
              </a:rPr>
              <a:t>*</a:t>
            </a:r>
            <a:endParaRPr sz="2959">
              <a:latin typeface="Arial"/>
              <a:cs typeface="Arial"/>
            </a:endParaRPr>
          </a:p>
          <a:p>
            <a:pPr marL="76498">
              <a:spcBef>
                <a:spcPts val="2219"/>
              </a:spcBef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0815" y="5429627"/>
            <a:ext cx="97971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maior</a:t>
            </a:r>
            <a:endParaRPr sz="2959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35158" y="2893199"/>
            <a:ext cx="790482" cy="2562020"/>
            <a:chOff x="800072" y="994437"/>
            <a:chExt cx="374015" cy="1212215"/>
          </a:xfrm>
        </p:grpSpPr>
        <p:sp>
          <p:nvSpPr>
            <p:cNvPr id="9" name="object 9"/>
            <p:cNvSpPr/>
            <p:nvPr/>
          </p:nvSpPr>
          <p:spPr>
            <a:xfrm>
              <a:off x="915044" y="994437"/>
              <a:ext cx="144145" cy="978535"/>
            </a:xfrm>
            <a:custGeom>
              <a:avLst/>
              <a:gdLst/>
              <a:ahLst/>
              <a:cxnLst/>
              <a:rect l="l" t="t" r="r" b="b"/>
              <a:pathLst>
                <a:path w="144144" h="978535">
                  <a:moveTo>
                    <a:pt x="0" y="978350"/>
                  </a:moveTo>
                  <a:lnTo>
                    <a:pt x="143999" y="978350"/>
                  </a:lnTo>
                  <a:lnTo>
                    <a:pt x="143999" y="0"/>
                  </a:lnTo>
                  <a:lnTo>
                    <a:pt x="0" y="0"/>
                  </a:lnTo>
                  <a:lnTo>
                    <a:pt x="0" y="978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/>
            <p:cNvSpPr/>
            <p:nvPr/>
          </p:nvSpPr>
          <p:spPr>
            <a:xfrm>
              <a:off x="800072" y="1832559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5" h="374014">
                  <a:moveTo>
                    <a:pt x="373943" y="0"/>
                  </a:moveTo>
                  <a:lnTo>
                    <a:pt x="186971" y="140228"/>
                  </a:lnTo>
                  <a:lnTo>
                    <a:pt x="0" y="0"/>
                  </a:lnTo>
                  <a:lnTo>
                    <a:pt x="186971" y="373943"/>
                  </a:lnTo>
                  <a:lnTo>
                    <a:pt x="373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578724" y="6404442"/>
            <a:ext cx="328808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53" dirty="0">
                <a:solidFill>
                  <a:srgbClr val="009380"/>
                </a:solidFill>
                <a:latin typeface="Calibri"/>
                <a:cs typeface="Calibri"/>
              </a:rPr>
              <a:t>11</a:t>
            </a:r>
            <a:endParaRPr sz="2114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400" y="291385"/>
            <a:ext cx="4741549" cy="17105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AC8C"/>
                </a:solidFill>
                <a:latin typeface="Palatino Linotype"/>
                <a:cs typeface="Palatino Linotype"/>
              </a:rPr>
              <a:t>Precedência</a:t>
            </a:r>
            <a:r>
              <a:rPr sz="2959" b="1" spc="127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2959" b="1" dirty="0">
                <a:solidFill>
                  <a:srgbClr val="00AC8C"/>
                </a:solidFill>
                <a:latin typeface="Palatino Linotype"/>
                <a:cs typeface="Palatino Linotype"/>
              </a:rPr>
              <a:t>de</a:t>
            </a:r>
            <a:r>
              <a:rPr sz="2959" b="1" spc="127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AC8C"/>
                </a:solidFill>
                <a:latin typeface="Palatino Linotype"/>
                <a:cs typeface="Palatino Linotype"/>
              </a:rPr>
              <a:t>Operadores</a:t>
            </a:r>
            <a:endParaRPr sz="2959">
              <a:latin typeface="Palatino Linotype"/>
              <a:cs typeface="Palatino Linotype"/>
            </a:endParaRPr>
          </a:p>
          <a:p>
            <a:pPr>
              <a:spcBef>
                <a:spcPts val="2388"/>
              </a:spcBef>
            </a:pPr>
            <a:endParaRPr sz="2959">
              <a:latin typeface="Palatino Linotype"/>
              <a:cs typeface="Palatino Linotype"/>
            </a:endParaRPr>
          </a:p>
          <a:p>
            <a:pPr marL="1372940"/>
            <a:r>
              <a:rPr sz="2959" spc="-21" dirty="0">
                <a:latin typeface="Arial"/>
                <a:cs typeface="Arial"/>
              </a:rPr>
              <a:t>menor</a:t>
            </a:r>
            <a:endParaRPr sz="2959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0744" y="2223037"/>
            <a:ext cx="889795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spc="-241" dirty="0">
                <a:latin typeface="Arial"/>
                <a:cs typeface="Arial"/>
              </a:rPr>
              <a:t>6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4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9831" y="2132100"/>
            <a:ext cx="1645383" cy="529916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3814" rIns="0" bIns="0" rtlCol="0">
            <a:spAutoFit/>
          </a:bodyPr>
          <a:lstStyle/>
          <a:p>
            <a:pPr marL="1080368">
              <a:spcBef>
                <a:spcPts val="581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8918" y="2041188"/>
            <a:ext cx="2327157" cy="622068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65075" rIns="0" bIns="0" rtlCol="0">
            <a:spAutoFit/>
          </a:bodyPr>
          <a:lstStyle/>
          <a:p>
            <a:pPr marR="68444" algn="r">
              <a:spcBef>
                <a:spcPts val="1300"/>
              </a:spcBef>
            </a:pPr>
            <a:r>
              <a:rPr sz="2959" dirty="0">
                <a:latin typeface="Arial"/>
                <a:cs typeface="Arial"/>
              </a:rPr>
              <a:t>-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3</a:t>
            </a:r>
            <a:endParaRPr sz="295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6709" y="3418847"/>
            <a:ext cx="2269448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41" dirty="0">
                <a:latin typeface="Arial"/>
                <a:cs typeface="Arial"/>
              </a:rPr>
              <a:t>3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+</a:t>
            </a:r>
            <a:r>
              <a:rPr sz="2959" spc="-169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(</a:t>
            </a:r>
            <a:r>
              <a:rPr sz="2959" spc="-95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2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-</a:t>
            </a:r>
            <a:r>
              <a:rPr sz="2959" spc="-106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2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)</a:t>
            </a:r>
            <a:r>
              <a:rPr sz="2959" spc="-95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95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724" y="2092797"/>
            <a:ext cx="481805" cy="20311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-</a:t>
            </a:r>
            <a:endParaRPr sz="2959">
              <a:latin typeface="Arial"/>
              <a:cs typeface="Arial"/>
            </a:endParaRPr>
          </a:p>
          <a:p>
            <a:pPr marL="45630">
              <a:spcBef>
                <a:spcPts val="2748"/>
              </a:spcBef>
            </a:pP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1" dirty="0">
                <a:latin typeface="Arial"/>
                <a:cs typeface="Arial"/>
              </a:rPr>
              <a:t>*</a:t>
            </a:r>
            <a:endParaRPr sz="2959">
              <a:latin typeface="Arial"/>
              <a:cs typeface="Arial"/>
            </a:endParaRPr>
          </a:p>
          <a:p>
            <a:pPr marL="76498">
              <a:spcBef>
                <a:spcPts val="2219"/>
              </a:spcBef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9595" y="4638175"/>
            <a:ext cx="97971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maior</a:t>
            </a:r>
            <a:endParaRPr sz="2959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93938" y="2101747"/>
            <a:ext cx="790482" cy="2562020"/>
            <a:chOff x="800072" y="994437"/>
            <a:chExt cx="374015" cy="1212215"/>
          </a:xfrm>
        </p:grpSpPr>
        <p:sp>
          <p:nvSpPr>
            <p:cNvPr id="10" name="object 10"/>
            <p:cNvSpPr/>
            <p:nvPr/>
          </p:nvSpPr>
          <p:spPr>
            <a:xfrm>
              <a:off x="915044" y="994437"/>
              <a:ext cx="144145" cy="978535"/>
            </a:xfrm>
            <a:custGeom>
              <a:avLst/>
              <a:gdLst/>
              <a:ahLst/>
              <a:cxnLst/>
              <a:rect l="l" t="t" r="r" b="b"/>
              <a:pathLst>
                <a:path w="144144" h="978535">
                  <a:moveTo>
                    <a:pt x="0" y="978350"/>
                  </a:moveTo>
                  <a:lnTo>
                    <a:pt x="143999" y="978350"/>
                  </a:lnTo>
                  <a:lnTo>
                    <a:pt x="143999" y="0"/>
                  </a:lnTo>
                  <a:lnTo>
                    <a:pt x="0" y="0"/>
                  </a:lnTo>
                  <a:lnTo>
                    <a:pt x="0" y="978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/>
            <p:cNvSpPr/>
            <p:nvPr/>
          </p:nvSpPr>
          <p:spPr>
            <a:xfrm>
              <a:off x="800072" y="1832559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5" h="374014">
                  <a:moveTo>
                    <a:pt x="373943" y="0"/>
                  </a:moveTo>
                  <a:lnTo>
                    <a:pt x="186971" y="140228"/>
                  </a:lnTo>
                  <a:lnTo>
                    <a:pt x="0" y="0"/>
                  </a:lnTo>
                  <a:lnTo>
                    <a:pt x="186971" y="373943"/>
                  </a:lnTo>
                  <a:lnTo>
                    <a:pt x="373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78724" y="6404442"/>
            <a:ext cx="328808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53" dirty="0">
                <a:solidFill>
                  <a:srgbClr val="009380"/>
                </a:solidFill>
                <a:latin typeface="Calibri"/>
                <a:cs typeface="Calibri"/>
              </a:rPr>
              <a:t>11</a:t>
            </a:r>
            <a:endParaRPr sz="2114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8851" y="803141"/>
            <a:ext cx="4741549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Precedência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de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 err="1">
                <a:solidFill>
                  <a:srgbClr val="002060"/>
                </a:solidFill>
                <a:latin typeface="Palatino Linotype"/>
                <a:cs typeface="Palatino Linotype"/>
              </a:rPr>
              <a:t>Operadores</a:t>
            </a:r>
            <a:endParaRPr sz="2959" dirty="0">
              <a:solidFill>
                <a:srgbClr val="002060"/>
              </a:solidFill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0744" y="2223037"/>
            <a:ext cx="889795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spc="-241" dirty="0">
                <a:latin typeface="Arial"/>
                <a:cs typeface="Arial"/>
              </a:rPr>
              <a:t>6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4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9831" y="2132100"/>
            <a:ext cx="1645383" cy="529916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3814" rIns="0" bIns="0" rtlCol="0">
            <a:spAutoFit/>
          </a:bodyPr>
          <a:lstStyle/>
          <a:p>
            <a:pPr marL="1080368">
              <a:spcBef>
                <a:spcPts val="581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8918" y="2041188"/>
            <a:ext cx="2327157" cy="622068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65075" rIns="0" bIns="0" rtlCol="0">
            <a:spAutoFit/>
          </a:bodyPr>
          <a:lstStyle/>
          <a:p>
            <a:pPr marR="68444" algn="r">
              <a:spcBef>
                <a:spcPts val="1300"/>
              </a:spcBef>
            </a:pPr>
            <a:r>
              <a:rPr sz="2959" dirty="0">
                <a:latin typeface="Arial"/>
                <a:cs typeface="Arial"/>
              </a:rPr>
              <a:t>-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3</a:t>
            </a:r>
            <a:endParaRPr sz="295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3435" y="3562911"/>
            <a:ext cx="1273629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2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-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2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6709" y="3509788"/>
            <a:ext cx="2451970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  <a:tabLst>
                <a:tab pos="1980899" algn="l"/>
              </a:tabLst>
            </a:pPr>
            <a:r>
              <a:rPr sz="2959" spc="-241" dirty="0">
                <a:latin typeface="Arial"/>
                <a:cs typeface="Arial"/>
              </a:rPr>
              <a:t>3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+</a:t>
            </a:r>
            <a:r>
              <a:rPr sz="2959" dirty="0">
                <a:latin typeface="Arial"/>
                <a:cs typeface="Arial"/>
              </a:rPr>
              <a:t>	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2229" y="2624842"/>
            <a:ext cx="481805" cy="20311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-</a:t>
            </a:r>
            <a:endParaRPr sz="2959" dirty="0">
              <a:latin typeface="Arial"/>
              <a:cs typeface="Arial"/>
            </a:endParaRPr>
          </a:p>
          <a:p>
            <a:pPr marL="45630">
              <a:spcBef>
                <a:spcPts val="2748"/>
              </a:spcBef>
            </a:pP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1" dirty="0">
                <a:latin typeface="Arial"/>
                <a:cs typeface="Arial"/>
              </a:rPr>
              <a:t>*</a:t>
            </a:r>
            <a:endParaRPr sz="2959" dirty="0">
              <a:latin typeface="Arial"/>
              <a:cs typeface="Arial"/>
            </a:endParaRPr>
          </a:p>
          <a:p>
            <a:pPr marL="76498">
              <a:spcBef>
                <a:spcPts val="2219"/>
              </a:spcBef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578724" y="6404442"/>
            <a:ext cx="328808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53" dirty="0">
                <a:solidFill>
                  <a:srgbClr val="009380"/>
                </a:solidFill>
                <a:latin typeface="Calibri"/>
                <a:cs typeface="Calibri"/>
              </a:rPr>
              <a:t>11</a:t>
            </a:r>
            <a:endParaRPr sz="2114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46332E8D-7CD3-4E8D-9CCA-793EAFB44DCD}"/>
              </a:ext>
            </a:extLst>
          </p:cNvPr>
          <p:cNvSpPr txBox="1"/>
          <p:nvPr/>
        </p:nvSpPr>
        <p:spPr>
          <a:xfrm>
            <a:off x="1483100" y="5195647"/>
            <a:ext cx="97971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maior</a:t>
            </a:r>
            <a:endParaRPr sz="2959" dirty="0">
              <a:latin typeface="Arial"/>
              <a:cs typeface="Arial"/>
            </a:endParaRPr>
          </a:p>
        </p:txBody>
      </p:sp>
      <p:grpSp>
        <p:nvGrpSpPr>
          <p:cNvPr id="16" name="object 10">
            <a:extLst>
              <a:ext uri="{FF2B5EF4-FFF2-40B4-BE49-F238E27FC236}">
                <a16:creationId xmlns:a16="http://schemas.microsoft.com/office/drawing/2014/main" id="{58574E32-58BC-88E7-ABE5-438324848B46}"/>
              </a:ext>
            </a:extLst>
          </p:cNvPr>
          <p:cNvGrpSpPr/>
          <p:nvPr/>
        </p:nvGrpSpPr>
        <p:grpSpPr>
          <a:xfrm>
            <a:off x="1606788" y="2659054"/>
            <a:ext cx="790482" cy="2562020"/>
            <a:chOff x="800072" y="994437"/>
            <a:chExt cx="374015" cy="1212215"/>
          </a:xfrm>
        </p:grpSpPr>
        <p:sp>
          <p:nvSpPr>
            <p:cNvPr id="17" name="object 11">
              <a:extLst>
                <a:ext uri="{FF2B5EF4-FFF2-40B4-BE49-F238E27FC236}">
                  <a16:creationId xmlns:a16="http://schemas.microsoft.com/office/drawing/2014/main" id="{E190720B-1FEE-7EAA-89C4-ADEAA255AD8F}"/>
                </a:ext>
              </a:extLst>
            </p:cNvPr>
            <p:cNvSpPr/>
            <p:nvPr/>
          </p:nvSpPr>
          <p:spPr>
            <a:xfrm>
              <a:off x="915044" y="994437"/>
              <a:ext cx="144145" cy="978535"/>
            </a:xfrm>
            <a:custGeom>
              <a:avLst/>
              <a:gdLst/>
              <a:ahLst/>
              <a:cxnLst/>
              <a:rect l="l" t="t" r="r" b="b"/>
              <a:pathLst>
                <a:path w="144144" h="978535">
                  <a:moveTo>
                    <a:pt x="0" y="978350"/>
                  </a:moveTo>
                  <a:lnTo>
                    <a:pt x="143999" y="978350"/>
                  </a:lnTo>
                  <a:lnTo>
                    <a:pt x="143999" y="0"/>
                  </a:lnTo>
                  <a:lnTo>
                    <a:pt x="0" y="0"/>
                  </a:lnTo>
                  <a:lnTo>
                    <a:pt x="0" y="978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2F3FE334-1088-8BA3-1632-184BD150515C}"/>
                </a:ext>
              </a:extLst>
            </p:cNvPr>
            <p:cNvSpPr/>
            <p:nvPr/>
          </p:nvSpPr>
          <p:spPr>
            <a:xfrm>
              <a:off x="800072" y="1832559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5" h="374014">
                  <a:moveTo>
                    <a:pt x="373943" y="0"/>
                  </a:moveTo>
                  <a:lnTo>
                    <a:pt x="186971" y="140228"/>
                  </a:lnTo>
                  <a:lnTo>
                    <a:pt x="0" y="0"/>
                  </a:lnTo>
                  <a:lnTo>
                    <a:pt x="186971" y="373943"/>
                  </a:lnTo>
                  <a:lnTo>
                    <a:pt x="373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9" name="object 9">
            <a:extLst>
              <a:ext uri="{FF2B5EF4-FFF2-40B4-BE49-F238E27FC236}">
                <a16:creationId xmlns:a16="http://schemas.microsoft.com/office/drawing/2014/main" id="{D5BAD431-C16C-7487-4087-FEE29063C2F9}"/>
              </a:ext>
            </a:extLst>
          </p:cNvPr>
          <p:cNvSpPr txBox="1"/>
          <p:nvPr/>
        </p:nvSpPr>
        <p:spPr>
          <a:xfrm>
            <a:off x="1465505" y="2060332"/>
            <a:ext cx="1438529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</a:t>
            </a:r>
            <a:r>
              <a:rPr lang="pt-BR" sz="2959" spc="-21" dirty="0" err="1">
                <a:latin typeface="Arial"/>
                <a:cs typeface="Arial"/>
              </a:rPr>
              <a:t>enor</a:t>
            </a:r>
            <a:endParaRPr sz="2959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2267" y="925854"/>
            <a:ext cx="6948272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Precedência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de</a:t>
            </a:r>
            <a:r>
              <a:rPr sz="2959" b="1" spc="127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 err="1">
                <a:solidFill>
                  <a:srgbClr val="002060"/>
                </a:solidFill>
                <a:latin typeface="Palatino Linotype"/>
                <a:cs typeface="Palatino Linotype"/>
              </a:rPr>
              <a:t>Operadores</a:t>
            </a:r>
            <a:endParaRPr sz="2959" dirty="0">
              <a:solidFill>
                <a:srgbClr val="002060"/>
              </a:solidFill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0744" y="2223037"/>
            <a:ext cx="889795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spc="-241" dirty="0">
                <a:latin typeface="Arial"/>
                <a:cs typeface="Arial"/>
              </a:rPr>
              <a:t>6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4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9831" y="2132100"/>
            <a:ext cx="1645383" cy="529916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3814" rIns="0" bIns="0" rtlCol="0">
            <a:spAutoFit/>
          </a:bodyPr>
          <a:lstStyle/>
          <a:p>
            <a:pPr marL="1080368">
              <a:spcBef>
                <a:spcPts val="581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8918" y="2041188"/>
            <a:ext cx="2327157" cy="622068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65075" rIns="0" bIns="0" rtlCol="0">
            <a:spAutoFit/>
          </a:bodyPr>
          <a:lstStyle/>
          <a:p>
            <a:pPr marR="68444" algn="r">
              <a:spcBef>
                <a:spcPts val="1300"/>
              </a:spcBef>
            </a:pPr>
            <a:r>
              <a:rPr sz="2959" dirty="0">
                <a:latin typeface="Arial"/>
                <a:cs typeface="Arial"/>
              </a:rPr>
              <a:t>-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3</a:t>
            </a:r>
            <a:endParaRPr sz="295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6709" y="3600700"/>
            <a:ext cx="53280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41" dirty="0">
                <a:latin typeface="Arial"/>
                <a:cs typeface="Arial"/>
              </a:rPr>
              <a:t>3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+</a:t>
            </a:r>
            <a:endParaRPr sz="295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4347" y="3653824"/>
            <a:ext cx="1273629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2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-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2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3434" y="3562913"/>
            <a:ext cx="1994323" cy="529916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3814" rIns="0" bIns="0" rtlCol="0">
            <a:spAutoFit/>
          </a:bodyPr>
          <a:lstStyle/>
          <a:p>
            <a:pPr marR="68444" algn="r">
              <a:spcBef>
                <a:spcPts val="581"/>
              </a:spcBef>
            </a:pP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2398" y="2684277"/>
            <a:ext cx="481805" cy="20311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-</a:t>
            </a:r>
            <a:endParaRPr sz="2959" dirty="0">
              <a:latin typeface="Arial"/>
              <a:cs typeface="Arial"/>
            </a:endParaRPr>
          </a:p>
          <a:p>
            <a:pPr marL="45630">
              <a:spcBef>
                <a:spcPts val="2748"/>
              </a:spcBef>
            </a:pP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1" dirty="0">
                <a:latin typeface="Arial"/>
                <a:cs typeface="Arial"/>
              </a:rPr>
              <a:t>*</a:t>
            </a:r>
            <a:endParaRPr sz="2959" dirty="0">
              <a:latin typeface="Arial"/>
              <a:cs typeface="Arial"/>
            </a:endParaRPr>
          </a:p>
          <a:p>
            <a:pPr marL="76498">
              <a:spcBef>
                <a:spcPts val="2219"/>
              </a:spcBef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4914" y="5083289"/>
            <a:ext cx="97971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maior</a:t>
            </a:r>
            <a:endParaRPr sz="2959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19257" y="2546861"/>
            <a:ext cx="790482" cy="2562020"/>
            <a:chOff x="800072" y="994437"/>
            <a:chExt cx="374015" cy="1212215"/>
          </a:xfrm>
        </p:grpSpPr>
        <p:sp>
          <p:nvSpPr>
            <p:cNvPr id="12" name="object 12"/>
            <p:cNvSpPr/>
            <p:nvPr/>
          </p:nvSpPr>
          <p:spPr>
            <a:xfrm>
              <a:off x="915044" y="994437"/>
              <a:ext cx="144145" cy="978535"/>
            </a:xfrm>
            <a:custGeom>
              <a:avLst/>
              <a:gdLst/>
              <a:ahLst/>
              <a:cxnLst/>
              <a:rect l="l" t="t" r="r" b="b"/>
              <a:pathLst>
                <a:path w="144144" h="978535">
                  <a:moveTo>
                    <a:pt x="0" y="978350"/>
                  </a:moveTo>
                  <a:lnTo>
                    <a:pt x="143999" y="978350"/>
                  </a:lnTo>
                  <a:lnTo>
                    <a:pt x="143999" y="0"/>
                  </a:lnTo>
                  <a:lnTo>
                    <a:pt x="0" y="0"/>
                  </a:lnTo>
                  <a:lnTo>
                    <a:pt x="0" y="978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/>
            <p:cNvSpPr/>
            <p:nvPr/>
          </p:nvSpPr>
          <p:spPr>
            <a:xfrm>
              <a:off x="800072" y="1832559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5" h="374014">
                  <a:moveTo>
                    <a:pt x="373943" y="0"/>
                  </a:moveTo>
                  <a:lnTo>
                    <a:pt x="186971" y="140228"/>
                  </a:lnTo>
                  <a:lnTo>
                    <a:pt x="0" y="0"/>
                  </a:lnTo>
                  <a:lnTo>
                    <a:pt x="186971" y="373943"/>
                  </a:lnTo>
                  <a:lnTo>
                    <a:pt x="373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578724" y="6404442"/>
            <a:ext cx="328808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53" dirty="0">
                <a:solidFill>
                  <a:srgbClr val="009380"/>
                </a:solidFill>
                <a:latin typeface="Calibri"/>
                <a:cs typeface="Calibri"/>
              </a:rPr>
              <a:t>11</a:t>
            </a:r>
            <a:endParaRPr sz="2114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D84AC88-25EA-34C2-D784-A9F7C7B64B3A}"/>
              </a:ext>
            </a:extLst>
          </p:cNvPr>
          <p:cNvSpPr txBox="1"/>
          <p:nvPr/>
        </p:nvSpPr>
        <p:spPr>
          <a:xfrm>
            <a:off x="1456411" y="1856270"/>
            <a:ext cx="13161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menor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241" y="781142"/>
            <a:ext cx="4741549" cy="17105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AC8C"/>
                </a:solidFill>
                <a:latin typeface="Palatino Linotype"/>
                <a:cs typeface="Palatino Linotype"/>
              </a:rPr>
              <a:t>Precedência</a:t>
            </a:r>
            <a:r>
              <a:rPr sz="2959" b="1" spc="127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2959" b="1" dirty="0">
                <a:solidFill>
                  <a:srgbClr val="00AC8C"/>
                </a:solidFill>
                <a:latin typeface="Palatino Linotype"/>
                <a:cs typeface="Palatino Linotype"/>
              </a:rPr>
              <a:t>de</a:t>
            </a:r>
            <a:r>
              <a:rPr sz="2959" b="1" spc="127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AC8C"/>
                </a:solidFill>
                <a:latin typeface="Palatino Linotype"/>
                <a:cs typeface="Palatino Linotype"/>
              </a:rPr>
              <a:t>Operadores</a:t>
            </a:r>
            <a:endParaRPr sz="2959" dirty="0">
              <a:latin typeface="Palatino Linotype"/>
              <a:cs typeface="Palatino Linotype"/>
            </a:endParaRPr>
          </a:p>
          <a:p>
            <a:pPr>
              <a:spcBef>
                <a:spcPts val="2388"/>
              </a:spcBef>
            </a:pPr>
            <a:endParaRPr sz="2959" dirty="0">
              <a:latin typeface="Palatino Linotype"/>
              <a:cs typeface="Palatino Linotype"/>
            </a:endParaRPr>
          </a:p>
          <a:p>
            <a:pPr marL="1372940"/>
            <a:r>
              <a:rPr sz="2959" spc="-21" dirty="0">
                <a:latin typeface="Arial"/>
                <a:cs typeface="Arial"/>
              </a:rPr>
              <a:t>menor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0744" y="2223037"/>
            <a:ext cx="889795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spc="-241" dirty="0">
                <a:latin typeface="Arial"/>
                <a:cs typeface="Arial"/>
              </a:rPr>
              <a:t>6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4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19831" y="2132100"/>
            <a:ext cx="1645383" cy="529916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3814" rIns="0" bIns="0" rtlCol="0">
            <a:spAutoFit/>
          </a:bodyPr>
          <a:lstStyle/>
          <a:p>
            <a:pPr marL="1080368">
              <a:spcBef>
                <a:spcPts val="581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8918" y="2041188"/>
            <a:ext cx="2327157" cy="622068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65075" rIns="0" bIns="0" rtlCol="0">
            <a:spAutoFit/>
          </a:bodyPr>
          <a:lstStyle/>
          <a:p>
            <a:pPr marR="68444" algn="r">
              <a:spcBef>
                <a:spcPts val="1300"/>
              </a:spcBef>
            </a:pPr>
            <a:r>
              <a:rPr sz="2959" dirty="0">
                <a:latin typeface="Arial"/>
                <a:cs typeface="Arial"/>
              </a:rPr>
              <a:t>-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3</a:t>
            </a:r>
            <a:endParaRPr sz="295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8918" y="3562913"/>
            <a:ext cx="2751252" cy="622068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165075" rIns="0" bIns="0" rtlCol="0">
            <a:spAutoFit/>
          </a:bodyPr>
          <a:lstStyle/>
          <a:p>
            <a:pPr marL="84551">
              <a:spcBef>
                <a:spcPts val="1300"/>
              </a:spcBef>
            </a:pPr>
            <a:r>
              <a:rPr sz="2959" spc="-241" dirty="0">
                <a:latin typeface="Arial"/>
                <a:cs typeface="Arial"/>
              </a:rPr>
              <a:t>3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+</a:t>
            </a:r>
            <a:endParaRPr sz="295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85285" y="3744761"/>
            <a:ext cx="1273629" cy="436017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551">
              <a:lnSpc>
                <a:spcPts val="3411"/>
              </a:lnSpc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2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-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2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94346" y="3653825"/>
            <a:ext cx="1994323" cy="529916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73814" rIns="0" bIns="0" rtlCol="0">
            <a:spAutoFit/>
          </a:bodyPr>
          <a:lstStyle/>
          <a:p>
            <a:pPr marR="68444" algn="r">
              <a:spcBef>
                <a:spcPts val="581"/>
              </a:spcBef>
            </a:pPr>
            <a:r>
              <a:rPr sz="2959" spc="137" dirty="0">
                <a:latin typeface="Arial"/>
                <a:cs typeface="Arial"/>
              </a:rPr>
              <a:t>*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5</a:t>
            </a:r>
            <a:endParaRPr sz="2959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79626" y="2684277"/>
            <a:ext cx="481805" cy="2031110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dirty="0">
                <a:latin typeface="Arial"/>
                <a:cs typeface="Arial"/>
              </a:rPr>
              <a:t>+</a:t>
            </a:r>
            <a:r>
              <a:rPr sz="2959" spc="-20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-</a:t>
            </a:r>
            <a:endParaRPr sz="2959" dirty="0">
              <a:latin typeface="Arial"/>
              <a:cs typeface="Arial"/>
            </a:endParaRPr>
          </a:p>
          <a:p>
            <a:pPr marL="45630">
              <a:spcBef>
                <a:spcPts val="2748"/>
              </a:spcBef>
            </a:pP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11" dirty="0">
                <a:latin typeface="Arial"/>
                <a:cs typeface="Arial"/>
              </a:rPr>
              <a:t>*</a:t>
            </a:r>
            <a:endParaRPr sz="2959" dirty="0">
              <a:latin typeface="Arial"/>
              <a:cs typeface="Arial"/>
            </a:endParaRPr>
          </a:p>
          <a:p>
            <a:pPr marL="76498">
              <a:spcBef>
                <a:spcPts val="2219"/>
              </a:spcBef>
            </a:pPr>
            <a:r>
              <a:rPr sz="2959" dirty="0">
                <a:latin typeface="Arial"/>
                <a:cs typeface="Arial"/>
              </a:rPr>
              <a:t>(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)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9010" y="5189576"/>
            <a:ext cx="979714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21" dirty="0">
                <a:latin typeface="Arial"/>
                <a:cs typeface="Arial"/>
              </a:rPr>
              <a:t>maior</a:t>
            </a:r>
            <a:endParaRPr sz="2959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93938" y="2568126"/>
            <a:ext cx="790482" cy="2562020"/>
            <a:chOff x="800072" y="994437"/>
            <a:chExt cx="374015" cy="1212215"/>
          </a:xfrm>
        </p:grpSpPr>
        <p:sp>
          <p:nvSpPr>
            <p:cNvPr id="12" name="object 12"/>
            <p:cNvSpPr/>
            <p:nvPr/>
          </p:nvSpPr>
          <p:spPr>
            <a:xfrm>
              <a:off x="915044" y="994437"/>
              <a:ext cx="144145" cy="978535"/>
            </a:xfrm>
            <a:custGeom>
              <a:avLst/>
              <a:gdLst/>
              <a:ahLst/>
              <a:cxnLst/>
              <a:rect l="l" t="t" r="r" b="b"/>
              <a:pathLst>
                <a:path w="144144" h="978535">
                  <a:moveTo>
                    <a:pt x="0" y="978350"/>
                  </a:moveTo>
                  <a:lnTo>
                    <a:pt x="143999" y="978350"/>
                  </a:lnTo>
                  <a:lnTo>
                    <a:pt x="143999" y="0"/>
                  </a:lnTo>
                  <a:lnTo>
                    <a:pt x="0" y="0"/>
                  </a:lnTo>
                  <a:lnTo>
                    <a:pt x="0" y="978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/>
            <p:cNvSpPr/>
            <p:nvPr/>
          </p:nvSpPr>
          <p:spPr>
            <a:xfrm>
              <a:off x="800072" y="1832559"/>
              <a:ext cx="374015" cy="374015"/>
            </a:xfrm>
            <a:custGeom>
              <a:avLst/>
              <a:gdLst/>
              <a:ahLst/>
              <a:cxnLst/>
              <a:rect l="l" t="t" r="r" b="b"/>
              <a:pathLst>
                <a:path w="374015" h="374014">
                  <a:moveTo>
                    <a:pt x="373943" y="0"/>
                  </a:moveTo>
                  <a:lnTo>
                    <a:pt x="186971" y="140228"/>
                  </a:lnTo>
                  <a:lnTo>
                    <a:pt x="0" y="0"/>
                  </a:lnTo>
                  <a:lnTo>
                    <a:pt x="186971" y="373943"/>
                  </a:lnTo>
                  <a:lnTo>
                    <a:pt x="373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4" name="object 1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2982" y="0"/>
            <a:ext cx="0" cy="683216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80524">
              <a:spcBef>
                <a:spcPts val="254"/>
              </a:spcBef>
            </a:pPr>
            <a:r>
              <a:rPr spc="-53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096" y="933448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Operadores</a:t>
            </a:r>
            <a:r>
              <a:rPr spc="-74" dirty="0"/>
              <a:t> </a:t>
            </a:r>
            <a:r>
              <a:rPr spc="-21" dirty="0"/>
              <a:t>Relacionais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24">
              <a:spcBef>
                <a:spcPts val="254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19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280469" y="2146237"/>
            <a:ext cx="7068706" cy="2246806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48" dirty="0">
                <a:latin typeface="Calibri"/>
                <a:cs typeface="Calibri"/>
              </a:rPr>
              <a:t>Utilizados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fazer</a:t>
            </a:r>
            <a:r>
              <a:rPr sz="2959" b="1" spc="127" dirty="0">
                <a:latin typeface="Calibri"/>
                <a:cs typeface="Calibri"/>
              </a:rPr>
              <a:t> comparações</a:t>
            </a:r>
            <a:endParaRPr sz="2959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37" dirty="0">
                <a:latin typeface="Arial"/>
                <a:cs typeface="Arial"/>
              </a:rPr>
              <a:t>respodem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como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verdadeiro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(true)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ou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falso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(false)</a:t>
            </a:r>
            <a:endParaRPr sz="2536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90" dirty="0">
                <a:latin typeface="Calibri"/>
                <a:cs typeface="Calibri"/>
              </a:rPr>
              <a:t>Exemplos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de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06" dirty="0">
                <a:latin typeface="Calibri"/>
                <a:cs typeface="Calibri"/>
              </a:rPr>
              <a:t>operadores</a:t>
            </a:r>
            <a:endParaRPr sz="2959">
              <a:latin typeface="Calibri"/>
              <a:cs typeface="Calibri"/>
            </a:endParaRPr>
          </a:p>
          <a:p>
            <a:pPr marL="662984" lvl="1" indent="-332834">
              <a:spcBef>
                <a:spcPts val="423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22" dirty="0">
                <a:latin typeface="Arial"/>
                <a:cs typeface="Arial"/>
              </a:rPr>
              <a:t>&gt;,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&lt;,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!=,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==,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&gt;=,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&lt;=</a:t>
            </a:r>
            <a:endParaRPr sz="253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345" y="877005"/>
            <a:ext cx="4164457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Operadores</a:t>
            </a:r>
            <a:r>
              <a:rPr sz="2959" b="1" spc="-74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2060"/>
                </a:solidFill>
                <a:latin typeface="Palatino Linotype"/>
                <a:cs typeface="Palatino Linotype"/>
              </a:rPr>
              <a:t>Relacionais</a:t>
            </a:r>
            <a:endParaRPr sz="2959" dirty="0">
              <a:solidFill>
                <a:srgbClr val="002060"/>
              </a:solidFill>
              <a:latin typeface="Palatino Linotype"/>
              <a:cs typeface="Palatino Linotype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484772"/>
              </p:ext>
            </p:extLst>
          </p:nvPr>
        </p:nvGraphicFramePr>
        <p:xfrm>
          <a:off x="307311" y="1708341"/>
          <a:ext cx="11407633" cy="3577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3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198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500" b="1" spc="40" dirty="0">
                          <a:latin typeface="Calibri"/>
                          <a:cs typeface="Calibri"/>
                        </a:rPr>
                        <a:t>Operador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44288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500" b="1" spc="-10" dirty="0">
                          <a:latin typeface="Calibri"/>
                          <a:cs typeface="Calibri"/>
                        </a:rPr>
                        <a:t>Representação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44288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500" b="1" spc="45" dirty="0">
                          <a:latin typeface="Calibri"/>
                          <a:cs typeface="Calibri"/>
                        </a:rPr>
                        <a:t>Exemplo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44288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951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500" spc="-10" dirty="0">
                          <a:latin typeface="Arial"/>
                          <a:cs typeface="Arial"/>
                        </a:rPr>
                        <a:t>Maior</a:t>
                      </a:r>
                      <a:r>
                        <a:rPr sz="25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25" dirty="0">
                          <a:latin typeface="Arial"/>
                          <a:cs typeface="Arial"/>
                        </a:rPr>
                        <a:t>que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89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500" spc="-50" dirty="0">
                          <a:latin typeface="Arial"/>
                          <a:cs typeface="Arial"/>
                        </a:rPr>
                        <a:t>&gt;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89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marR="5524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500" spc="-114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5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40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80" dirty="0">
                          <a:latin typeface="Arial"/>
                          <a:cs typeface="Arial"/>
                        </a:rPr>
                        <a:t>b:</a:t>
                      </a:r>
                      <a:r>
                        <a:rPr sz="25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85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8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5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14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25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50" dirty="0">
                          <a:latin typeface="Calibri"/>
                          <a:cs typeface="Calibri"/>
                        </a:rPr>
                        <a:t>maior</a:t>
                      </a:r>
                      <a:r>
                        <a:rPr sz="25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75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85" dirty="0">
                          <a:latin typeface="Arial"/>
                          <a:cs typeface="Arial"/>
                        </a:rPr>
                        <a:t>que</a:t>
                      </a:r>
                      <a:r>
                        <a:rPr sz="25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8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6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2500" spc="-9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5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10" dirty="0">
                          <a:latin typeface="Arial"/>
                          <a:cs typeface="Arial"/>
                        </a:rPr>
                        <a:t>Senão,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5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r>
                        <a:rPr sz="2500" spc="-10" dirty="0">
                          <a:latin typeface="Arial"/>
                          <a:cs typeface="Arial"/>
                        </a:rPr>
                        <a:t>.</a:t>
                      </a: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59049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951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500" spc="-10" dirty="0">
                          <a:latin typeface="Arial"/>
                          <a:cs typeface="Arial"/>
                        </a:rPr>
                        <a:t>Maior</a:t>
                      </a:r>
                      <a:r>
                        <a:rPr sz="25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0" dirty="0">
                          <a:latin typeface="Arial"/>
                          <a:cs typeface="Arial"/>
                        </a:rPr>
                        <a:t>ou</a:t>
                      </a:r>
                      <a:r>
                        <a:rPr sz="25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20" dirty="0">
                          <a:latin typeface="Arial"/>
                          <a:cs typeface="Arial"/>
                        </a:rPr>
                        <a:t>igual</a:t>
                      </a:r>
                      <a:r>
                        <a:rPr sz="25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0" dirty="0">
                          <a:latin typeface="Arial"/>
                          <a:cs typeface="Arial"/>
                        </a:rPr>
                        <a:t>a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89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500" spc="-25" dirty="0">
                          <a:latin typeface="Arial"/>
                          <a:cs typeface="Arial"/>
                        </a:rPr>
                        <a:t>&gt;=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89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marR="52069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500" spc="-114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20" dirty="0">
                          <a:latin typeface="Arial"/>
                          <a:cs typeface="Arial"/>
                        </a:rPr>
                        <a:t>&gt;=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85" dirty="0">
                          <a:latin typeface="Arial"/>
                          <a:cs typeface="Arial"/>
                        </a:rPr>
                        <a:t>b:</a:t>
                      </a:r>
                      <a:r>
                        <a:rPr sz="25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85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25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8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5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5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14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5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2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25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50" dirty="0">
                          <a:latin typeface="Calibri"/>
                          <a:cs typeface="Calibri"/>
                        </a:rPr>
                        <a:t>maior</a:t>
                      </a:r>
                      <a:r>
                        <a:rPr sz="25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b="1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25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b="1" spc="55" dirty="0">
                          <a:latin typeface="Calibri"/>
                          <a:cs typeface="Calibri"/>
                        </a:rPr>
                        <a:t>igual</a:t>
                      </a:r>
                      <a:r>
                        <a:rPr sz="25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ao</a:t>
                      </a:r>
                      <a:r>
                        <a:rPr sz="25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valor </a:t>
                      </a:r>
                      <a:r>
                        <a:rPr sz="2500" spc="-8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5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9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5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5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10" dirty="0">
                          <a:latin typeface="Arial"/>
                          <a:cs typeface="Arial"/>
                        </a:rPr>
                        <a:t>Senão,</a:t>
                      </a:r>
                      <a:r>
                        <a:rPr sz="25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r>
                        <a:rPr sz="2500" spc="-10" dirty="0">
                          <a:latin typeface="Arial"/>
                          <a:cs typeface="Arial"/>
                        </a:rPr>
                        <a:t>.</a:t>
                      </a:r>
                      <a:endParaRPr sz="2500" dirty="0">
                        <a:latin typeface="Arial"/>
                        <a:cs typeface="Arial"/>
                      </a:endParaRPr>
                    </a:p>
                  </a:txBody>
                  <a:tcPr marL="0" marR="0" marT="59049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9321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500" spc="-25" dirty="0">
                          <a:latin typeface="Arial"/>
                          <a:cs typeface="Arial"/>
                        </a:rPr>
                        <a:t>Menor</a:t>
                      </a:r>
                      <a:r>
                        <a:rPr sz="25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25" dirty="0">
                          <a:latin typeface="Arial"/>
                          <a:cs typeface="Arial"/>
                        </a:rPr>
                        <a:t>que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89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500" spc="-50" dirty="0">
                          <a:latin typeface="Arial"/>
                          <a:cs typeface="Arial"/>
                        </a:rPr>
                        <a:t>&lt;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389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marR="3810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2500" spc="-114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4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75" dirty="0">
                          <a:latin typeface="Arial"/>
                          <a:cs typeface="Arial"/>
                        </a:rPr>
                        <a:t>b:</a:t>
                      </a:r>
                      <a:r>
                        <a:rPr sz="25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85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8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14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dirty="0">
                          <a:latin typeface="Calibri"/>
                          <a:cs typeface="Calibri"/>
                        </a:rPr>
                        <a:t>menor</a:t>
                      </a:r>
                      <a:r>
                        <a:rPr sz="2500" b="1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500" spc="-85" dirty="0">
                          <a:latin typeface="Arial"/>
                          <a:cs typeface="Arial"/>
                        </a:rPr>
                        <a:t>que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8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5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40" dirty="0">
                          <a:latin typeface="Arial"/>
                          <a:cs typeface="Arial"/>
                        </a:rPr>
                        <a:t>b, 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5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110" dirty="0">
                          <a:latin typeface="Arial"/>
                          <a:cs typeface="Arial"/>
                        </a:rPr>
                        <a:t>Senão,</a:t>
                      </a:r>
                      <a:r>
                        <a:rPr sz="25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spc="-35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5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endParaRPr sz="2500" dirty="0">
                        <a:latin typeface="Calibri"/>
                        <a:cs typeface="Calibri"/>
                      </a:endParaRPr>
                    </a:p>
                  </a:txBody>
                  <a:tcPr marL="0" marR="0" marT="59049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5485" y="913555"/>
            <a:ext cx="4164457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b="1" dirty="0">
                <a:solidFill>
                  <a:srgbClr val="002060"/>
                </a:solidFill>
                <a:latin typeface="Palatino Linotype"/>
                <a:cs typeface="Palatino Linotype"/>
              </a:rPr>
              <a:t>Operadores</a:t>
            </a:r>
            <a:r>
              <a:rPr sz="2959" b="1" spc="-74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2959" b="1" spc="-21" dirty="0">
                <a:solidFill>
                  <a:srgbClr val="002060"/>
                </a:solidFill>
                <a:latin typeface="Palatino Linotype"/>
                <a:cs typeface="Palatino Linotype"/>
              </a:rPr>
              <a:t>Relacionais</a:t>
            </a:r>
            <a:endParaRPr sz="2959" dirty="0">
              <a:solidFill>
                <a:srgbClr val="002060"/>
              </a:solidFill>
              <a:latin typeface="Palatino Linotype"/>
              <a:cs typeface="Palatino Linotype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7310" y="1717379"/>
          <a:ext cx="11408973" cy="3267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6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72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65" dirty="0">
                          <a:latin typeface="Calibri"/>
                          <a:cs typeface="Calibri"/>
                        </a:rPr>
                        <a:t>Operador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55023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45" dirty="0">
                          <a:latin typeface="Calibri"/>
                          <a:cs typeface="Calibri"/>
                        </a:rPr>
                        <a:t>Representação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55023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b="1" spc="70" dirty="0">
                          <a:latin typeface="Calibri"/>
                          <a:cs typeface="Calibri"/>
                        </a:rPr>
                        <a:t>Exemplo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55023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584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Menor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ou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igual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657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&lt;=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657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54610" indent="3175">
                        <a:lnSpc>
                          <a:spcPct val="101099"/>
                        </a:lnSpc>
                        <a:spcBef>
                          <a:spcPts val="17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&lt;=</a:t>
                      </a:r>
                      <a:r>
                        <a:rPr sz="2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b:</a:t>
                      </a:r>
                      <a:r>
                        <a:rPr sz="24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30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24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2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75" dirty="0">
                          <a:latin typeface="Calibri"/>
                          <a:cs typeface="Calibri"/>
                        </a:rPr>
                        <a:t>menor</a:t>
                      </a:r>
                      <a:r>
                        <a:rPr sz="2400" b="1" spc="65" dirty="0">
                          <a:latin typeface="Calibri"/>
                          <a:cs typeface="Calibri"/>
                        </a:rPr>
                        <a:t> ou</a:t>
                      </a:r>
                      <a:r>
                        <a:rPr sz="2400" b="1" spc="75" dirty="0">
                          <a:latin typeface="Calibri"/>
                          <a:cs typeface="Calibri"/>
                        </a:rPr>
                        <a:t> igual</a:t>
                      </a:r>
                      <a:r>
                        <a:rPr sz="2400" b="1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ao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de,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4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latin typeface="Arial"/>
                          <a:cs typeface="Arial"/>
                        </a:rPr>
                        <a:t>Senão,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45631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584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igual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 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657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==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657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 marR="38100">
                        <a:lnSpc>
                          <a:spcPct val="101200"/>
                        </a:lnSpc>
                        <a:spcBef>
                          <a:spcPts val="17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==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b:</a:t>
                      </a:r>
                      <a:r>
                        <a:rPr sz="24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2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75" dirty="0">
                          <a:latin typeface="Calibri"/>
                          <a:cs typeface="Calibri"/>
                        </a:rPr>
                        <a:t>igual</a:t>
                      </a:r>
                      <a:r>
                        <a:rPr sz="2400" b="1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ao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b,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4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4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latin typeface="Arial"/>
                          <a:cs typeface="Arial"/>
                        </a:rPr>
                        <a:t>Senão,</a:t>
                      </a:r>
                      <a:r>
                        <a:rPr sz="24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4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.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5631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611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diferente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de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657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!=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9657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 marR="38100">
                        <a:lnSpc>
                          <a:spcPct val="101099"/>
                        </a:lnSpc>
                        <a:spcBef>
                          <a:spcPts val="170"/>
                        </a:spcBef>
                      </a:pPr>
                      <a:r>
                        <a:rPr sz="2400" spc="-9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!=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b:</a:t>
                      </a:r>
                      <a:r>
                        <a:rPr sz="24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25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9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50" dirty="0">
                          <a:latin typeface="Calibri"/>
                          <a:cs typeface="Calibri"/>
                        </a:rPr>
                        <a:t>diferente</a:t>
                      </a:r>
                      <a:r>
                        <a:rPr sz="2400" b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2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b,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4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24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80" dirty="0">
                          <a:latin typeface="Arial"/>
                          <a:cs typeface="Arial"/>
                        </a:rPr>
                        <a:t>Senão,</a:t>
                      </a:r>
                      <a:r>
                        <a:rPr sz="24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retornará</a:t>
                      </a:r>
                      <a:r>
                        <a:rPr sz="24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AC8C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.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45631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231" y="968272"/>
            <a:ext cx="8486062" cy="467477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800" dirty="0"/>
              <a:t>Operadores</a:t>
            </a:r>
            <a:r>
              <a:rPr sz="2800" spc="-74" dirty="0"/>
              <a:t> </a:t>
            </a:r>
            <a:r>
              <a:rPr sz="2800" spc="-21" dirty="0"/>
              <a:t>Lógicos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24">
              <a:spcBef>
                <a:spcPts val="254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22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451918" y="1708755"/>
            <a:ext cx="11641153" cy="4307883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16" dirty="0">
                <a:latin typeface="Calibri"/>
                <a:cs typeface="Calibri"/>
              </a:rPr>
              <a:t>Utilização: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16" dirty="0">
                <a:latin typeface="Arial"/>
                <a:cs typeface="Arial"/>
              </a:rPr>
              <a:t>concatenar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expressões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que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estabelecem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uma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relação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comparação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entre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valores;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resultado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41" dirty="0">
                <a:latin typeface="Arial"/>
                <a:cs typeface="Arial"/>
              </a:rPr>
              <a:t>dessas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expressões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é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sempre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 </a:t>
            </a:r>
            <a:r>
              <a:rPr sz="2536" spc="-63" dirty="0">
                <a:latin typeface="Arial"/>
                <a:cs typeface="Arial"/>
              </a:rPr>
              <a:t>valor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lógico;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Font typeface="Arial"/>
              <a:buChar char="–"/>
              <a:tabLst>
                <a:tab pos="662984" algn="l"/>
              </a:tabLst>
            </a:pPr>
            <a:r>
              <a:rPr sz="2536" b="1" dirty="0">
                <a:solidFill>
                  <a:srgbClr val="00AC8C"/>
                </a:solidFill>
                <a:latin typeface="Calibri"/>
                <a:cs typeface="Calibri"/>
              </a:rPr>
              <a:t>true</a:t>
            </a:r>
            <a:r>
              <a:rPr sz="2536" b="1" spc="254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2536" dirty="0">
                <a:latin typeface="Arial"/>
                <a:cs typeface="Arial"/>
              </a:rPr>
              <a:t>/</a:t>
            </a:r>
            <a:r>
              <a:rPr sz="2536" spc="127" dirty="0">
                <a:latin typeface="Arial"/>
                <a:cs typeface="Arial"/>
              </a:rPr>
              <a:t> </a:t>
            </a:r>
            <a:r>
              <a:rPr sz="2536" b="1" spc="-21" dirty="0">
                <a:solidFill>
                  <a:srgbClr val="00AC8C"/>
                </a:solidFill>
                <a:latin typeface="Calibri"/>
                <a:cs typeface="Calibri"/>
              </a:rPr>
              <a:t>false</a:t>
            </a:r>
            <a:endParaRPr sz="2536" dirty="0">
              <a:latin typeface="Calibri"/>
              <a:cs typeface="Calibri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37" dirty="0">
                <a:latin typeface="Calibri"/>
                <a:cs typeface="Calibri"/>
              </a:rPr>
              <a:t>Tabela</a:t>
            </a:r>
            <a:r>
              <a:rPr sz="2959" b="1" spc="85" dirty="0">
                <a:latin typeface="Calibri"/>
                <a:cs typeface="Calibri"/>
              </a:rPr>
              <a:t> </a:t>
            </a:r>
            <a:r>
              <a:rPr sz="2959" b="1" spc="95" dirty="0">
                <a:latin typeface="Calibri"/>
                <a:cs typeface="Calibri"/>
              </a:rPr>
              <a:t>Verdade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46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representam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todas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64" dirty="0">
                <a:latin typeface="Arial"/>
                <a:cs typeface="Arial"/>
              </a:rPr>
              <a:t>as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possíveis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combinações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das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variáveis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de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entrada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de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uma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função;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32" dirty="0">
                <a:latin typeface="Arial"/>
                <a:cs typeface="Arial"/>
              </a:rPr>
              <a:t>os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32" dirty="0">
                <a:latin typeface="Arial"/>
                <a:cs typeface="Arial"/>
              </a:rPr>
              <a:t>seus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respectivos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valores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saída.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036" y="959237"/>
            <a:ext cx="23613807" cy="59058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3600" dirty="0"/>
              <a:t>Operadores</a:t>
            </a:r>
            <a:r>
              <a:rPr sz="3600" spc="-74" dirty="0"/>
              <a:t> </a:t>
            </a:r>
            <a:r>
              <a:rPr sz="3600" spc="-21" dirty="0"/>
              <a:t>Lógicos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24">
              <a:spcBef>
                <a:spcPts val="254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23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711322" y="1616738"/>
            <a:ext cx="7864556" cy="5083865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80" dirty="0">
                <a:latin typeface="Calibri"/>
                <a:cs typeface="Calibri"/>
              </a:rPr>
              <a:t>Operador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328" dirty="0">
                <a:latin typeface="Calibri"/>
                <a:cs typeface="Calibri"/>
              </a:rPr>
              <a:t>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-42" dirty="0">
                <a:latin typeface="Calibri"/>
                <a:cs typeface="Calibri"/>
              </a:rPr>
              <a:t>(&amp;&amp;)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59" dirty="0">
                <a:latin typeface="Arial"/>
                <a:cs typeface="Arial"/>
              </a:rPr>
              <a:t>somente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resulta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em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verdadeiro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(true):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1600" spc="-285" dirty="0">
                <a:latin typeface="Arial"/>
                <a:cs typeface="Arial"/>
              </a:rPr>
              <a:t>se</a:t>
            </a:r>
            <a:r>
              <a:rPr sz="1600" spc="-32" dirty="0">
                <a:latin typeface="Arial"/>
                <a:cs typeface="Arial"/>
              </a:rPr>
              <a:t> </a:t>
            </a:r>
            <a:r>
              <a:rPr sz="1600" spc="-116" dirty="0">
                <a:latin typeface="Arial"/>
                <a:cs typeface="Arial"/>
              </a:rPr>
              <a:t>todas</a:t>
            </a:r>
            <a:r>
              <a:rPr sz="1600" spc="-21" dirty="0">
                <a:latin typeface="Arial"/>
                <a:cs typeface="Arial"/>
              </a:rPr>
              <a:t> </a:t>
            </a:r>
            <a:r>
              <a:rPr sz="1600" spc="-241" dirty="0">
                <a:latin typeface="Arial"/>
                <a:cs typeface="Arial"/>
              </a:rPr>
              <a:t>as</a:t>
            </a:r>
            <a:r>
              <a:rPr sz="1600" spc="-32" dirty="0">
                <a:latin typeface="Arial"/>
                <a:cs typeface="Arial"/>
              </a:rPr>
              <a:t> </a:t>
            </a:r>
            <a:r>
              <a:rPr sz="1600" spc="-201" dirty="0">
                <a:latin typeface="Arial"/>
                <a:cs typeface="Arial"/>
              </a:rPr>
              <a:t>expressões</a:t>
            </a:r>
            <a:r>
              <a:rPr sz="1600" spc="-21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condicionais</a:t>
            </a:r>
            <a:r>
              <a:rPr sz="1600" spc="-32" dirty="0">
                <a:latin typeface="Arial"/>
                <a:cs typeface="Arial"/>
              </a:rPr>
              <a:t> </a:t>
            </a:r>
            <a:r>
              <a:rPr sz="1600" spc="-95" dirty="0">
                <a:latin typeface="Arial"/>
                <a:cs typeface="Arial"/>
              </a:rPr>
              <a:t>forem</a:t>
            </a:r>
            <a:r>
              <a:rPr sz="1600" spc="-21" dirty="0">
                <a:latin typeface="Arial"/>
                <a:cs typeface="Arial"/>
              </a:rPr>
              <a:t> </a:t>
            </a:r>
            <a:r>
              <a:rPr sz="1600" spc="-106" dirty="0">
                <a:latin typeface="Arial"/>
                <a:cs typeface="Arial"/>
              </a:rPr>
              <a:t>verdadeiras.</a:t>
            </a:r>
            <a:endParaRPr sz="1600" dirty="0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80" dirty="0">
                <a:latin typeface="Calibri"/>
                <a:cs typeface="Calibri"/>
              </a:rPr>
              <a:t>Operador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96" dirty="0">
                <a:latin typeface="Calibri"/>
                <a:cs typeface="Calibri"/>
              </a:rPr>
              <a:t>Ou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-42" dirty="0">
                <a:latin typeface="Calibri"/>
                <a:cs typeface="Calibri"/>
              </a:rPr>
              <a:t>(||)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85" dirty="0">
                <a:latin typeface="Arial"/>
                <a:cs typeface="Arial"/>
              </a:rPr>
              <a:t>se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apenas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umas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expressão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condicional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for</a:t>
            </a:r>
            <a:r>
              <a:rPr sz="2536" spc="-21" dirty="0">
                <a:latin typeface="Arial"/>
                <a:cs typeface="Arial"/>
              </a:rPr>
              <a:t> verdadeira: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resultado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é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verdadeiro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(true).</a:t>
            </a:r>
            <a:endParaRPr sz="2536" dirty="0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48" dirty="0">
                <a:latin typeface="Calibri"/>
                <a:cs typeface="Calibri"/>
              </a:rPr>
              <a:t>operador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80" dirty="0">
                <a:latin typeface="Calibri"/>
                <a:cs typeface="Calibri"/>
              </a:rPr>
              <a:t>Não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-53" dirty="0">
                <a:latin typeface="Calibri"/>
                <a:cs typeface="Calibri"/>
              </a:rPr>
              <a:t>(!)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85" dirty="0">
                <a:latin typeface="Arial"/>
                <a:cs typeface="Arial"/>
              </a:rPr>
              <a:t>se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expressão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condicional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for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false: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resultado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é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verdadeiro.</a:t>
            </a:r>
            <a:r>
              <a:rPr sz="2536" spc="63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Caso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contrário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é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false.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42769" y="1084257"/>
            <a:ext cx="2830435" cy="20131"/>
          </a:xfrm>
          <a:custGeom>
            <a:avLst/>
            <a:gdLst/>
            <a:ahLst/>
            <a:cxnLst/>
            <a:rect l="l" t="t" r="r" b="b"/>
            <a:pathLst>
              <a:path w="1339214" h="9525">
                <a:moveTo>
                  <a:pt x="1338678" y="0"/>
                </a:moveTo>
                <a:lnTo>
                  <a:pt x="0" y="0"/>
                </a:lnTo>
                <a:lnTo>
                  <a:pt x="0" y="8954"/>
                </a:lnTo>
                <a:lnTo>
                  <a:pt x="1338678" y="8954"/>
                </a:lnTo>
                <a:lnTo>
                  <a:pt x="1338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5" name="object 5"/>
          <p:cNvSpPr txBox="1"/>
          <p:nvPr/>
        </p:nvSpPr>
        <p:spPr>
          <a:xfrm>
            <a:off x="8942769" y="1073054"/>
            <a:ext cx="1242761" cy="326588"/>
          </a:xfrm>
          <a:prstGeom prst="rect">
            <a:avLst/>
          </a:prstGeom>
        </p:spPr>
        <p:txBody>
          <a:bodyPr vert="horz" wrap="square" lIns="0" tIns="33552" rIns="0" bIns="0" rtlCol="0">
            <a:spAutoFit/>
          </a:bodyPr>
          <a:lstStyle/>
          <a:p>
            <a:pPr marL="26841">
              <a:spcBef>
                <a:spcPts val="264"/>
              </a:spcBef>
            </a:pPr>
            <a:r>
              <a:rPr sz="1902" spc="-74" dirty="0">
                <a:latin typeface="Arial"/>
                <a:cs typeface="Arial"/>
              </a:rPr>
              <a:t>Operadores</a:t>
            </a:r>
            <a:endParaRPr sz="1902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13936" y="1103170"/>
            <a:ext cx="1281681" cy="326588"/>
          </a:xfrm>
          <a:prstGeom prst="rect">
            <a:avLst/>
          </a:prstGeom>
        </p:spPr>
        <p:txBody>
          <a:bodyPr vert="horz" wrap="square" lIns="0" tIns="33552" rIns="0" bIns="0" rtlCol="0">
            <a:spAutoFit/>
          </a:bodyPr>
          <a:lstStyle/>
          <a:p>
            <a:pPr marL="26841">
              <a:spcBef>
                <a:spcPts val="264"/>
              </a:spcBef>
            </a:pPr>
            <a:r>
              <a:rPr sz="1902" spc="-85" dirty="0">
                <a:latin typeface="Arial"/>
                <a:cs typeface="Arial"/>
              </a:rPr>
              <a:t>Precedência</a:t>
            </a:r>
            <a:endParaRPr sz="1902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42769" y="1515030"/>
            <a:ext cx="2830435" cy="0"/>
          </a:xfrm>
          <a:custGeom>
            <a:avLst/>
            <a:gdLst/>
            <a:ahLst/>
            <a:cxnLst/>
            <a:rect l="l" t="t" r="r" b="b"/>
            <a:pathLst>
              <a:path w="1339214">
                <a:moveTo>
                  <a:pt x="0" y="0"/>
                </a:moveTo>
                <a:lnTo>
                  <a:pt x="1338678" y="0"/>
                </a:lnTo>
              </a:path>
            </a:pathLst>
          </a:custGeom>
          <a:ln w="55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8" name="object 8"/>
          <p:cNvSpPr txBox="1"/>
          <p:nvPr/>
        </p:nvSpPr>
        <p:spPr>
          <a:xfrm>
            <a:off x="9437043" y="1520934"/>
            <a:ext cx="406649" cy="912005"/>
          </a:xfrm>
          <a:prstGeom prst="rect">
            <a:avLst/>
          </a:prstGeom>
        </p:spPr>
        <p:txBody>
          <a:bodyPr vert="horz" wrap="square" lIns="0" tIns="33552" rIns="0" bIns="0" rtlCol="0">
            <a:spAutoFit/>
          </a:bodyPr>
          <a:lstStyle/>
          <a:p>
            <a:pPr algn="ctr">
              <a:spcBef>
                <a:spcPts val="264"/>
              </a:spcBef>
            </a:pPr>
            <a:r>
              <a:rPr sz="1902" spc="-106" dirty="0">
                <a:latin typeface="Arial"/>
                <a:cs typeface="Arial"/>
              </a:rPr>
              <a:t>!</a:t>
            </a:r>
            <a:endParaRPr sz="1902">
              <a:latin typeface="Arial"/>
              <a:cs typeface="Arial"/>
            </a:endParaRPr>
          </a:p>
          <a:p>
            <a:pPr algn="ctr">
              <a:spcBef>
                <a:spcPts val="21"/>
              </a:spcBef>
            </a:pPr>
            <a:r>
              <a:rPr sz="1902" spc="53" dirty="0">
                <a:latin typeface="Arial"/>
                <a:cs typeface="Arial"/>
              </a:rPr>
              <a:t>&amp;&amp;</a:t>
            </a:r>
            <a:endParaRPr sz="1902">
              <a:latin typeface="Arial"/>
              <a:cs typeface="Arial"/>
            </a:endParaRPr>
          </a:p>
          <a:p>
            <a:pPr algn="ctr">
              <a:spcBef>
                <a:spcPts val="21"/>
              </a:spcBef>
            </a:pPr>
            <a:r>
              <a:rPr sz="1902" spc="-53" dirty="0">
                <a:latin typeface="Arial"/>
                <a:cs typeface="Arial"/>
              </a:rPr>
              <a:t>||</a:t>
            </a:r>
            <a:endParaRPr sz="1902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03066" y="1520934"/>
            <a:ext cx="703247" cy="898450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841" marR="10737" algn="ctr">
              <a:lnSpc>
                <a:spcPct val="101099"/>
              </a:lnSpc>
              <a:spcBef>
                <a:spcPts val="232"/>
              </a:spcBef>
            </a:pPr>
            <a:r>
              <a:rPr sz="1902" spc="-42" dirty="0">
                <a:latin typeface="Arial"/>
                <a:cs typeface="Arial"/>
              </a:rPr>
              <a:t>Alta Média </a:t>
            </a:r>
            <a:r>
              <a:rPr sz="1902" spc="-21" dirty="0">
                <a:latin typeface="Arial"/>
                <a:cs typeface="Arial"/>
              </a:rPr>
              <a:t>Baixa</a:t>
            </a:r>
            <a:endParaRPr sz="1902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42769" y="2512885"/>
            <a:ext cx="2830435" cy="20131"/>
          </a:xfrm>
          <a:custGeom>
            <a:avLst/>
            <a:gdLst/>
            <a:ahLst/>
            <a:cxnLst/>
            <a:rect l="l" t="t" r="r" b="b"/>
            <a:pathLst>
              <a:path w="1339214" h="9525">
                <a:moveTo>
                  <a:pt x="1338678" y="0"/>
                </a:moveTo>
                <a:lnTo>
                  <a:pt x="0" y="0"/>
                </a:lnTo>
                <a:lnTo>
                  <a:pt x="0" y="8954"/>
                </a:lnTo>
                <a:lnTo>
                  <a:pt x="1338678" y="8954"/>
                </a:lnTo>
                <a:lnTo>
                  <a:pt x="13386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1" name="object 11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0428" y="159684"/>
            <a:ext cx="9288393" cy="344366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000" dirty="0"/>
              <a:t>Operadores</a:t>
            </a:r>
            <a:r>
              <a:rPr sz="2000" spc="-74" dirty="0"/>
              <a:t> </a:t>
            </a:r>
            <a:r>
              <a:rPr sz="2000" spc="-21" dirty="0"/>
              <a:t>Lógicos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524">
              <a:spcBef>
                <a:spcPts val="254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24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280470" y="804760"/>
            <a:ext cx="11462657" cy="2790288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37" dirty="0">
                <a:latin typeface="Calibri"/>
                <a:cs typeface="Calibri"/>
              </a:rPr>
              <a:t>Tabela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verdade</a:t>
            </a:r>
            <a:r>
              <a:rPr sz="2959" b="1" spc="180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os</a:t>
            </a:r>
            <a:r>
              <a:rPr sz="2959" b="1" spc="180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operadores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&amp;&amp;</a:t>
            </a:r>
            <a:r>
              <a:rPr sz="2959" b="1" spc="180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e</a:t>
            </a:r>
            <a:r>
              <a:rPr sz="2959" b="1" spc="169" dirty="0">
                <a:latin typeface="Calibri"/>
                <a:cs typeface="Calibri"/>
              </a:rPr>
              <a:t> </a:t>
            </a:r>
            <a:r>
              <a:rPr sz="2959" b="1" spc="-740" dirty="0">
                <a:latin typeface="Calibri"/>
                <a:cs typeface="Calibri"/>
              </a:rPr>
              <a:t>||</a:t>
            </a:r>
            <a:endParaRPr sz="2959" dirty="0">
              <a:latin typeface="Calibri"/>
              <a:cs typeface="Calibri"/>
            </a:endParaRPr>
          </a:p>
          <a:p>
            <a:pPr marL="654931" marR="10737" lvl="1" indent="-324782">
              <a:lnSpc>
                <a:spcPct val="117600"/>
              </a:lnSpc>
              <a:spcBef>
                <a:spcPts val="518"/>
              </a:spcBef>
              <a:buChar char="–"/>
              <a:tabLst>
                <a:tab pos="654931" algn="l"/>
                <a:tab pos="662984" algn="l"/>
              </a:tabLst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	</a:t>
            </a:r>
            <a:r>
              <a:rPr sz="2536" dirty="0">
                <a:latin typeface="Arial"/>
                <a:cs typeface="Arial"/>
              </a:rPr>
              <a:t>&amp;&amp;</a:t>
            </a:r>
            <a:r>
              <a:rPr lang="pt-BR" sz="2536" dirty="0">
                <a:latin typeface="Arial"/>
                <a:cs typeface="Arial"/>
              </a:rPr>
              <a:t> </a:t>
            </a:r>
            <a:r>
              <a:rPr sz="2536" spc="-201" dirty="0">
                <a:latin typeface="Verdana"/>
                <a:cs typeface="Verdana"/>
              </a:rPr>
              <a:t> </a:t>
            </a:r>
            <a:r>
              <a:rPr sz="2536" spc="-159" dirty="0">
                <a:latin typeface="Arial"/>
                <a:cs typeface="Arial"/>
              </a:rPr>
              <a:t>somente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resulta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em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verdadeiro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quando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todas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241" dirty="0">
                <a:latin typeface="Arial"/>
                <a:cs typeface="Arial"/>
              </a:rPr>
              <a:t>as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sentenças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avaliadas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forem </a:t>
            </a:r>
            <a:r>
              <a:rPr sz="2536" spc="-21" dirty="0">
                <a:latin typeface="Arial"/>
                <a:cs typeface="Arial"/>
              </a:rPr>
              <a:t>verdadeiras;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37" dirty="0">
                <a:latin typeface="Arial"/>
                <a:cs typeface="Arial"/>
              </a:rPr>
              <a:t>||</a:t>
            </a:r>
            <a:r>
              <a:rPr lang="pt-BR" sz="2536" spc="-32" dirty="0">
                <a:latin typeface="Arial"/>
                <a:cs typeface="Arial"/>
              </a:rPr>
              <a:t> </a:t>
            </a:r>
            <a:r>
              <a:rPr sz="2536" spc="-211" dirty="0">
                <a:latin typeface="Verdana"/>
                <a:cs typeface="Verdana"/>
              </a:rPr>
              <a:t> </a:t>
            </a:r>
            <a:r>
              <a:rPr sz="2536" spc="-159" dirty="0">
                <a:latin typeface="Arial"/>
                <a:cs typeface="Arial"/>
              </a:rPr>
              <a:t>somente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resulta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em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falso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quando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todas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41" dirty="0">
                <a:latin typeface="Arial"/>
                <a:cs typeface="Arial"/>
              </a:rPr>
              <a:t>as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sentenças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avaliadas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forem</a:t>
            </a:r>
            <a:r>
              <a:rPr sz="2536" spc="-21" dirty="0">
                <a:latin typeface="Arial"/>
                <a:cs typeface="Arial"/>
              </a:rPr>
              <a:t> falsas.</a:t>
            </a:r>
            <a:endParaRPr sz="2536" dirty="0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Char char="•"/>
              <a:tabLst>
                <a:tab pos="351623" algn="l"/>
              </a:tabLst>
            </a:pPr>
            <a:r>
              <a:rPr sz="2959" spc="-21" dirty="0">
                <a:latin typeface="Arial"/>
                <a:cs typeface="Arial"/>
              </a:rPr>
              <a:t>Exemplo:</a:t>
            </a:r>
            <a:endParaRPr sz="2959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18647"/>
              </p:ext>
            </p:extLst>
          </p:nvPr>
        </p:nvGraphicFramePr>
        <p:xfrm>
          <a:off x="3563207" y="3708549"/>
          <a:ext cx="3902821" cy="27902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2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A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5099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B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50999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spc="-6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7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700" spc="60" dirty="0">
                          <a:latin typeface="Arial"/>
                          <a:cs typeface="Arial"/>
                        </a:rPr>
                        <a:t>&amp;&amp;</a:t>
                      </a:r>
                      <a:r>
                        <a:rPr sz="27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700" spc="-50" dirty="0">
                          <a:latin typeface="Arial"/>
                          <a:cs typeface="Arial"/>
                        </a:rPr>
                        <a:t>B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5099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700" spc="-6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7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700" spc="-65" dirty="0">
                          <a:latin typeface="Arial"/>
                          <a:cs typeface="Arial"/>
                        </a:rPr>
                        <a:t>||</a:t>
                      </a:r>
                      <a:r>
                        <a:rPr sz="27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700" spc="-50" dirty="0">
                          <a:latin typeface="Arial"/>
                          <a:cs typeface="Arial"/>
                        </a:rPr>
                        <a:t>B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50999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3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V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46973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V</a:t>
                      </a:r>
                      <a:endParaRPr sz="2700" dirty="0">
                        <a:latin typeface="Arial"/>
                        <a:cs typeface="Arial"/>
                      </a:endParaRPr>
                    </a:p>
                  </a:txBody>
                  <a:tcPr marL="0" marR="0" marT="46973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V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4697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V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46973" marB="0">
                    <a:lnL w="635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581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V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F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F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V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581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F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V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F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V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20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F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F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F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sz="2700" spc="-50" dirty="0">
                          <a:latin typeface="Arial"/>
                          <a:cs typeface="Arial"/>
                        </a:rPr>
                        <a:t>F</a:t>
                      </a:r>
                      <a:endParaRPr sz="27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16589" y="3831074"/>
            <a:ext cx="1320601" cy="29526"/>
          </a:xfrm>
          <a:custGeom>
            <a:avLst/>
            <a:gdLst/>
            <a:ahLst/>
            <a:cxnLst/>
            <a:rect l="l" t="t" r="r" b="b"/>
            <a:pathLst>
              <a:path w="624839" h="13969">
                <a:moveTo>
                  <a:pt x="624687" y="0"/>
                </a:moveTo>
                <a:lnTo>
                  <a:pt x="0" y="0"/>
                </a:lnTo>
                <a:lnTo>
                  <a:pt x="0" y="13893"/>
                </a:lnTo>
                <a:lnTo>
                  <a:pt x="624687" y="13893"/>
                </a:lnTo>
                <a:lnTo>
                  <a:pt x="6246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3" name="object 3"/>
          <p:cNvSpPr/>
          <p:nvPr/>
        </p:nvSpPr>
        <p:spPr>
          <a:xfrm>
            <a:off x="5279129" y="4621977"/>
            <a:ext cx="1320601" cy="0"/>
          </a:xfrm>
          <a:custGeom>
            <a:avLst/>
            <a:gdLst/>
            <a:ahLst/>
            <a:cxnLst/>
            <a:rect l="l" t="t" r="r" b="b"/>
            <a:pathLst>
              <a:path w="624839">
                <a:moveTo>
                  <a:pt x="0" y="0"/>
                </a:moveTo>
                <a:lnTo>
                  <a:pt x="624687" y="0"/>
                </a:lnTo>
              </a:path>
            </a:pathLst>
          </a:custGeom>
          <a:ln w="8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4" name="object 4"/>
          <p:cNvSpPr txBox="1"/>
          <p:nvPr/>
        </p:nvSpPr>
        <p:spPr>
          <a:xfrm>
            <a:off x="204398" y="1525958"/>
            <a:ext cx="7561247" cy="403871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>
              <a:spcBef>
                <a:spcPts val="3517"/>
              </a:spcBef>
            </a:pPr>
            <a:endParaRPr sz="2959" dirty="0">
              <a:latin typeface="Palatino Linotype"/>
              <a:cs typeface="Palatino Linotype"/>
            </a:endParaRPr>
          </a:p>
          <a:p>
            <a:pPr marL="426779" indent="-324782">
              <a:buClr>
                <a:srgbClr val="00AC8C"/>
              </a:buClr>
              <a:buChar char="•"/>
              <a:tabLst>
                <a:tab pos="426779" algn="l"/>
              </a:tabLst>
            </a:pPr>
            <a:r>
              <a:rPr sz="2959" dirty="0">
                <a:latin typeface="Arial"/>
                <a:cs typeface="Arial"/>
              </a:rPr>
              <a:t>O</a:t>
            </a:r>
            <a:r>
              <a:rPr sz="2959" spc="-148" dirty="0">
                <a:latin typeface="Arial"/>
                <a:cs typeface="Arial"/>
              </a:rPr>
              <a:t> </a:t>
            </a:r>
            <a:r>
              <a:rPr sz="2959" spc="-74" dirty="0">
                <a:latin typeface="Arial"/>
                <a:cs typeface="Arial"/>
              </a:rPr>
              <a:t>operador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!</a:t>
            </a:r>
            <a:r>
              <a:rPr sz="2959" spc="32" dirty="0">
                <a:latin typeface="Arial"/>
                <a:cs typeface="Arial"/>
              </a:rPr>
              <a:t> </a:t>
            </a:r>
            <a:r>
              <a:rPr sz="2959" spc="-85" dirty="0">
                <a:latin typeface="Arial"/>
                <a:cs typeface="Arial"/>
              </a:rPr>
              <a:t>faz</a:t>
            </a:r>
            <a:r>
              <a:rPr sz="2959" spc="-95" dirty="0">
                <a:latin typeface="Arial"/>
                <a:cs typeface="Arial"/>
              </a:rPr>
              <a:t> </a:t>
            </a:r>
            <a:r>
              <a:rPr sz="2959" spc="-190" dirty="0">
                <a:latin typeface="Arial"/>
                <a:cs typeface="Arial"/>
              </a:rPr>
              <a:t>a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80" dirty="0">
                <a:latin typeface="Arial"/>
                <a:cs typeface="Arial"/>
              </a:rPr>
              <a:t>negação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80" dirty="0">
                <a:latin typeface="Arial"/>
                <a:cs typeface="Arial"/>
              </a:rPr>
              <a:t>de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53" dirty="0">
                <a:latin typeface="Arial"/>
                <a:cs typeface="Arial"/>
              </a:rPr>
              <a:t>uma</a:t>
            </a:r>
            <a:r>
              <a:rPr sz="2959" spc="-85" dirty="0">
                <a:latin typeface="Arial"/>
                <a:cs typeface="Arial"/>
              </a:rPr>
              <a:t> sentença:</a:t>
            </a:r>
            <a:endParaRPr sz="2959" dirty="0">
              <a:latin typeface="Arial"/>
              <a:cs typeface="Arial"/>
            </a:endParaRPr>
          </a:p>
          <a:p>
            <a:pPr marL="426779" indent="-324782">
              <a:spcBef>
                <a:spcPts val="1226"/>
              </a:spcBef>
              <a:buClr>
                <a:srgbClr val="00AC8C"/>
              </a:buClr>
              <a:buChar char="•"/>
              <a:tabLst>
                <a:tab pos="426779" algn="l"/>
              </a:tabLst>
            </a:pPr>
            <a:r>
              <a:rPr sz="2959" spc="-21" dirty="0">
                <a:latin typeface="Arial"/>
                <a:cs typeface="Arial"/>
              </a:rPr>
              <a:t>Exemplo:</a:t>
            </a:r>
            <a:endParaRPr sz="2959" dirty="0">
              <a:latin typeface="Arial"/>
              <a:cs typeface="Arial"/>
            </a:endParaRPr>
          </a:p>
          <a:p>
            <a:pPr>
              <a:spcBef>
                <a:spcPts val="74"/>
              </a:spcBef>
            </a:pPr>
            <a:endParaRPr sz="2959" dirty="0">
              <a:latin typeface="Arial"/>
              <a:cs typeface="Arial"/>
            </a:endParaRPr>
          </a:p>
          <a:p>
            <a:pPr marR="1211891" algn="r">
              <a:spcBef>
                <a:spcPts val="11"/>
              </a:spcBef>
              <a:tabLst>
                <a:tab pos="614669" algn="l"/>
              </a:tabLst>
            </a:pPr>
            <a:r>
              <a:rPr sz="2959" spc="-106" dirty="0">
                <a:latin typeface="Arial"/>
                <a:cs typeface="Arial"/>
              </a:rPr>
              <a:t>A</a:t>
            </a:r>
            <a:r>
              <a:rPr sz="2959" dirty="0">
                <a:latin typeface="Arial"/>
                <a:cs typeface="Arial"/>
              </a:rPr>
              <a:t>	</a:t>
            </a:r>
            <a:r>
              <a:rPr sz="2959" spc="-53" dirty="0">
                <a:latin typeface="Arial"/>
                <a:cs typeface="Arial"/>
              </a:rPr>
              <a:t>!A</a:t>
            </a:r>
            <a:endParaRPr sz="2959" dirty="0">
              <a:latin typeface="Arial"/>
              <a:cs typeface="Arial"/>
            </a:endParaRPr>
          </a:p>
          <a:p>
            <a:pPr marR="1232023" algn="r">
              <a:spcBef>
                <a:spcPts val="1543"/>
              </a:spcBef>
              <a:tabLst>
                <a:tab pos="731430" algn="l"/>
              </a:tabLst>
            </a:pPr>
            <a:r>
              <a:rPr sz="2959" spc="-106" dirty="0">
                <a:latin typeface="Arial"/>
                <a:cs typeface="Arial"/>
              </a:rPr>
              <a:t>V</a:t>
            </a:r>
            <a:r>
              <a:rPr sz="2959" dirty="0">
                <a:latin typeface="Arial"/>
                <a:cs typeface="Arial"/>
              </a:rPr>
              <a:t>	</a:t>
            </a:r>
            <a:r>
              <a:rPr sz="2959" spc="-106" dirty="0">
                <a:latin typeface="Arial"/>
                <a:cs typeface="Arial"/>
              </a:rPr>
              <a:t>F</a:t>
            </a:r>
            <a:endParaRPr sz="2959" dirty="0">
              <a:latin typeface="Arial"/>
              <a:cs typeface="Arial"/>
            </a:endParaRPr>
          </a:p>
          <a:p>
            <a:pPr marR="1254838" algn="r">
              <a:spcBef>
                <a:spcPts val="32"/>
              </a:spcBef>
              <a:tabLst>
                <a:tab pos="634800" algn="l"/>
              </a:tabLst>
            </a:pPr>
            <a:r>
              <a:rPr sz="2959" spc="-106" dirty="0">
                <a:latin typeface="Arial"/>
                <a:cs typeface="Arial"/>
              </a:rPr>
              <a:t>F</a:t>
            </a:r>
            <a:r>
              <a:rPr sz="2959" dirty="0">
                <a:latin typeface="Arial"/>
                <a:cs typeface="Arial"/>
              </a:rPr>
              <a:t>	</a:t>
            </a:r>
            <a:r>
              <a:rPr sz="2959" spc="-106" dirty="0">
                <a:latin typeface="Arial"/>
                <a:cs typeface="Arial"/>
              </a:rPr>
              <a:t>V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16590" y="5838099"/>
            <a:ext cx="1320601" cy="29526"/>
          </a:xfrm>
          <a:custGeom>
            <a:avLst/>
            <a:gdLst/>
            <a:ahLst/>
            <a:cxnLst/>
            <a:rect l="l" t="t" r="r" b="b"/>
            <a:pathLst>
              <a:path w="624839" h="13969">
                <a:moveTo>
                  <a:pt x="624687" y="0"/>
                </a:moveTo>
                <a:lnTo>
                  <a:pt x="0" y="0"/>
                </a:lnTo>
                <a:lnTo>
                  <a:pt x="0" y="13893"/>
                </a:lnTo>
                <a:lnTo>
                  <a:pt x="624687" y="13893"/>
                </a:lnTo>
                <a:lnTo>
                  <a:pt x="6246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6" name="object 6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0CD035-5DA5-FDE5-BADE-5D1F3D6A30AD}"/>
              </a:ext>
            </a:extLst>
          </p:cNvPr>
          <p:cNvSpPr txBox="1"/>
          <p:nvPr/>
        </p:nvSpPr>
        <p:spPr>
          <a:xfrm>
            <a:off x="415500" y="942879"/>
            <a:ext cx="6221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41">
              <a:spcBef>
                <a:spcPts val="285"/>
              </a:spcBef>
            </a:pPr>
            <a:r>
              <a:rPr lang="pt-BR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  <a:r>
              <a:rPr lang="pt-BR" sz="3600" b="1" spc="-74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spc="-2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Lógicos</a:t>
            </a:r>
            <a:endParaRPr lang="pt-BR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6179C9CD-A483-6463-4C3C-D870052D9B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263199"/>
            <a:ext cx="8729756" cy="652143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 algn="l">
              <a:lnSpc>
                <a:spcPct val="100000"/>
              </a:lnSpc>
              <a:spcBef>
                <a:spcPts val="285"/>
              </a:spcBef>
            </a:pPr>
            <a:r>
              <a:rPr sz="4000" dirty="0">
                <a:solidFill>
                  <a:srgbClr val="002060"/>
                </a:solidFill>
              </a:rPr>
              <a:t>Pense</a:t>
            </a:r>
            <a:r>
              <a:rPr sz="4000" spc="42" dirty="0">
                <a:solidFill>
                  <a:srgbClr val="002060"/>
                </a:solidFill>
              </a:rPr>
              <a:t> </a:t>
            </a:r>
            <a:r>
              <a:rPr sz="4000" dirty="0">
                <a:solidFill>
                  <a:srgbClr val="002060"/>
                </a:solidFill>
              </a:rPr>
              <a:t>e</a:t>
            </a:r>
            <a:r>
              <a:rPr sz="4000" spc="53" dirty="0">
                <a:solidFill>
                  <a:srgbClr val="002060"/>
                </a:solidFill>
              </a:rPr>
              <a:t> </a:t>
            </a:r>
            <a:r>
              <a:rPr sz="4000" spc="-21" dirty="0">
                <a:solidFill>
                  <a:srgbClr val="002060"/>
                </a:solidFill>
              </a:rPr>
              <a:t>reflita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4F86E58-52F9-CF85-B484-C9A35FE02C19}"/>
              </a:ext>
            </a:extLst>
          </p:cNvPr>
          <p:cNvSpPr txBox="1"/>
          <p:nvPr/>
        </p:nvSpPr>
        <p:spPr>
          <a:xfrm>
            <a:off x="374001" y="939255"/>
            <a:ext cx="9041555" cy="1387431"/>
          </a:xfrm>
          <a:prstGeom prst="rect">
            <a:avLst/>
          </a:prstGeom>
        </p:spPr>
        <p:txBody>
          <a:bodyPr vert="horz" wrap="square" lIns="0" tIns="99314" rIns="0" bIns="0" rtlCol="0">
            <a:spAutoFit/>
          </a:bodyPr>
          <a:lstStyle/>
          <a:p>
            <a:pPr marL="351623" indent="-324782">
              <a:spcBef>
                <a:spcPts val="78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211" dirty="0">
                <a:latin typeface="Calibri"/>
                <a:cs typeface="Calibri"/>
              </a:rPr>
              <a:t>Qual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o</a:t>
            </a:r>
            <a:r>
              <a:rPr sz="2959" b="1" spc="116" dirty="0">
                <a:latin typeface="Calibri"/>
                <a:cs typeface="Calibri"/>
              </a:rPr>
              <a:t> resultado </a:t>
            </a:r>
            <a:r>
              <a:rPr sz="2959" b="1" spc="127" dirty="0">
                <a:latin typeface="Calibri"/>
                <a:cs typeface="Calibri"/>
              </a:rPr>
              <a:t>das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seguintes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95" dirty="0">
                <a:latin typeface="Calibri"/>
                <a:cs typeface="Calibri"/>
              </a:rPr>
              <a:t>expressões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412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80" dirty="0">
                <a:latin typeface="Arial"/>
                <a:cs typeface="Arial"/>
              </a:rPr>
              <a:t>Para</a:t>
            </a:r>
            <a:r>
              <a:rPr sz="2536" dirty="0">
                <a:latin typeface="Arial"/>
                <a:cs typeface="Arial"/>
              </a:rPr>
              <a:t> w </a:t>
            </a:r>
            <a:r>
              <a:rPr sz="2536" spc="-148" dirty="0">
                <a:latin typeface="Arial"/>
                <a:cs typeface="Arial"/>
              </a:rPr>
              <a:t>=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b="1" dirty="0">
                <a:solidFill>
                  <a:srgbClr val="00AC8C"/>
                </a:solidFill>
                <a:latin typeface="Calibri"/>
                <a:cs typeface="Calibri"/>
              </a:rPr>
              <a:t>false,</a:t>
            </a:r>
            <a:r>
              <a:rPr sz="2536" b="1" spc="127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2536" spc="-127" dirty="0">
                <a:latin typeface="Arial"/>
                <a:cs typeface="Arial"/>
              </a:rPr>
              <a:t>x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=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b="1" dirty="0">
                <a:solidFill>
                  <a:srgbClr val="00AC8C"/>
                </a:solidFill>
                <a:latin typeface="Calibri"/>
                <a:cs typeface="Calibri"/>
              </a:rPr>
              <a:t>true</a:t>
            </a:r>
            <a:r>
              <a:rPr sz="2536" b="1" spc="127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241" dirty="0">
                <a:latin typeface="Arial"/>
                <a:cs typeface="Arial"/>
              </a:rPr>
              <a:t>z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=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b="1" spc="-42" dirty="0">
                <a:solidFill>
                  <a:srgbClr val="00AC8C"/>
                </a:solidFill>
                <a:latin typeface="Calibri"/>
                <a:cs typeface="Calibri"/>
              </a:rPr>
              <a:t>true</a:t>
            </a:r>
            <a:endParaRPr sz="2536" dirty="0">
              <a:latin typeface="Calibri"/>
              <a:cs typeface="Calibri"/>
            </a:endParaRPr>
          </a:p>
          <a:p>
            <a:pPr marL="727403" lvl="1" indent="-332834">
              <a:spcBef>
                <a:spcPts val="11"/>
              </a:spcBef>
              <a:buClr>
                <a:srgbClr val="00AC8C"/>
              </a:buClr>
              <a:buFont typeface="Arial"/>
              <a:buChar char="–"/>
              <a:tabLst>
                <a:tab pos="727403" algn="l"/>
                <a:tab pos="6177560" algn="l"/>
              </a:tabLst>
            </a:pPr>
            <a:r>
              <a:rPr sz="2536" b="1" spc="116" dirty="0">
                <a:latin typeface="Calibri"/>
                <a:cs typeface="Calibri"/>
              </a:rPr>
              <a:t>(x</a:t>
            </a:r>
            <a:r>
              <a:rPr sz="2536" b="1" spc="74" dirty="0">
                <a:latin typeface="Calibri"/>
                <a:cs typeface="Calibri"/>
              </a:rPr>
              <a:t> </a:t>
            </a:r>
            <a:r>
              <a:rPr sz="2536" b="1" spc="-623" dirty="0">
                <a:latin typeface="Calibri"/>
                <a:cs typeface="Calibri"/>
              </a:rPr>
              <a:t>||</a:t>
            </a:r>
            <a:r>
              <a:rPr sz="2536" b="1" spc="74" dirty="0">
                <a:latin typeface="Calibri"/>
                <a:cs typeface="Calibri"/>
              </a:rPr>
              <a:t> </a:t>
            </a:r>
            <a:r>
              <a:rPr sz="2536" b="1" spc="127" dirty="0">
                <a:latin typeface="Calibri"/>
                <a:cs typeface="Calibri"/>
              </a:rPr>
              <a:t>z)</a:t>
            </a:r>
            <a:r>
              <a:rPr sz="2536" b="1" spc="74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&amp;&amp;</a:t>
            </a:r>
            <a:r>
              <a:rPr sz="2536" b="1" spc="85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w	</a:t>
            </a: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81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b="1" spc="180" dirty="0">
                <a:latin typeface="Calibri"/>
                <a:cs typeface="Calibri"/>
              </a:rPr>
              <a:t>x</a:t>
            </a:r>
            <a:r>
              <a:rPr sz="2536" b="1" spc="74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&amp;&amp;</a:t>
            </a:r>
            <a:r>
              <a:rPr sz="2536" b="1" spc="63" dirty="0">
                <a:latin typeface="Calibri"/>
                <a:cs typeface="Calibri"/>
              </a:rPr>
              <a:t> </a:t>
            </a:r>
            <a:r>
              <a:rPr sz="2536" b="1" spc="201" dirty="0">
                <a:latin typeface="Calibri"/>
                <a:cs typeface="Calibri"/>
              </a:rPr>
              <a:t>z</a:t>
            </a:r>
            <a:r>
              <a:rPr sz="2536" b="1" spc="63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&amp;&amp;</a:t>
            </a:r>
            <a:r>
              <a:rPr sz="2536" b="1" spc="74" dirty="0">
                <a:latin typeface="Calibri"/>
                <a:cs typeface="Calibri"/>
              </a:rPr>
              <a:t> </a:t>
            </a:r>
            <a:r>
              <a:rPr sz="2536" b="1" spc="127" dirty="0">
                <a:latin typeface="Calibri"/>
                <a:cs typeface="Calibri"/>
              </a:rPr>
              <a:t>w</a:t>
            </a:r>
            <a:r>
              <a:rPr sz="2536" b="1" spc="63" dirty="0">
                <a:latin typeface="Calibri"/>
                <a:cs typeface="Calibri"/>
              </a:rPr>
              <a:t> </a:t>
            </a:r>
            <a:r>
              <a:rPr sz="2536" b="1" spc="-623" dirty="0">
                <a:latin typeface="Calibri"/>
                <a:cs typeface="Calibri"/>
              </a:rPr>
              <a:t>||</a:t>
            </a:r>
            <a:r>
              <a:rPr sz="2536" b="1" spc="74" dirty="0">
                <a:latin typeface="Calibri"/>
                <a:cs typeface="Calibri"/>
              </a:rPr>
              <a:t> </a:t>
            </a:r>
            <a:r>
              <a:rPr sz="2536" b="1" spc="-53" dirty="0">
                <a:latin typeface="Calibri"/>
                <a:cs typeface="Calibri"/>
              </a:rPr>
              <a:t>!w</a:t>
            </a:r>
            <a:endParaRPr sz="2536" dirty="0">
              <a:latin typeface="Calibri"/>
              <a:cs typeface="Calibri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FD6DE522-5694-1320-C63B-518E30DCE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283474"/>
              </p:ext>
            </p:extLst>
          </p:nvPr>
        </p:nvGraphicFramePr>
        <p:xfrm>
          <a:off x="257480" y="2805338"/>
          <a:ext cx="10316525" cy="31134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6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5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5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65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5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72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80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18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5717">
                <a:tc>
                  <a:txBody>
                    <a:bodyPr/>
                    <a:lstStyle/>
                    <a:p>
                      <a:pPr marR="36195" algn="ctr">
                        <a:lnSpc>
                          <a:spcPts val="1560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(x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||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z)</a:t>
                      </a:r>
                      <a:endParaRPr sz="3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3000" spc="50" dirty="0">
                          <a:latin typeface="Arial"/>
                          <a:cs typeface="Arial"/>
                        </a:rPr>
                        <a:t>&amp;&amp;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560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w</a:t>
                      </a:r>
                      <a:endParaRPr sz="30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1560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x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3000" spc="50" dirty="0">
                          <a:latin typeface="Arial"/>
                          <a:cs typeface="Arial"/>
                        </a:rPr>
                        <a:t>&amp;&amp;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z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3000" spc="50" dirty="0">
                          <a:latin typeface="Arial"/>
                          <a:cs typeface="Arial"/>
                        </a:rPr>
                        <a:t>&amp;&amp;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||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560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!w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619">
                <a:tc>
                  <a:txBody>
                    <a:bodyPr/>
                    <a:lstStyle/>
                    <a:p>
                      <a:pPr marR="36195"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(v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||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v)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50" dirty="0">
                          <a:latin typeface="Arial"/>
                          <a:cs typeface="Arial"/>
                        </a:rPr>
                        <a:t>&amp;&amp;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v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ou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v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50" dirty="0">
                          <a:latin typeface="Arial"/>
                          <a:cs typeface="Arial"/>
                        </a:rPr>
                        <a:t>&amp;&amp;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||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!w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v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50" dirty="0">
                          <a:latin typeface="Arial"/>
                          <a:cs typeface="Arial"/>
                        </a:rPr>
                        <a:t>&amp;&amp;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v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50" dirty="0">
                          <a:latin typeface="Arial"/>
                          <a:cs typeface="Arial"/>
                        </a:rPr>
                        <a:t>&amp;&amp;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||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!w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v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e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57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f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v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e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f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||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!w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f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f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||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!w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f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ou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575"/>
                        </a:lnSpc>
                      </a:pPr>
                      <a:r>
                        <a:rPr sz="3000" spc="-25" dirty="0">
                          <a:latin typeface="Arial"/>
                          <a:cs typeface="Arial"/>
                        </a:rPr>
                        <a:t>!f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3000" spc="-50" dirty="0">
                          <a:latin typeface="Arial"/>
                          <a:cs typeface="Arial"/>
                        </a:rPr>
                        <a:t>v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5">
            <a:extLst>
              <a:ext uri="{FF2B5EF4-FFF2-40B4-BE49-F238E27FC236}">
                <a16:creationId xmlns:a16="http://schemas.microsoft.com/office/drawing/2014/main" id="{62B0524C-C301-0FA3-6FBE-F83154BA79FB}"/>
              </a:ext>
            </a:extLst>
          </p:cNvPr>
          <p:cNvSpPr/>
          <p:nvPr/>
        </p:nvSpPr>
        <p:spPr>
          <a:xfrm>
            <a:off x="7575927" y="25599"/>
            <a:ext cx="4147010" cy="1127342"/>
          </a:xfrm>
          <a:custGeom>
            <a:avLst/>
            <a:gdLst/>
            <a:ahLst/>
            <a:cxnLst/>
            <a:rect l="l" t="t" r="r" b="b"/>
            <a:pathLst>
              <a:path w="1962150" h="533400">
                <a:moveTo>
                  <a:pt x="741488" y="388994"/>
                </a:moveTo>
                <a:lnTo>
                  <a:pt x="650746" y="513591"/>
                </a:lnTo>
                <a:lnTo>
                  <a:pt x="642275" y="527057"/>
                </a:lnTo>
                <a:lnTo>
                  <a:pt x="641331" y="533358"/>
                </a:lnTo>
                <a:lnTo>
                  <a:pt x="647593" y="532184"/>
                </a:lnTo>
                <a:lnTo>
                  <a:pt x="660738" y="523225"/>
                </a:lnTo>
                <a:lnTo>
                  <a:pt x="831489" y="388994"/>
                </a:lnTo>
                <a:lnTo>
                  <a:pt x="1911303" y="388994"/>
                </a:lnTo>
                <a:lnTo>
                  <a:pt x="1931003" y="385017"/>
                </a:lnTo>
                <a:lnTo>
                  <a:pt x="1947090" y="374171"/>
                </a:lnTo>
                <a:lnTo>
                  <a:pt x="1957936" y="358083"/>
                </a:lnTo>
                <a:lnTo>
                  <a:pt x="1961913" y="338383"/>
                </a:lnTo>
                <a:lnTo>
                  <a:pt x="1961913" y="50610"/>
                </a:lnTo>
                <a:lnTo>
                  <a:pt x="1957936" y="30910"/>
                </a:lnTo>
                <a:lnTo>
                  <a:pt x="1947090" y="14823"/>
                </a:lnTo>
                <a:lnTo>
                  <a:pt x="1931003" y="3977"/>
                </a:lnTo>
                <a:lnTo>
                  <a:pt x="1911303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338383"/>
                </a:lnTo>
                <a:lnTo>
                  <a:pt x="3977" y="358083"/>
                </a:lnTo>
                <a:lnTo>
                  <a:pt x="14823" y="374171"/>
                </a:lnTo>
                <a:lnTo>
                  <a:pt x="30910" y="385017"/>
                </a:lnTo>
                <a:lnTo>
                  <a:pt x="50610" y="388994"/>
                </a:lnTo>
                <a:lnTo>
                  <a:pt x="741488" y="388994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E23903CB-B5A0-396D-A316-0193ED5225B9}"/>
              </a:ext>
            </a:extLst>
          </p:cNvPr>
          <p:cNvSpPr txBox="1"/>
          <p:nvPr/>
        </p:nvSpPr>
        <p:spPr>
          <a:xfrm>
            <a:off x="7677255" y="122383"/>
            <a:ext cx="3944354" cy="676439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1070974" marR="10737" indent="-1045474">
              <a:spcBef>
                <a:spcPts val="201"/>
              </a:spcBef>
            </a:pPr>
            <a:r>
              <a:rPr sz="2114" spc="-106" dirty="0">
                <a:latin typeface="Arial"/>
                <a:cs typeface="Arial"/>
              </a:rPr>
              <a:t>Considere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116" dirty="0">
                <a:latin typeface="Arial"/>
                <a:cs typeface="Arial"/>
              </a:rPr>
              <a:t>que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85" dirty="0">
                <a:latin typeface="Arial"/>
                <a:cs typeface="Arial"/>
              </a:rPr>
              <a:t>v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148" dirty="0">
                <a:latin typeface="Arial"/>
                <a:cs typeface="Arial"/>
              </a:rPr>
              <a:t>=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85" dirty="0">
                <a:latin typeface="Arial"/>
                <a:cs typeface="Arial"/>
              </a:rPr>
              <a:t>verdadeiro</a:t>
            </a:r>
            <a:r>
              <a:rPr sz="2114" spc="-42" dirty="0">
                <a:latin typeface="Arial"/>
                <a:cs typeface="Arial"/>
              </a:rPr>
              <a:t> (true) </a:t>
            </a:r>
            <a:r>
              <a:rPr sz="2114" spc="-222" dirty="0">
                <a:latin typeface="Arial"/>
                <a:cs typeface="Arial"/>
              </a:rPr>
              <a:t>e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dirty="0">
                <a:latin typeface="Arial"/>
                <a:cs typeface="Arial"/>
              </a:rPr>
              <a:t>f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148" dirty="0">
                <a:latin typeface="Arial"/>
                <a:cs typeface="Arial"/>
              </a:rPr>
              <a:t>=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74" dirty="0">
                <a:latin typeface="Arial"/>
                <a:cs typeface="Arial"/>
              </a:rPr>
              <a:t>falso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21" dirty="0">
                <a:latin typeface="Arial"/>
                <a:cs typeface="Arial"/>
              </a:rPr>
              <a:t>(false)</a:t>
            </a:r>
            <a:endParaRPr sz="2114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2850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56529" y="1025529"/>
            <a:ext cx="11354304" cy="1199289"/>
          </a:xfrm>
          <a:prstGeom prst="rect">
            <a:avLst/>
          </a:prstGeom>
        </p:spPr>
        <p:txBody>
          <a:bodyPr vert="horz" wrap="square" lIns="0" tIns="527353" rIns="0" bIns="0" rtlCol="0" anchor="t">
            <a:spAutoFit/>
          </a:bodyPr>
          <a:lstStyle/>
          <a:p>
            <a:pPr marL="1646723">
              <a:lnSpc>
                <a:spcPct val="100000"/>
              </a:lnSpc>
              <a:spcBef>
                <a:spcPts val="241"/>
              </a:spcBef>
            </a:pPr>
            <a:r>
              <a:rPr sz="4333" b="0" spc="-18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Variáveis</a:t>
            </a:r>
            <a:endParaRPr sz="4333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773006" y="9240641"/>
            <a:ext cx="10602269" cy="465511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41604" marR="10737" indent="-16105">
              <a:lnSpc>
                <a:spcPct val="100800"/>
              </a:lnSpc>
              <a:spcBef>
                <a:spcPts val="232"/>
              </a:spcBef>
            </a:pP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Tipos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dados,</a:t>
            </a:r>
            <a:r>
              <a:rPr sz="2959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operadores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e</a:t>
            </a:r>
            <a:r>
              <a:rPr sz="2959" spc="13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782" dirty="0">
                <a:solidFill>
                  <a:srgbClr val="FFFFFF"/>
                </a:solidFill>
                <a:latin typeface="PMingLiU"/>
                <a:cs typeface="PMingLiU"/>
              </a:rPr>
              <a:t>co�</a:t>
            </a:r>
            <a:r>
              <a:rPr sz="2959" spc="-63" dirty="0">
                <a:solidFill>
                  <a:srgbClr val="FFFFFF"/>
                </a:solidFill>
                <a:latin typeface="PMingLiU"/>
                <a:cs typeface="PMingLiU"/>
              </a:rPr>
              <a:t> mandos</a:t>
            </a:r>
            <a:r>
              <a:rPr sz="2959" spc="15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21" dirty="0">
                <a:solidFill>
                  <a:srgbClr val="FFFFFF"/>
                </a:solidFill>
                <a:latin typeface="PMingLiU"/>
                <a:cs typeface="PMingLiU"/>
              </a:rPr>
              <a:t>saida�entrada</a:t>
            </a:r>
            <a:endParaRPr sz="2959">
              <a:latin typeface="PMingLiU"/>
              <a:cs typeface="PMingLiU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213" y="936613"/>
            <a:ext cx="3622883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pc="-21" dirty="0"/>
              <a:t>Variáveis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28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280468" y="2102706"/>
            <a:ext cx="9222735" cy="2323750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Espaço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de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memória</a:t>
            </a:r>
            <a:r>
              <a:rPr sz="2959" b="1" spc="106" dirty="0">
                <a:latin typeface="Calibri"/>
                <a:cs typeface="Calibri"/>
              </a:rPr>
              <a:t> (recipiente)</a:t>
            </a:r>
            <a:endParaRPr sz="2959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69" dirty="0">
                <a:latin typeface="Arial"/>
                <a:cs typeface="Arial"/>
              </a:rPr>
              <a:t>usado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para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armazenar</a:t>
            </a:r>
            <a:r>
              <a:rPr sz="2536" spc="-42" dirty="0">
                <a:latin typeface="Arial"/>
                <a:cs typeface="Arial"/>
              </a:rPr>
              <a:t> um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dado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42" dirty="0">
                <a:latin typeface="Arial"/>
                <a:cs typeface="Arial"/>
              </a:rPr>
              <a:t> um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programa.</a:t>
            </a:r>
            <a:endParaRPr sz="2536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402" dirty="0">
                <a:latin typeface="Calibri"/>
                <a:cs typeface="Calibri"/>
              </a:rPr>
              <a:t>O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valor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armazenado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na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variável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pode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06" dirty="0">
                <a:latin typeface="Calibri"/>
                <a:cs typeface="Calibri"/>
              </a:rPr>
              <a:t>ser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-21" dirty="0">
                <a:latin typeface="Calibri"/>
                <a:cs typeface="Calibri"/>
              </a:rPr>
              <a:t>alterado!</a:t>
            </a:r>
            <a:endParaRPr sz="2959">
              <a:latin typeface="Calibri"/>
              <a:cs typeface="Calibri"/>
            </a:endParaRPr>
          </a:p>
          <a:p>
            <a:pPr marL="662984" lvl="1" indent="-332834">
              <a:spcBef>
                <a:spcPts val="1046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27" dirty="0">
                <a:latin typeface="Arial"/>
                <a:cs typeface="Arial"/>
              </a:rPr>
              <a:t>porém,</a:t>
            </a:r>
            <a:r>
              <a:rPr sz="2536" spc="63" dirty="0">
                <a:latin typeface="Arial"/>
                <a:cs typeface="Arial"/>
              </a:rPr>
              <a:t> </a:t>
            </a:r>
            <a:r>
              <a:rPr sz="2536" b="1" dirty="0">
                <a:latin typeface="Calibri"/>
                <a:cs typeface="Calibri"/>
              </a:rPr>
              <a:t>a</a:t>
            </a:r>
            <a:r>
              <a:rPr sz="2536" b="1" spc="190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cada</a:t>
            </a:r>
            <a:r>
              <a:rPr sz="2536" b="1" spc="190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instante</a:t>
            </a:r>
            <a:r>
              <a:rPr sz="2536" b="1" spc="190" dirty="0">
                <a:latin typeface="Calibri"/>
                <a:cs typeface="Calibri"/>
              </a:rPr>
              <a:t> </a:t>
            </a:r>
            <a:r>
              <a:rPr sz="2536" spc="-148" dirty="0">
                <a:latin typeface="Arial"/>
                <a:cs typeface="Arial"/>
              </a:rPr>
              <a:t>pode</a:t>
            </a:r>
            <a:r>
              <a:rPr sz="2536" spc="63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assumir</a:t>
            </a:r>
            <a:r>
              <a:rPr sz="2536" spc="63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somente</a:t>
            </a:r>
            <a:r>
              <a:rPr sz="2536" spc="6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</a:t>
            </a:r>
            <a:r>
              <a:rPr sz="2536" spc="63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único</a:t>
            </a:r>
            <a:r>
              <a:rPr sz="2536" spc="74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valor.</a:t>
            </a:r>
            <a:endParaRPr sz="253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10" y="853146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Regras</a:t>
            </a:r>
            <a:r>
              <a:rPr spc="201" dirty="0"/>
              <a:t> </a:t>
            </a:r>
            <a:r>
              <a:rPr dirty="0"/>
              <a:t>para</a:t>
            </a:r>
            <a:r>
              <a:rPr spc="201" dirty="0"/>
              <a:t> </a:t>
            </a:r>
            <a:r>
              <a:rPr dirty="0"/>
              <a:t>nomear</a:t>
            </a:r>
            <a:r>
              <a:rPr spc="201" dirty="0"/>
              <a:t> </a:t>
            </a:r>
            <a:r>
              <a:rPr spc="-21" dirty="0"/>
              <a:t>variáveis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9043" y="1649170"/>
            <a:ext cx="11627732" cy="4749030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402" dirty="0">
                <a:latin typeface="Calibri"/>
                <a:cs typeface="Calibri"/>
              </a:rPr>
              <a:t>O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nome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da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variável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(identificador)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deve </a:t>
            </a:r>
            <a:r>
              <a:rPr sz="2959" b="1" spc="106" dirty="0">
                <a:latin typeface="Calibri"/>
                <a:cs typeface="Calibri"/>
              </a:rPr>
              <a:t>ser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único</a:t>
            </a:r>
            <a:endParaRPr sz="2959" dirty="0">
              <a:latin typeface="Calibri"/>
              <a:cs typeface="Calibri"/>
            </a:endParaRPr>
          </a:p>
          <a:p>
            <a:pPr marL="330150">
              <a:spcBef>
                <a:spcPts val="1057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81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deve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seguir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algumas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regras.</a:t>
            </a:r>
            <a:endParaRPr sz="2536" dirty="0">
              <a:latin typeface="Arial"/>
              <a:cs typeface="Arial"/>
            </a:endParaRPr>
          </a:p>
          <a:p>
            <a:pPr marL="508645" indent="-481804">
              <a:spcBef>
                <a:spcPts val="1691"/>
              </a:spcBef>
              <a:buClr>
                <a:srgbClr val="00AC8C"/>
              </a:buClr>
              <a:buFont typeface="Calibri"/>
              <a:buAutoNum type="arabicPeriod"/>
              <a:tabLst>
                <a:tab pos="508645" algn="l"/>
              </a:tabLst>
            </a:pPr>
            <a:r>
              <a:rPr sz="2959" spc="-127" dirty="0">
                <a:latin typeface="Arial"/>
                <a:cs typeface="Arial"/>
              </a:rPr>
              <a:t>não</a:t>
            </a:r>
            <a:r>
              <a:rPr sz="2959" dirty="0">
                <a:latin typeface="Arial"/>
                <a:cs typeface="Arial"/>
              </a:rPr>
              <a:t> utilizar</a:t>
            </a:r>
            <a:r>
              <a:rPr sz="2959" spc="11" dirty="0">
                <a:latin typeface="Arial"/>
                <a:cs typeface="Arial"/>
              </a:rPr>
              <a:t> </a:t>
            </a:r>
            <a:r>
              <a:rPr sz="2959" spc="-222" dirty="0">
                <a:latin typeface="Arial"/>
                <a:cs typeface="Arial"/>
              </a:rPr>
              <a:t>espaços</a:t>
            </a:r>
            <a:r>
              <a:rPr sz="2959" spc="11" dirty="0">
                <a:latin typeface="Arial"/>
                <a:cs typeface="Arial"/>
              </a:rPr>
              <a:t> </a:t>
            </a:r>
            <a:r>
              <a:rPr sz="2959" spc="-53" dirty="0">
                <a:latin typeface="Arial"/>
                <a:cs typeface="Arial"/>
              </a:rPr>
              <a:t>entre</a:t>
            </a:r>
            <a:r>
              <a:rPr sz="2959" spc="11" dirty="0">
                <a:latin typeface="Arial"/>
                <a:cs typeface="Arial"/>
              </a:rPr>
              <a:t> </a:t>
            </a:r>
            <a:r>
              <a:rPr sz="2959" spc="-254" dirty="0">
                <a:latin typeface="Arial"/>
                <a:cs typeface="Arial"/>
              </a:rPr>
              <a:t>as</a:t>
            </a:r>
            <a:r>
              <a:rPr sz="2959" dirty="0">
                <a:latin typeface="Arial"/>
                <a:cs typeface="Arial"/>
              </a:rPr>
              <a:t> </a:t>
            </a:r>
            <a:r>
              <a:rPr sz="2959" spc="-21" dirty="0">
                <a:latin typeface="Arial"/>
                <a:cs typeface="Arial"/>
              </a:rPr>
              <a:t>letras;</a:t>
            </a:r>
            <a:endParaRPr sz="2959" dirty="0">
              <a:latin typeface="Arial"/>
              <a:cs typeface="Arial"/>
            </a:endParaRPr>
          </a:p>
          <a:p>
            <a:pPr marL="508645" indent="-481804">
              <a:spcBef>
                <a:spcPts val="1226"/>
              </a:spcBef>
              <a:buClr>
                <a:srgbClr val="00AC8C"/>
              </a:buClr>
              <a:buFont typeface="Calibri"/>
              <a:buAutoNum type="arabicPeriod"/>
              <a:tabLst>
                <a:tab pos="508645" algn="l"/>
              </a:tabLst>
            </a:pPr>
            <a:r>
              <a:rPr sz="2959" spc="-127" dirty="0">
                <a:latin typeface="Arial"/>
                <a:cs typeface="Arial"/>
              </a:rPr>
              <a:t>não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iniciar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48" dirty="0">
                <a:latin typeface="Arial"/>
                <a:cs typeface="Arial"/>
              </a:rPr>
              <a:t>o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16" dirty="0">
                <a:latin typeface="Arial"/>
                <a:cs typeface="Arial"/>
              </a:rPr>
              <a:t>nome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da</a:t>
            </a:r>
            <a:r>
              <a:rPr sz="2959" spc="-63" dirty="0">
                <a:latin typeface="Arial"/>
                <a:cs typeface="Arial"/>
              </a:rPr>
              <a:t> variável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com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21" dirty="0">
                <a:latin typeface="Arial"/>
                <a:cs typeface="Arial"/>
              </a:rPr>
              <a:t>número;</a:t>
            </a:r>
            <a:endParaRPr sz="2959" dirty="0">
              <a:latin typeface="Arial"/>
              <a:cs typeface="Arial"/>
            </a:endParaRPr>
          </a:p>
          <a:p>
            <a:pPr marL="508645" indent="-481804">
              <a:spcBef>
                <a:spcPts val="1226"/>
              </a:spcBef>
              <a:buClr>
                <a:srgbClr val="00AC8C"/>
              </a:buClr>
              <a:buFont typeface="Calibri"/>
              <a:buAutoNum type="arabicPeriod"/>
              <a:tabLst>
                <a:tab pos="508645" algn="l"/>
              </a:tabLst>
            </a:pPr>
            <a:r>
              <a:rPr sz="2959" spc="-127" dirty="0">
                <a:latin typeface="Arial"/>
                <a:cs typeface="Arial"/>
              </a:rPr>
              <a:t>não</a:t>
            </a:r>
            <a:r>
              <a:rPr sz="2959" spc="-21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utilizar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95" dirty="0">
                <a:latin typeface="Arial"/>
                <a:cs typeface="Arial"/>
              </a:rPr>
              <a:t>palavras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148" dirty="0">
                <a:latin typeface="Arial"/>
                <a:cs typeface="Arial"/>
              </a:rPr>
              <a:t>reservadas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da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21" dirty="0">
                <a:latin typeface="Arial"/>
                <a:cs typeface="Arial"/>
              </a:rPr>
              <a:t>linguagem;</a:t>
            </a:r>
            <a:endParaRPr sz="2959" dirty="0">
              <a:latin typeface="Arial"/>
              <a:cs typeface="Arial"/>
            </a:endParaRPr>
          </a:p>
          <a:p>
            <a:pPr marL="508645" indent="-481804">
              <a:spcBef>
                <a:spcPts val="1226"/>
              </a:spcBef>
              <a:buClr>
                <a:srgbClr val="00AC8C"/>
              </a:buClr>
              <a:buFont typeface="Calibri"/>
              <a:buAutoNum type="arabicPeriod"/>
              <a:tabLst>
                <a:tab pos="508645" algn="l"/>
              </a:tabLst>
            </a:pPr>
            <a:r>
              <a:rPr sz="2959" spc="-127" dirty="0">
                <a:latin typeface="Arial"/>
                <a:cs typeface="Arial"/>
              </a:rPr>
              <a:t>não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utilizar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spc="-127" dirty="0">
                <a:latin typeface="Arial"/>
                <a:cs typeface="Arial"/>
              </a:rPr>
              <a:t>caracteres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spc="-159" dirty="0">
                <a:latin typeface="Arial"/>
                <a:cs typeface="Arial"/>
              </a:rPr>
              <a:t>especiais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spc="-127" dirty="0">
                <a:latin typeface="Arial"/>
                <a:cs typeface="Arial"/>
              </a:rPr>
              <a:t>(acentos,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spc="-116" dirty="0">
                <a:latin typeface="Arial"/>
                <a:cs typeface="Arial"/>
              </a:rPr>
              <a:t>símbolos,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spc="-444" dirty="0">
                <a:latin typeface="Arial"/>
                <a:cs typeface="Arial"/>
              </a:rPr>
              <a:t>?</a:t>
            </a:r>
            <a:r>
              <a:rPr sz="2959" spc="95" dirty="0">
                <a:latin typeface="Arial"/>
                <a:cs typeface="Arial"/>
              </a:rPr>
              <a:t> </a:t>
            </a:r>
            <a:r>
              <a:rPr sz="2959" spc="148" dirty="0">
                <a:latin typeface="Arial"/>
                <a:cs typeface="Arial"/>
              </a:rPr>
              <a:t>/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:</a:t>
            </a:r>
            <a:r>
              <a:rPr sz="2959" spc="877" dirty="0">
                <a:latin typeface="Arial"/>
                <a:cs typeface="Arial"/>
              </a:rPr>
              <a:t> </a:t>
            </a:r>
            <a:r>
              <a:rPr sz="2959" spc="-211" dirty="0">
                <a:latin typeface="Arial"/>
                <a:cs typeface="Arial"/>
              </a:rPr>
              <a:t>ç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spc="-190" dirty="0">
                <a:latin typeface="Arial"/>
                <a:cs typeface="Arial"/>
              </a:rPr>
              <a:t>#,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spc="-21" dirty="0">
                <a:latin typeface="Arial"/>
                <a:cs typeface="Arial"/>
              </a:rPr>
              <a:t>etc);</a:t>
            </a:r>
            <a:endParaRPr sz="2959" dirty="0">
              <a:latin typeface="Arial"/>
              <a:cs typeface="Arial"/>
            </a:endParaRPr>
          </a:p>
          <a:p>
            <a:pPr marL="508645" indent="-481804">
              <a:spcBef>
                <a:spcPts val="1226"/>
              </a:spcBef>
              <a:buClr>
                <a:srgbClr val="00AC8C"/>
              </a:buClr>
              <a:buFont typeface="Calibri"/>
              <a:buAutoNum type="arabicPeriod"/>
              <a:tabLst>
                <a:tab pos="508645" algn="l"/>
              </a:tabLst>
            </a:pPr>
            <a:r>
              <a:rPr sz="2959" spc="-159" dirty="0">
                <a:latin typeface="Arial"/>
                <a:cs typeface="Arial"/>
              </a:rPr>
              <a:t>ser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42" dirty="0">
                <a:latin typeface="Arial"/>
                <a:cs typeface="Arial"/>
              </a:rPr>
              <a:t>sucinto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296" dirty="0">
                <a:latin typeface="Arial"/>
                <a:cs typeface="Arial"/>
              </a:rPr>
              <a:t>e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utilizar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148" dirty="0">
                <a:latin typeface="Arial"/>
                <a:cs typeface="Arial"/>
              </a:rPr>
              <a:t>nomes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148" dirty="0">
                <a:latin typeface="Arial"/>
                <a:cs typeface="Arial"/>
              </a:rPr>
              <a:t>coerentes</a:t>
            </a:r>
            <a:r>
              <a:rPr sz="2959" dirty="0">
                <a:latin typeface="Arial"/>
                <a:cs typeface="Arial"/>
              </a:rPr>
              <a:t> </a:t>
            </a:r>
            <a:r>
              <a:rPr sz="2959" spc="-159" dirty="0">
                <a:latin typeface="Arial"/>
                <a:cs typeface="Arial"/>
              </a:rPr>
              <a:t>(boas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63" dirty="0">
                <a:latin typeface="Arial"/>
                <a:cs typeface="Arial"/>
              </a:rPr>
              <a:t>práticas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180" dirty="0">
                <a:latin typeface="Arial"/>
                <a:cs typeface="Arial"/>
              </a:rPr>
              <a:t>de</a:t>
            </a:r>
            <a:r>
              <a:rPr sz="2959" spc="-11" dirty="0">
                <a:latin typeface="Arial"/>
                <a:cs typeface="Arial"/>
              </a:rPr>
              <a:t> </a:t>
            </a:r>
            <a:r>
              <a:rPr sz="2959" spc="-63" dirty="0">
                <a:latin typeface="Arial"/>
                <a:cs typeface="Arial"/>
              </a:rPr>
              <a:t>programação).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036" y="890252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Regras</a:t>
            </a:r>
            <a:r>
              <a:rPr spc="201" dirty="0"/>
              <a:t> </a:t>
            </a:r>
            <a:r>
              <a:rPr dirty="0"/>
              <a:t>para</a:t>
            </a:r>
            <a:r>
              <a:rPr spc="201" dirty="0"/>
              <a:t> </a:t>
            </a:r>
            <a:r>
              <a:rPr dirty="0"/>
              <a:t>nomear</a:t>
            </a:r>
            <a:r>
              <a:rPr spc="201" dirty="0"/>
              <a:t> </a:t>
            </a:r>
            <a:r>
              <a:rPr spc="-21" dirty="0"/>
              <a:t>variáveis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30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419726" y="1957983"/>
            <a:ext cx="10954011" cy="3233230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201" dirty="0">
                <a:latin typeface="Calibri"/>
                <a:cs typeface="Calibri"/>
              </a:rPr>
              <a:t>Fique</a:t>
            </a:r>
            <a:r>
              <a:rPr sz="2959" b="1" spc="85" dirty="0">
                <a:latin typeface="Calibri"/>
                <a:cs typeface="Calibri"/>
              </a:rPr>
              <a:t> </a:t>
            </a:r>
            <a:r>
              <a:rPr sz="2959" b="1" spc="-21" dirty="0">
                <a:latin typeface="Calibri"/>
                <a:cs typeface="Calibri"/>
              </a:rPr>
              <a:t>atento‼!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06" dirty="0">
                <a:latin typeface="Arial"/>
                <a:cs typeface="Arial"/>
              </a:rPr>
              <a:t>variáveis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em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java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são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case-</a:t>
            </a:r>
            <a:r>
              <a:rPr sz="2536" spc="-21" dirty="0">
                <a:latin typeface="Arial"/>
                <a:cs typeface="Arial"/>
              </a:rPr>
              <a:t>sensitive!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80" dirty="0">
                <a:latin typeface="Arial"/>
                <a:cs typeface="Arial"/>
              </a:rPr>
              <a:t>nomes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com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letras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maiúsculas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são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diferentes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nomes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com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letras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minúsculas‼</a:t>
            </a:r>
            <a:endParaRPr sz="2536" dirty="0">
              <a:latin typeface="Arial"/>
              <a:cs typeface="Arial"/>
            </a:endParaRPr>
          </a:p>
          <a:p>
            <a:pPr lvl="1">
              <a:spcBef>
                <a:spcPts val="1807"/>
              </a:spcBef>
              <a:buClr>
                <a:srgbClr val="00AC8C"/>
              </a:buClr>
              <a:buFont typeface="Arial"/>
              <a:buChar char="–"/>
            </a:pPr>
            <a:endParaRPr sz="2536" dirty="0">
              <a:latin typeface="Arial"/>
              <a:cs typeface="Arial"/>
            </a:endParaRPr>
          </a:p>
          <a:p>
            <a:pPr marL="1376966">
              <a:lnSpc>
                <a:spcPts val="3530"/>
              </a:lnSpc>
              <a:tabLst>
                <a:tab pos="5368290" algn="l"/>
                <a:tab pos="9320694" algn="l"/>
              </a:tabLst>
            </a:pPr>
            <a:r>
              <a:rPr sz="2959" spc="-21" dirty="0">
                <a:latin typeface="Arial"/>
                <a:cs typeface="Arial"/>
              </a:rPr>
              <a:t>idade</a:t>
            </a:r>
            <a:r>
              <a:rPr sz="2959" dirty="0">
                <a:latin typeface="Arial"/>
                <a:cs typeface="Arial"/>
              </a:rPr>
              <a:t>	</a:t>
            </a:r>
            <a:r>
              <a:rPr sz="2959" spc="-21" dirty="0">
                <a:latin typeface="Arial"/>
                <a:cs typeface="Arial"/>
              </a:rPr>
              <a:t>Idade</a:t>
            </a:r>
            <a:r>
              <a:rPr sz="2959" dirty="0">
                <a:latin typeface="Arial"/>
                <a:cs typeface="Arial"/>
              </a:rPr>
              <a:t>	</a:t>
            </a:r>
            <a:r>
              <a:rPr sz="2959" spc="-21" dirty="0">
                <a:latin typeface="Arial"/>
                <a:cs typeface="Arial"/>
              </a:rPr>
              <a:t>idaDE</a:t>
            </a:r>
            <a:endParaRPr sz="2959" dirty="0">
              <a:latin typeface="Arial"/>
              <a:cs typeface="Arial"/>
            </a:endParaRPr>
          </a:p>
          <a:p>
            <a:pPr marL="351623" indent="-324782">
              <a:lnSpc>
                <a:spcPts val="3530"/>
              </a:lnSpc>
              <a:buClr>
                <a:srgbClr val="00AC8C"/>
              </a:buClr>
              <a:buChar char="•"/>
              <a:tabLst>
                <a:tab pos="351623" algn="l"/>
              </a:tabLst>
            </a:pPr>
            <a:r>
              <a:rPr sz="2959" spc="-169" dirty="0">
                <a:latin typeface="Arial"/>
                <a:cs typeface="Arial"/>
              </a:rPr>
              <a:t>Referem-se</a:t>
            </a:r>
            <a:r>
              <a:rPr sz="2959" spc="-21" dirty="0">
                <a:latin typeface="Arial"/>
                <a:cs typeface="Arial"/>
              </a:rPr>
              <a:t> </a:t>
            </a:r>
            <a:r>
              <a:rPr sz="2959" spc="-190" dirty="0">
                <a:latin typeface="Arial"/>
                <a:cs typeface="Arial"/>
              </a:rPr>
              <a:t>a</a:t>
            </a:r>
            <a:r>
              <a:rPr sz="2959" spc="-21" dirty="0">
                <a:latin typeface="Arial"/>
                <a:cs typeface="Arial"/>
              </a:rPr>
              <a:t> </a:t>
            </a:r>
            <a:r>
              <a:rPr sz="2959" spc="-241" dirty="0">
                <a:latin typeface="Arial"/>
                <a:cs typeface="Arial"/>
              </a:rPr>
              <a:t>3</a:t>
            </a:r>
            <a:r>
              <a:rPr sz="2959" spc="-21" dirty="0">
                <a:latin typeface="Arial"/>
                <a:cs typeface="Arial"/>
              </a:rPr>
              <a:t> </a:t>
            </a:r>
            <a:r>
              <a:rPr sz="2959" spc="-85" dirty="0">
                <a:latin typeface="Arial"/>
                <a:cs typeface="Arial"/>
              </a:rPr>
              <a:t>variáveis</a:t>
            </a:r>
            <a:r>
              <a:rPr sz="2959" spc="-21" dirty="0">
                <a:latin typeface="Arial"/>
                <a:cs typeface="Arial"/>
              </a:rPr>
              <a:t> distintas!</a:t>
            </a:r>
            <a:endParaRPr sz="2959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313" y="876820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Será</a:t>
            </a:r>
            <a:r>
              <a:rPr spc="-21" dirty="0"/>
              <a:t> </a:t>
            </a:r>
            <a:r>
              <a:rPr dirty="0"/>
              <a:t>que</a:t>
            </a:r>
            <a:r>
              <a:rPr spc="-11" dirty="0"/>
              <a:t> </a:t>
            </a:r>
            <a:r>
              <a:rPr dirty="0"/>
              <a:t>entendi</a:t>
            </a:r>
            <a:r>
              <a:rPr spc="-11" dirty="0"/>
              <a:t> </a:t>
            </a:r>
            <a:r>
              <a:rPr spc="-21" dirty="0"/>
              <a:t>tudo?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31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651945" y="1993528"/>
            <a:ext cx="7570641" cy="4370978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Char char="•"/>
              <a:tabLst>
                <a:tab pos="351623" algn="l"/>
              </a:tabLst>
            </a:pPr>
            <a:r>
              <a:rPr sz="2959" spc="-190" dirty="0">
                <a:latin typeface="Arial"/>
                <a:cs typeface="Arial"/>
              </a:rPr>
              <a:t>Os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48" dirty="0">
                <a:latin typeface="Arial"/>
                <a:cs typeface="Arial"/>
              </a:rPr>
              <a:t>nomes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90" dirty="0">
                <a:latin typeface="Arial"/>
                <a:cs typeface="Arial"/>
              </a:rPr>
              <a:t>a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74" dirty="0">
                <a:latin typeface="Arial"/>
                <a:cs typeface="Arial"/>
              </a:rPr>
              <a:t>seguir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222" dirty="0">
                <a:latin typeface="Arial"/>
                <a:cs typeface="Arial"/>
              </a:rPr>
              <a:t>são</a:t>
            </a:r>
            <a:r>
              <a:rPr sz="2959" spc="-63" dirty="0">
                <a:latin typeface="Arial"/>
                <a:cs typeface="Arial"/>
              </a:rPr>
              <a:t> válidos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95" dirty="0">
                <a:latin typeface="Arial"/>
                <a:cs typeface="Arial"/>
              </a:rPr>
              <a:t>para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95" dirty="0">
                <a:latin typeface="Arial"/>
                <a:cs typeface="Arial"/>
              </a:rPr>
              <a:t>variáveis?</a:t>
            </a:r>
            <a:endParaRPr sz="2959" dirty="0">
              <a:latin typeface="Arial"/>
              <a:cs typeface="Arial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SzPct val="120000"/>
              <a:buFont typeface="Arial"/>
              <a:buChar char="–"/>
              <a:tabLst>
                <a:tab pos="662984" algn="l"/>
              </a:tabLst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Lado.deste.terreno</a:t>
            </a:r>
            <a:r>
              <a:rPr sz="2114" spc="-241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536" spc="-106" dirty="0">
                <a:solidFill>
                  <a:srgbClr val="FF0000"/>
                </a:solidFill>
                <a:latin typeface="Adobe Clean Han"/>
                <a:cs typeface="Adobe Clean Han"/>
              </a:rPr>
              <a:t>X</a:t>
            </a:r>
            <a:endParaRPr sz="2536" dirty="0">
              <a:latin typeface="Adobe Clean Han"/>
              <a:cs typeface="Adobe Clean Han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SzPct val="120000"/>
              <a:buFont typeface="Arial"/>
              <a:buChar char="–"/>
              <a:tabLst>
                <a:tab pos="662984" algn="l"/>
              </a:tabLst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media</a:t>
            </a:r>
            <a:r>
              <a:rPr sz="2114" spc="-38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536" spc="21" dirty="0">
                <a:solidFill>
                  <a:srgbClr val="009380"/>
                </a:solidFill>
                <a:latin typeface="Adobe Clean Han"/>
                <a:cs typeface="Adobe Clean Han"/>
              </a:rPr>
              <a:t>✓</a:t>
            </a:r>
            <a:endParaRPr sz="2536" dirty="0">
              <a:latin typeface="Adobe Clean Han"/>
              <a:cs typeface="Adobe Clean Han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Font typeface="Arial"/>
              <a:buChar char="–"/>
              <a:tabLst>
                <a:tab pos="662984" algn="l"/>
              </a:tabLst>
            </a:pPr>
            <a:r>
              <a:rPr sz="2536" spc="-21" dirty="0">
                <a:latin typeface="BIZ UDGothic"/>
                <a:cs typeface="BIZ UDGothic"/>
              </a:rPr>
              <a:t>class</a:t>
            </a:r>
            <a:r>
              <a:rPr sz="2536" spc="-602" dirty="0">
                <a:latin typeface="BIZ UDGothic"/>
                <a:cs typeface="BIZ UDGothic"/>
              </a:rPr>
              <a:t> </a:t>
            </a:r>
            <a:r>
              <a:rPr sz="2536" spc="-106" dirty="0">
                <a:solidFill>
                  <a:srgbClr val="FF0000"/>
                </a:solidFill>
                <a:latin typeface="Adobe Clean Han"/>
                <a:cs typeface="Adobe Clean Han"/>
              </a:rPr>
              <a:t>X</a:t>
            </a:r>
            <a:endParaRPr sz="2536" dirty="0">
              <a:latin typeface="Adobe Clean Han"/>
              <a:cs typeface="Adobe Clean Han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SzPct val="120000"/>
              <a:buFont typeface="Arial"/>
              <a:buChar char="–"/>
              <a:tabLst>
                <a:tab pos="662984" algn="l"/>
              </a:tabLst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endereco@e-mail</a:t>
            </a:r>
            <a:r>
              <a:rPr sz="2114" spc="-27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536" spc="-106" dirty="0">
                <a:solidFill>
                  <a:srgbClr val="FF0000"/>
                </a:solidFill>
                <a:latin typeface="Adobe Clean Han"/>
                <a:cs typeface="Adobe Clean Han"/>
              </a:rPr>
              <a:t>X</a:t>
            </a:r>
            <a:endParaRPr sz="2536" dirty="0">
              <a:latin typeface="Adobe Clean Han"/>
              <a:cs typeface="Adobe Clean Han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SzPct val="120000"/>
              <a:buFont typeface="Arial"/>
              <a:buChar char="–"/>
              <a:tabLst>
                <a:tab pos="662984" algn="l"/>
              </a:tabLst>
            </a:pP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prova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1</a:t>
            </a:r>
            <a:r>
              <a:rPr sz="2114" spc="-431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536" spc="-106" dirty="0">
                <a:solidFill>
                  <a:srgbClr val="FF0000"/>
                </a:solidFill>
                <a:latin typeface="Adobe Clean Han"/>
                <a:cs typeface="Adobe Clean Han"/>
              </a:rPr>
              <a:t>X</a:t>
            </a:r>
            <a:endParaRPr sz="2536" dirty="0">
              <a:latin typeface="Adobe Clean Han"/>
              <a:cs typeface="Adobe Clean Han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SzPct val="120000"/>
              <a:buFont typeface="Arial"/>
              <a:buChar char="–"/>
              <a:tabLst>
                <a:tab pos="662984" algn="l"/>
              </a:tabLst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mediaAritmeticaConstrucao_Algoritmos</a:t>
            </a:r>
            <a:r>
              <a:rPr sz="2114" spc="-74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536" spc="42" dirty="0">
                <a:solidFill>
                  <a:srgbClr val="009380"/>
                </a:solidFill>
                <a:latin typeface="Adobe Clean Han"/>
                <a:cs typeface="Adobe Clean Han"/>
              </a:rPr>
              <a:t>✓</a:t>
            </a:r>
            <a:endParaRPr sz="2536" dirty="0">
              <a:latin typeface="Adobe Clean Han"/>
              <a:cs typeface="Adobe Clean Han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SzPct val="120000"/>
              <a:buFont typeface="Arial"/>
              <a:buChar char="–"/>
              <a:tabLst>
                <a:tab pos="662984" algn="l"/>
              </a:tabLst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salario/hora</a:t>
            </a:r>
            <a:r>
              <a:rPr sz="2114" spc="-306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536" spc="-106" dirty="0">
                <a:solidFill>
                  <a:srgbClr val="FF0000"/>
                </a:solidFill>
                <a:latin typeface="Adobe Clean Han"/>
                <a:cs typeface="Adobe Clean Han"/>
              </a:rPr>
              <a:t>X</a:t>
            </a:r>
            <a:endParaRPr sz="2536" dirty="0">
              <a:latin typeface="Adobe Clean Han"/>
              <a:cs typeface="Adobe Clean H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396988" y="958855"/>
            <a:ext cx="11354304" cy="698049"/>
          </a:xfrm>
          <a:prstGeom prst="rect">
            <a:avLst/>
          </a:prstGeom>
        </p:spPr>
        <p:txBody>
          <a:bodyPr vert="horz" wrap="square" lIns="0" tIns="194601" rIns="0" bIns="0" rtlCol="0" anchor="t">
            <a:spAutoFit/>
          </a:bodyPr>
          <a:lstStyle/>
          <a:p>
            <a:pPr marL="26841" marR="10737" algn="ctr">
              <a:lnSpc>
                <a:spcPct val="75200"/>
              </a:lnSpc>
              <a:spcBef>
                <a:spcPts val="1532"/>
              </a:spcBef>
            </a:pPr>
            <a:r>
              <a:rPr sz="4333" b="0" spc="-74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Estrutura</a:t>
            </a:r>
            <a:r>
              <a:rPr sz="4333" b="0" spc="-137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4333" b="0" spc="-27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de</a:t>
            </a:r>
            <a:r>
              <a:rPr sz="4333" b="0" spc="-116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4333" b="0" spc="-53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um</a:t>
            </a:r>
            <a:r>
              <a:rPr sz="4333" b="0" spc="-5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333" b="0" spc="-127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programa/</a:t>
            </a:r>
            <a:r>
              <a:rPr sz="4333" b="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4333" b="0" spc="-222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comando</a:t>
            </a:r>
            <a:r>
              <a:rPr sz="4333" b="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4333" b="0" spc="-19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de</a:t>
            </a:r>
            <a:r>
              <a:rPr sz="4333" b="0" spc="-1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333" b="0" spc="-21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saída</a:t>
            </a:r>
            <a:endParaRPr sz="4333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773006" y="9240641"/>
            <a:ext cx="10602269" cy="465511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41604" marR="10737" indent="-16105">
              <a:lnSpc>
                <a:spcPct val="100800"/>
              </a:lnSpc>
              <a:spcBef>
                <a:spcPts val="232"/>
              </a:spcBef>
            </a:pP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Tipos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dados,</a:t>
            </a:r>
            <a:r>
              <a:rPr sz="2959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operadores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e</a:t>
            </a:r>
            <a:r>
              <a:rPr sz="2959" spc="13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782" dirty="0">
                <a:solidFill>
                  <a:srgbClr val="FFFFFF"/>
                </a:solidFill>
                <a:latin typeface="PMingLiU"/>
                <a:cs typeface="PMingLiU"/>
              </a:rPr>
              <a:t>co�</a:t>
            </a:r>
            <a:r>
              <a:rPr sz="2959" spc="-63" dirty="0">
                <a:solidFill>
                  <a:srgbClr val="FFFFFF"/>
                </a:solidFill>
                <a:latin typeface="PMingLiU"/>
                <a:cs typeface="PMingLiU"/>
              </a:rPr>
              <a:t> mandos</a:t>
            </a:r>
            <a:r>
              <a:rPr sz="2959" spc="15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21" dirty="0">
                <a:solidFill>
                  <a:srgbClr val="FFFFFF"/>
                </a:solidFill>
                <a:latin typeface="PMingLiU"/>
                <a:cs typeface="PMingLiU"/>
              </a:rPr>
              <a:t>saida�entrada</a:t>
            </a:r>
            <a:endParaRPr sz="2959">
              <a:latin typeface="PMingLiU"/>
              <a:cs typeface="PMingLiU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096" y="895870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Estrutura</a:t>
            </a:r>
            <a:r>
              <a:rPr spc="222" dirty="0"/>
              <a:t> </a:t>
            </a:r>
            <a:r>
              <a:rPr dirty="0"/>
              <a:t>de</a:t>
            </a:r>
            <a:r>
              <a:rPr spc="222" dirty="0"/>
              <a:t> </a:t>
            </a:r>
            <a:r>
              <a:rPr dirty="0"/>
              <a:t>um</a:t>
            </a:r>
            <a:r>
              <a:rPr spc="222" dirty="0"/>
              <a:t> </a:t>
            </a:r>
            <a:r>
              <a:rPr dirty="0"/>
              <a:t>programa</a:t>
            </a:r>
            <a:r>
              <a:rPr spc="222" dirty="0"/>
              <a:t> </a:t>
            </a:r>
            <a:r>
              <a:rPr spc="-42"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234" y="1968325"/>
            <a:ext cx="10269553" cy="2921350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59" dirty="0">
                <a:latin typeface="Calibri"/>
                <a:cs typeface="Calibri"/>
              </a:rPr>
              <a:t>Java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é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190" dirty="0">
                <a:latin typeface="Calibri"/>
                <a:cs typeface="Calibri"/>
              </a:rPr>
              <a:t>uma</a:t>
            </a:r>
            <a:r>
              <a:rPr sz="2959" b="1" spc="148" dirty="0">
                <a:latin typeface="Calibri"/>
                <a:cs typeface="Calibri"/>
              </a:rPr>
              <a:t> </a:t>
            </a:r>
            <a:r>
              <a:rPr sz="2959" b="1" spc="190" dirty="0">
                <a:latin typeface="Calibri"/>
                <a:cs typeface="Calibri"/>
              </a:rPr>
              <a:t>linguagem</a:t>
            </a:r>
            <a:r>
              <a:rPr sz="2959" b="1" spc="137" dirty="0">
                <a:latin typeface="Calibri"/>
                <a:cs typeface="Calibri"/>
              </a:rPr>
              <a:t> orientada</a:t>
            </a:r>
            <a:r>
              <a:rPr sz="2959" b="1" spc="148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a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74" dirty="0">
                <a:latin typeface="Calibri"/>
                <a:cs typeface="Calibri"/>
              </a:rPr>
              <a:t>objeto.</a:t>
            </a:r>
            <a:endParaRPr sz="2959" dirty="0">
              <a:latin typeface="Calibri"/>
              <a:cs typeface="Calibri"/>
            </a:endParaRPr>
          </a:p>
          <a:p>
            <a:pPr marL="330150">
              <a:spcBef>
                <a:spcPts val="1057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todo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código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programa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deve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estar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definido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dentro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uma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classe.</a:t>
            </a:r>
            <a:endParaRPr sz="2536" dirty="0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48" dirty="0">
                <a:latin typeface="Calibri"/>
                <a:cs typeface="Calibri"/>
              </a:rPr>
              <a:t>Exemplo:</a:t>
            </a:r>
            <a:endParaRPr sz="2959" dirty="0">
              <a:latin typeface="Calibri"/>
              <a:cs typeface="Calibri"/>
            </a:endParaRPr>
          </a:p>
          <a:p>
            <a:pPr marL="626748">
              <a:spcBef>
                <a:spcPts val="1088"/>
              </a:spcBef>
              <a:tabLst>
                <a:tab pos="1028025" algn="l"/>
              </a:tabLst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1691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2114" b="1" spc="-106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2114" b="1" spc="-9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&lt;nomeDaClasse&gt;</a:t>
            </a:r>
            <a:r>
              <a:rPr sz="2114" spc="-9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2114" dirty="0">
              <a:latin typeface="BIZ UDGothic"/>
              <a:cs typeface="BIZ UDGothic"/>
            </a:endParaRPr>
          </a:p>
          <a:p>
            <a:pPr marL="626748">
              <a:spcBef>
                <a:spcPts val="412"/>
              </a:spcBef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1691" dirty="0">
              <a:latin typeface="BIZ UDGothic"/>
              <a:cs typeface="BIZ UDGothic"/>
            </a:endParaRPr>
          </a:p>
          <a:p>
            <a:pPr marL="626748">
              <a:spcBef>
                <a:spcPts val="74"/>
              </a:spcBef>
              <a:tabLst>
                <a:tab pos="1028025" algn="l"/>
              </a:tabLst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1691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2114" dirty="0">
              <a:latin typeface="BIZ UDGothic"/>
              <a:cs typeface="BIZ UD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036" y="895870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Estrutura</a:t>
            </a:r>
            <a:r>
              <a:rPr spc="222" dirty="0"/>
              <a:t> </a:t>
            </a:r>
            <a:r>
              <a:rPr dirty="0"/>
              <a:t>de</a:t>
            </a:r>
            <a:r>
              <a:rPr spc="222" dirty="0"/>
              <a:t> </a:t>
            </a:r>
            <a:r>
              <a:rPr dirty="0"/>
              <a:t>um</a:t>
            </a:r>
            <a:r>
              <a:rPr spc="222" dirty="0"/>
              <a:t> </a:t>
            </a:r>
            <a:r>
              <a:rPr dirty="0"/>
              <a:t>programa</a:t>
            </a:r>
            <a:r>
              <a:rPr spc="222" dirty="0"/>
              <a:t> </a:t>
            </a:r>
            <a:r>
              <a:rPr spc="-42" dirty="0"/>
              <a:t>Java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34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512300" y="1744182"/>
            <a:ext cx="11155322" cy="3452649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201" dirty="0">
                <a:latin typeface="Calibri"/>
                <a:cs typeface="Calibri"/>
              </a:rPr>
              <a:t>Além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85" dirty="0">
                <a:latin typeface="Calibri"/>
                <a:cs typeface="Calibri"/>
              </a:rPr>
              <a:t>disso: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01" dirty="0">
                <a:latin typeface="Arial"/>
                <a:cs typeface="Arial"/>
              </a:rPr>
              <a:t>deve</a:t>
            </a:r>
            <a:r>
              <a:rPr sz="2536" spc="42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estar</a:t>
            </a:r>
            <a:r>
              <a:rPr sz="2536" spc="42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definido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dentro</a:t>
            </a:r>
            <a:r>
              <a:rPr sz="2536" spc="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</a:t>
            </a:r>
            <a:r>
              <a:rPr sz="2536" spc="42" dirty="0">
                <a:latin typeface="Arial"/>
                <a:cs typeface="Arial"/>
              </a:rPr>
              <a:t> </a:t>
            </a:r>
            <a:r>
              <a:rPr sz="2536" b="1" dirty="0">
                <a:latin typeface="Calibri"/>
                <a:cs typeface="Calibri"/>
              </a:rPr>
              <a:t>método</a:t>
            </a:r>
            <a:r>
              <a:rPr sz="2536" b="1" spc="180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especial</a:t>
            </a:r>
            <a:r>
              <a:rPr sz="2536" b="1" spc="169" dirty="0">
                <a:latin typeface="Calibri"/>
                <a:cs typeface="Calibri"/>
              </a:rPr>
              <a:t> </a:t>
            </a:r>
            <a:r>
              <a:rPr sz="2536" spc="-137" dirty="0">
                <a:latin typeface="Arial"/>
                <a:cs typeface="Arial"/>
              </a:rPr>
              <a:t>da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classe</a:t>
            </a:r>
            <a:r>
              <a:rPr sz="2536" spc="42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chamado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b="1" spc="-21" dirty="0">
                <a:solidFill>
                  <a:srgbClr val="00AC8C"/>
                </a:solidFill>
                <a:latin typeface="Calibri"/>
                <a:cs typeface="Calibri"/>
              </a:rPr>
              <a:t>main()</a:t>
            </a:r>
            <a:r>
              <a:rPr sz="2536" spc="-21" dirty="0">
                <a:latin typeface="Arial"/>
                <a:cs typeface="Arial"/>
              </a:rPr>
              <a:t>.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método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b="1" dirty="0">
                <a:solidFill>
                  <a:srgbClr val="00AC8C"/>
                </a:solidFill>
                <a:latin typeface="Calibri"/>
                <a:cs typeface="Calibri"/>
              </a:rPr>
              <a:t>main()</a:t>
            </a:r>
            <a:r>
              <a:rPr sz="2536" b="1" spc="116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2536" spc="-285" dirty="0">
                <a:latin typeface="Arial"/>
                <a:cs typeface="Arial"/>
              </a:rPr>
              <a:t>é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ponto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partida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na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execução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programa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em</a:t>
            </a:r>
            <a:r>
              <a:rPr sz="2536" spc="-21" dirty="0">
                <a:latin typeface="Arial"/>
                <a:cs typeface="Arial"/>
              </a:rPr>
              <a:t> java.</a:t>
            </a:r>
            <a:endParaRPr sz="2536" dirty="0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Exemplo</a:t>
            </a:r>
            <a:endParaRPr sz="2959" dirty="0">
              <a:latin typeface="Calibri"/>
              <a:cs typeface="Calibri"/>
            </a:endParaRPr>
          </a:p>
          <a:p>
            <a:pPr marL="626748">
              <a:spcBef>
                <a:spcPts val="1088"/>
              </a:spcBef>
              <a:tabLst>
                <a:tab pos="1028025" algn="l"/>
              </a:tabLst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1691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2114" b="1" spc="-8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2114" b="1" spc="-8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2114" b="1" spc="-8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2114" spc="-8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2114" spc="-74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2114" dirty="0">
              <a:latin typeface="BIZ UDGothic"/>
              <a:cs typeface="BIZ UDGothic"/>
            </a:endParaRPr>
          </a:p>
          <a:p>
            <a:pPr marL="626748">
              <a:spcBef>
                <a:spcPts val="412"/>
              </a:spcBef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1691" dirty="0">
              <a:latin typeface="BIZ UDGothic"/>
              <a:cs typeface="BIZ UDGothic"/>
            </a:endParaRPr>
          </a:p>
          <a:p>
            <a:pPr marL="626748">
              <a:spcBef>
                <a:spcPts val="74"/>
              </a:spcBef>
              <a:tabLst>
                <a:tab pos="1028025" algn="l"/>
              </a:tabLst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1691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2114" dirty="0">
              <a:latin typeface="BIZ UDGothic"/>
              <a:cs typeface="BIZ UD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BBDB3E-CEF6-8B71-35B9-E8E3F24587DD}"/>
              </a:ext>
            </a:extLst>
          </p:cNvPr>
          <p:cNvSpPr txBox="1">
            <a:spLocks/>
          </p:cNvSpPr>
          <p:nvPr/>
        </p:nvSpPr>
        <p:spPr>
          <a:xfrm>
            <a:off x="314325" y="989872"/>
            <a:ext cx="14173093" cy="529032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lang="pt-BR" sz="3200"/>
              <a:t>Estrutura</a:t>
            </a:r>
            <a:r>
              <a:rPr lang="pt-BR" sz="3200" spc="190"/>
              <a:t> </a:t>
            </a:r>
            <a:r>
              <a:rPr lang="pt-BR" sz="3200"/>
              <a:t>de</a:t>
            </a:r>
            <a:r>
              <a:rPr lang="pt-BR" sz="3200" spc="201"/>
              <a:t> </a:t>
            </a:r>
            <a:r>
              <a:rPr lang="pt-BR" sz="3200"/>
              <a:t>um</a:t>
            </a:r>
            <a:r>
              <a:rPr lang="pt-BR" sz="3200" spc="190"/>
              <a:t> </a:t>
            </a:r>
            <a:r>
              <a:rPr lang="pt-BR" sz="3200"/>
              <a:t>programa</a:t>
            </a:r>
            <a:r>
              <a:rPr lang="pt-BR" sz="3200" spc="201"/>
              <a:t> </a:t>
            </a:r>
            <a:r>
              <a:rPr lang="pt-BR" sz="3200"/>
              <a:t>em</a:t>
            </a:r>
            <a:r>
              <a:rPr lang="pt-BR" sz="3200" spc="201"/>
              <a:t> </a:t>
            </a:r>
            <a:r>
              <a:rPr lang="pt-BR" sz="3200" spc="-42"/>
              <a:t>Java</a:t>
            </a:r>
            <a:endParaRPr lang="pt-BR" sz="3200" spc="-42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1660AA-8CFA-346C-C315-28D80005358F}"/>
              </a:ext>
            </a:extLst>
          </p:cNvPr>
          <p:cNvSpPr txBox="1"/>
          <p:nvPr/>
        </p:nvSpPr>
        <p:spPr>
          <a:xfrm>
            <a:off x="988574" y="2545715"/>
            <a:ext cx="6686214" cy="1949352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lnSpc>
                <a:spcPts val="2536"/>
              </a:lnSpc>
              <a:spcBef>
                <a:spcPts val="201"/>
              </a:spcBef>
            </a:pP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2114" b="1" spc="-74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2114" b="1" spc="-63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PrimeiroPrograma</a:t>
            </a:r>
            <a:r>
              <a:rPr sz="2114" b="1" spc="-21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2114" dirty="0">
              <a:latin typeface="BIZ UDGothic"/>
              <a:cs typeface="BIZ UDGothic"/>
            </a:endParaRPr>
          </a:p>
          <a:p>
            <a:pPr marL="267070">
              <a:lnSpc>
                <a:spcPts val="2526"/>
              </a:lnSpc>
            </a:pP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2114" b="1" spc="-9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2114" b="1" spc="-8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2114" b="1" spc="-8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2114" spc="-8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2114" spc="-21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2114" b="1" spc="-21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2114" dirty="0">
              <a:latin typeface="BIZ UDGothic"/>
              <a:cs typeface="BIZ UDGothic"/>
            </a:endParaRPr>
          </a:p>
          <a:p>
            <a:pPr marL="507301" marR="10737">
              <a:lnSpc>
                <a:spcPts val="2536"/>
              </a:lnSpc>
              <a:spcBef>
                <a:spcPts val="85"/>
              </a:spcBef>
            </a:pPr>
            <a:r>
              <a:rPr sz="2114" dirty="0">
                <a:solidFill>
                  <a:srgbClr val="009380"/>
                </a:solidFill>
                <a:latin typeface="BIZ UDGothic"/>
                <a:cs typeface="BIZ UDGothic"/>
              </a:rPr>
              <a:t>//</a:t>
            </a:r>
            <a:r>
              <a:rPr sz="2114" spc="-8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009380"/>
                </a:solidFill>
                <a:latin typeface="BIZ UDGothic"/>
                <a:cs typeface="BIZ UDGothic"/>
              </a:rPr>
              <a:t>Aqui</a:t>
            </a:r>
            <a:r>
              <a:rPr sz="2114" spc="-53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009380"/>
                </a:solidFill>
                <a:latin typeface="BIZ UDGothic"/>
                <a:cs typeface="BIZ UDGothic"/>
              </a:rPr>
              <a:t>serão</a:t>
            </a:r>
            <a:r>
              <a:rPr sz="2114" spc="-53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009380"/>
                </a:solidFill>
                <a:latin typeface="BIZ UDGothic"/>
                <a:cs typeface="BIZ UDGothic"/>
              </a:rPr>
              <a:t>digitados</a:t>
            </a:r>
            <a:r>
              <a:rPr sz="2114" spc="-63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009380"/>
                </a:solidFill>
                <a:latin typeface="BIZ UDGothic"/>
                <a:cs typeface="BIZ UDGothic"/>
              </a:rPr>
              <a:t>os</a:t>
            </a:r>
            <a:r>
              <a:rPr sz="2114" spc="-53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009380"/>
                </a:solidFill>
                <a:latin typeface="BIZ UDGothic"/>
                <a:cs typeface="BIZ UDGothic"/>
              </a:rPr>
              <a:t>passos</a:t>
            </a:r>
            <a:r>
              <a:rPr sz="2114" spc="-53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009380"/>
                </a:solidFill>
                <a:latin typeface="BIZ UDGothic"/>
                <a:cs typeface="BIZ UDGothic"/>
              </a:rPr>
              <a:t>do</a:t>
            </a:r>
            <a:r>
              <a:rPr sz="2114" spc="-53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009380"/>
                </a:solidFill>
                <a:latin typeface="BIZ UDGothic"/>
                <a:cs typeface="BIZ UDGothic"/>
              </a:rPr>
              <a:t>algoritmo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instrução1;</a:t>
            </a:r>
            <a:endParaRPr sz="2114" dirty="0">
              <a:latin typeface="BIZ UDGothic"/>
              <a:cs typeface="BIZ UDGothic"/>
            </a:endParaRPr>
          </a:p>
          <a:p>
            <a:pPr marL="507301">
              <a:lnSpc>
                <a:spcPts val="2431"/>
              </a:lnSpc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instrução2;</a:t>
            </a:r>
            <a:endParaRPr sz="2114" dirty="0">
              <a:latin typeface="BIZ UDGothic"/>
              <a:cs typeface="BIZ UDGothic"/>
            </a:endParaRPr>
          </a:p>
          <a:p>
            <a:pPr marL="507301">
              <a:lnSpc>
                <a:spcPts val="2536"/>
              </a:lnSpc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instrução3;</a:t>
            </a:r>
            <a:endParaRPr sz="2114" dirty="0">
              <a:latin typeface="BIZ UDGothic"/>
              <a:cs typeface="BIZ UD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787DB8-211C-B2EE-D9B8-FB7E88A29FF0}"/>
              </a:ext>
            </a:extLst>
          </p:cNvPr>
          <p:cNvSpPr txBox="1"/>
          <p:nvPr/>
        </p:nvSpPr>
        <p:spPr>
          <a:xfrm>
            <a:off x="1469894" y="4471083"/>
            <a:ext cx="1524596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instrução4;</a:t>
            </a:r>
            <a:endParaRPr sz="2114" dirty="0">
              <a:latin typeface="BIZ UDGothic"/>
              <a:cs typeface="BIZ UDGothic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AF65AC-DA9A-3722-A5ED-AF43AFD1EAF8}"/>
              </a:ext>
            </a:extLst>
          </p:cNvPr>
          <p:cNvSpPr txBox="1"/>
          <p:nvPr/>
        </p:nvSpPr>
        <p:spPr>
          <a:xfrm>
            <a:off x="1229234" y="4791974"/>
            <a:ext cx="187890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2114">
              <a:latin typeface="BIZ UDGothic"/>
              <a:cs typeface="BIZ UD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791A337-BE5C-6B14-F467-A9FBF257F6C7}"/>
              </a:ext>
            </a:extLst>
          </p:cNvPr>
          <p:cNvSpPr txBox="1"/>
          <p:nvPr/>
        </p:nvSpPr>
        <p:spPr>
          <a:xfrm>
            <a:off x="1041344" y="5112863"/>
            <a:ext cx="187890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2114">
              <a:latin typeface="BIZ UDGothic"/>
              <a:cs typeface="BIZ UDGothic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E529A08-9605-563E-8D6F-E21E8D271CE5}"/>
              </a:ext>
            </a:extLst>
          </p:cNvPr>
          <p:cNvGrpSpPr/>
          <p:nvPr/>
        </p:nvGrpSpPr>
        <p:grpSpPr>
          <a:xfrm>
            <a:off x="4184550" y="1754364"/>
            <a:ext cx="4081248" cy="1285707"/>
            <a:chOff x="2308569" y="490014"/>
            <a:chExt cx="1931035" cy="60833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7B7DB680-F14F-3C68-3061-C6C4B5C44628}"/>
                </a:ext>
              </a:extLst>
            </p:cNvPr>
            <p:cNvSpPr/>
            <p:nvPr/>
          </p:nvSpPr>
          <p:spPr>
            <a:xfrm>
              <a:off x="2311099" y="492544"/>
              <a:ext cx="901700" cy="443865"/>
            </a:xfrm>
            <a:custGeom>
              <a:avLst/>
              <a:gdLst/>
              <a:ahLst/>
              <a:cxnLst/>
              <a:rect l="l" t="t" r="r" b="b"/>
              <a:pathLst>
                <a:path w="901700" h="443865">
                  <a:moveTo>
                    <a:pt x="301288" y="209072"/>
                  </a:moveTo>
                  <a:lnTo>
                    <a:pt x="122984" y="425483"/>
                  </a:lnTo>
                  <a:lnTo>
                    <a:pt x="113488" y="438110"/>
                  </a:lnTo>
                  <a:lnTo>
                    <a:pt x="111522" y="443499"/>
                  </a:lnTo>
                  <a:lnTo>
                    <a:pt x="116881" y="441450"/>
                  </a:lnTo>
                  <a:lnTo>
                    <a:pt x="129361" y="431759"/>
                  </a:lnTo>
                  <a:lnTo>
                    <a:pt x="391289" y="209072"/>
                  </a:lnTo>
                  <a:lnTo>
                    <a:pt x="851007" y="209072"/>
                  </a:lnTo>
                  <a:lnTo>
                    <a:pt x="870707" y="205095"/>
                  </a:lnTo>
                  <a:lnTo>
                    <a:pt x="886794" y="194249"/>
                  </a:lnTo>
                  <a:lnTo>
                    <a:pt x="897640" y="178161"/>
                  </a:lnTo>
                  <a:lnTo>
                    <a:pt x="901617" y="158461"/>
                  </a:lnTo>
                  <a:lnTo>
                    <a:pt x="901617" y="50610"/>
                  </a:lnTo>
                  <a:lnTo>
                    <a:pt x="897640" y="30910"/>
                  </a:lnTo>
                  <a:lnTo>
                    <a:pt x="886794" y="14823"/>
                  </a:lnTo>
                  <a:lnTo>
                    <a:pt x="870707" y="3977"/>
                  </a:lnTo>
                  <a:lnTo>
                    <a:pt x="851007" y="0"/>
                  </a:ln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58461"/>
                  </a:lnTo>
                  <a:lnTo>
                    <a:pt x="3977" y="178161"/>
                  </a:lnTo>
                  <a:lnTo>
                    <a:pt x="14823" y="194249"/>
                  </a:lnTo>
                  <a:lnTo>
                    <a:pt x="30910" y="205095"/>
                  </a:lnTo>
                  <a:lnTo>
                    <a:pt x="50610" y="209072"/>
                  </a:lnTo>
                  <a:lnTo>
                    <a:pt x="301288" y="20907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EA7B7E0-4E88-49BD-5B03-E1880D5E7B6A}"/>
                </a:ext>
              </a:extLst>
            </p:cNvPr>
            <p:cNvSpPr/>
            <p:nvPr/>
          </p:nvSpPr>
          <p:spPr>
            <a:xfrm>
              <a:off x="3111621" y="644377"/>
              <a:ext cx="1125855" cy="451484"/>
            </a:xfrm>
            <a:custGeom>
              <a:avLst/>
              <a:gdLst/>
              <a:ahLst/>
              <a:cxnLst/>
              <a:rect l="l" t="t" r="r" b="b"/>
              <a:pathLst>
                <a:path w="1125854" h="451484">
                  <a:moveTo>
                    <a:pt x="439500" y="209072"/>
                  </a:moveTo>
                  <a:lnTo>
                    <a:pt x="17910" y="440211"/>
                  </a:lnTo>
                  <a:lnTo>
                    <a:pt x="4250" y="448021"/>
                  </a:lnTo>
                  <a:lnTo>
                    <a:pt x="0" y="451226"/>
                  </a:lnTo>
                  <a:lnTo>
                    <a:pt x="5106" y="449723"/>
                  </a:lnTo>
                  <a:lnTo>
                    <a:pt x="19519" y="443410"/>
                  </a:lnTo>
                  <a:lnTo>
                    <a:pt x="529501" y="209072"/>
                  </a:lnTo>
                  <a:lnTo>
                    <a:pt x="1074698" y="209072"/>
                  </a:lnTo>
                  <a:lnTo>
                    <a:pt x="1094398" y="205095"/>
                  </a:lnTo>
                  <a:lnTo>
                    <a:pt x="1110486" y="194249"/>
                  </a:lnTo>
                  <a:lnTo>
                    <a:pt x="1121332" y="178161"/>
                  </a:lnTo>
                  <a:lnTo>
                    <a:pt x="1125309" y="158461"/>
                  </a:lnTo>
                  <a:lnTo>
                    <a:pt x="1125309" y="50610"/>
                  </a:lnTo>
                  <a:lnTo>
                    <a:pt x="1121332" y="30910"/>
                  </a:lnTo>
                  <a:lnTo>
                    <a:pt x="1110486" y="14823"/>
                  </a:lnTo>
                  <a:lnTo>
                    <a:pt x="1094398" y="3977"/>
                  </a:lnTo>
                  <a:lnTo>
                    <a:pt x="1074698" y="0"/>
                  </a:lnTo>
                  <a:lnTo>
                    <a:pt x="312386" y="0"/>
                  </a:lnTo>
                  <a:lnTo>
                    <a:pt x="292686" y="3977"/>
                  </a:lnTo>
                  <a:lnTo>
                    <a:pt x="276599" y="14823"/>
                  </a:lnTo>
                  <a:lnTo>
                    <a:pt x="265753" y="30910"/>
                  </a:lnTo>
                  <a:lnTo>
                    <a:pt x="261776" y="50610"/>
                  </a:lnTo>
                  <a:lnTo>
                    <a:pt x="261776" y="158461"/>
                  </a:lnTo>
                  <a:lnTo>
                    <a:pt x="265753" y="178161"/>
                  </a:lnTo>
                  <a:lnTo>
                    <a:pt x="276599" y="194249"/>
                  </a:lnTo>
                  <a:lnTo>
                    <a:pt x="292686" y="205095"/>
                  </a:lnTo>
                  <a:lnTo>
                    <a:pt x="312386" y="209072"/>
                  </a:lnTo>
                  <a:lnTo>
                    <a:pt x="439500" y="20907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4454CBC1-7B01-B91F-FDBE-D79302071DA7}"/>
              </a:ext>
            </a:extLst>
          </p:cNvPr>
          <p:cNvSpPr txBox="1"/>
          <p:nvPr/>
        </p:nvSpPr>
        <p:spPr>
          <a:xfrm>
            <a:off x="4331681" y="1801555"/>
            <a:ext cx="3867858" cy="666949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lnSpc>
                <a:spcPts val="2536"/>
              </a:lnSpc>
              <a:spcBef>
                <a:spcPts val="201"/>
              </a:spcBef>
            </a:pPr>
            <a:r>
              <a:rPr sz="2114" spc="-42" dirty="0">
                <a:latin typeface="Arial"/>
                <a:cs typeface="Arial"/>
              </a:rPr>
              <a:t>início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116" dirty="0">
                <a:latin typeface="Arial"/>
                <a:cs typeface="Arial"/>
              </a:rPr>
              <a:t>da</a:t>
            </a:r>
            <a:r>
              <a:rPr sz="2114" spc="-21" dirty="0">
                <a:latin typeface="Arial"/>
                <a:cs typeface="Arial"/>
              </a:rPr>
              <a:t> classe</a:t>
            </a:r>
            <a:endParaRPr sz="2114" dirty="0">
              <a:latin typeface="Arial"/>
              <a:cs typeface="Arial"/>
            </a:endParaRPr>
          </a:p>
          <a:p>
            <a:pPr marL="2270787">
              <a:lnSpc>
                <a:spcPts val="2536"/>
              </a:lnSpc>
            </a:pPr>
            <a:r>
              <a:rPr sz="2114" spc="-42" dirty="0">
                <a:latin typeface="Arial"/>
                <a:cs typeface="Arial"/>
              </a:rPr>
              <a:t>início</a:t>
            </a:r>
            <a:r>
              <a:rPr sz="2114" spc="-21" dirty="0">
                <a:latin typeface="Arial"/>
                <a:cs typeface="Arial"/>
              </a:rPr>
              <a:t> </a:t>
            </a:r>
            <a:r>
              <a:rPr sz="2114" spc="-95" dirty="0">
                <a:latin typeface="Arial"/>
                <a:cs typeface="Arial"/>
              </a:rPr>
              <a:t>do</a:t>
            </a:r>
            <a:r>
              <a:rPr sz="2114" spc="-21" dirty="0">
                <a:latin typeface="Arial"/>
                <a:cs typeface="Arial"/>
              </a:rPr>
              <a:t> </a:t>
            </a:r>
            <a:r>
              <a:rPr sz="2114" spc="-42" dirty="0">
                <a:latin typeface="Arial"/>
                <a:cs typeface="Arial"/>
              </a:rPr>
              <a:t>main</a:t>
            </a:r>
            <a:endParaRPr sz="2114" dirty="0">
              <a:latin typeface="Arial"/>
              <a:cs typeface="Arial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3032137F-382B-DA0C-E2AF-0FA54EBBF130}"/>
              </a:ext>
            </a:extLst>
          </p:cNvPr>
          <p:cNvSpPr txBox="1"/>
          <p:nvPr/>
        </p:nvSpPr>
        <p:spPr>
          <a:xfrm>
            <a:off x="1227409" y="5643547"/>
            <a:ext cx="3194137" cy="666949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1829245">
              <a:lnSpc>
                <a:spcPts val="2536"/>
              </a:lnSpc>
              <a:spcBef>
                <a:spcPts val="201"/>
              </a:spcBef>
            </a:pPr>
            <a:r>
              <a:rPr sz="2114" dirty="0">
                <a:latin typeface="Arial"/>
                <a:cs typeface="Arial"/>
              </a:rPr>
              <a:t>fim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95" dirty="0">
                <a:latin typeface="Arial"/>
                <a:cs typeface="Arial"/>
              </a:rPr>
              <a:t>do</a:t>
            </a:r>
            <a:r>
              <a:rPr sz="2114" spc="-21" dirty="0">
                <a:latin typeface="Arial"/>
                <a:cs typeface="Arial"/>
              </a:rPr>
              <a:t> </a:t>
            </a:r>
            <a:r>
              <a:rPr sz="2114" spc="-42" dirty="0">
                <a:latin typeface="Arial"/>
                <a:cs typeface="Arial"/>
              </a:rPr>
              <a:t>main</a:t>
            </a:r>
            <a:endParaRPr sz="2114">
              <a:latin typeface="Arial"/>
              <a:cs typeface="Arial"/>
            </a:endParaRPr>
          </a:p>
          <a:p>
            <a:pPr marL="26841">
              <a:lnSpc>
                <a:spcPts val="2536"/>
              </a:lnSpc>
            </a:pPr>
            <a:r>
              <a:rPr sz="2114" dirty="0">
                <a:latin typeface="Arial"/>
                <a:cs typeface="Arial"/>
              </a:rPr>
              <a:t>fim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116" dirty="0">
                <a:latin typeface="Arial"/>
                <a:cs typeface="Arial"/>
              </a:rPr>
              <a:t>da</a:t>
            </a:r>
            <a:r>
              <a:rPr sz="2114" spc="-21" dirty="0">
                <a:latin typeface="Arial"/>
                <a:cs typeface="Arial"/>
              </a:rPr>
              <a:t> classe</a:t>
            </a:r>
            <a:endParaRPr sz="2114">
              <a:latin typeface="Arial"/>
              <a:cs typeface="Arial"/>
            </a:endParaRP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465116E4-23C6-4CE5-D877-5DAE97EB899D}"/>
              </a:ext>
            </a:extLst>
          </p:cNvPr>
          <p:cNvSpPr/>
          <p:nvPr/>
        </p:nvSpPr>
        <p:spPr>
          <a:xfrm>
            <a:off x="5405608" y="3433777"/>
            <a:ext cx="3645074" cy="2172818"/>
          </a:xfrm>
          <a:custGeom>
            <a:avLst/>
            <a:gdLst/>
            <a:ahLst/>
            <a:cxnLst/>
            <a:rect l="l" t="t" r="r" b="b"/>
            <a:pathLst>
              <a:path w="1724660" h="1028064">
                <a:moveTo>
                  <a:pt x="740217" y="359370"/>
                </a:moveTo>
                <a:lnTo>
                  <a:pt x="528777" y="16616"/>
                </a:lnTo>
                <a:lnTo>
                  <a:pt x="519859" y="3564"/>
                </a:lnTo>
                <a:lnTo>
                  <a:pt x="515298" y="0"/>
                </a:lnTo>
                <a:lnTo>
                  <a:pt x="515366" y="5789"/>
                </a:lnTo>
                <a:lnTo>
                  <a:pt x="520333" y="20797"/>
                </a:lnTo>
                <a:lnTo>
                  <a:pt x="650216" y="359370"/>
                </a:lnTo>
                <a:lnTo>
                  <a:pt x="50610" y="359370"/>
                </a:lnTo>
                <a:lnTo>
                  <a:pt x="30910" y="363347"/>
                </a:lnTo>
                <a:lnTo>
                  <a:pt x="14823" y="374194"/>
                </a:lnTo>
                <a:lnTo>
                  <a:pt x="3977" y="390281"/>
                </a:lnTo>
                <a:lnTo>
                  <a:pt x="0" y="409981"/>
                </a:lnTo>
                <a:lnTo>
                  <a:pt x="0" y="977126"/>
                </a:lnTo>
                <a:lnTo>
                  <a:pt x="3977" y="996826"/>
                </a:lnTo>
                <a:lnTo>
                  <a:pt x="14823" y="1012913"/>
                </a:lnTo>
                <a:lnTo>
                  <a:pt x="30910" y="1023759"/>
                </a:lnTo>
                <a:lnTo>
                  <a:pt x="50610" y="1027737"/>
                </a:lnTo>
                <a:lnTo>
                  <a:pt x="1673812" y="1027737"/>
                </a:lnTo>
                <a:lnTo>
                  <a:pt x="1693512" y="1023759"/>
                </a:lnTo>
                <a:lnTo>
                  <a:pt x="1709599" y="1012913"/>
                </a:lnTo>
                <a:lnTo>
                  <a:pt x="1720446" y="996826"/>
                </a:lnTo>
                <a:lnTo>
                  <a:pt x="1724423" y="977126"/>
                </a:lnTo>
                <a:lnTo>
                  <a:pt x="1724423" y="409981"/>
                </a:lnTo>
                <a:lnTo>
                  <a:pt x="1720446" y="390281"/>
                </a:lnTo>
                <a:lnTo>
                  <a:pt x="1709599" y="374194"/>
                </a:lnTo>
                <a:lnTo>
                  <a:pt x="1693512" y="363347"/>
                </a:lnTo>
                <a:lnTo>
                  <a:pt x="1673812" y="359370"/>
                </a:lnTo>
                <a:lnTo>
                  <a:pt x="740217" y="35937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C14BD665-9C46-B7C2-7756-BE5A3467B0C3}"/>
              </a:ext>
            </a:extLst>
          </p:cNvPr>
          <p:cNvSpPr txBox="1"/>
          <p:nvPr/>
        </p:nvSpPr>
        <p:spPr>
          <a:xfrm>
            <a:off x="5784367" y="4077000"/>
            <a:ext cx="2888144" cy="891635"/>
          </a:xfrm>
          <a:prstGeom prst="rect">
            <a:avLst/>
          </a:prstGeom>
        </p:spPr>
        <p:txBody>
          <a:bodyPr vert="horz" wrap="square" lIns="0" tIns="26841" rIns="0" bIns="0" rtlCol="0">
            <a:spAutoFit/>
          </a:bodyPr>
          <a:lstStyle/>
          <a:p>
            <a:pPr marL="81866" marR="10737" indent="-56367">
              <a:lnSpc>
                <a:spcPct val="141100"/>
              </a:lnSpc>
              <a:spcBef>
                <a:spcPts val="211"/>
              </a:spcBef>
            </a:pPr>
            <a:r>
              <a:rPr sz="2114" spc="-85" dirty="0">
                <a:latin typeface="Arial"/>
                <a:cs typeface="Arial"/>
              </a:rPr>
              <a:t>comentários:</a:t>
            </a:r>
            <a:r>
              <a:rPr sz="2114" spc="63" dirty="0">
                <a:latin typeface="Arial"/>
                <a:cs typeface="Arial"/>
              </a:rPr>
              <a:t> </a:t>
            </a:r>
            <a:r>
              <a:rPr sz="2114" spc="-137" dirty="0">
                <a:latin typeface="Arial"/>
                <a:cs typeface="Arial"/>
              </a:rPr>
              <a:t>servem</a:t>
            </a:r>
            <a:r>
              <a:rPr sz="2114" spc="-21" dirty="0">
                <a:latin typeface="Arial"/>
                <a:cs typeface="Arial"/>
              </a:rPr>
              <a:t> </a:t>
            </a:r>
            <a:r>
              <a:rPr sz="2114" spc="-85" dirty="0">
                <a:latin typeface="Arial"/>
                <a:cs typeface="Arial"/>
              </a:rPr>
              <a:t>para </a:t>
            </a:r>
            <a:r>
              <a:rPr sz="2114" spc="-74" dirty="0">
                <a:latin typeface="Arial"/>
                <a:cs typeface="Arial"/>
              </a:rPr>
              <a:t>documentar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116" dirty="0">
                <a:latin typeface="Arial"/>
                <a:cs typeface="Arial"/>
              </a:rPr>
              <a:t>o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21" dirty="0">
                <a:latin typeface="Arial"/>
                <a:cs typeface="Arial"/>
              </a:rPr>
              <a:t>algoritmo.</a:t>
            </a:r>
            <a:endParaRPr sz="2114">
              <a:latin typeface="Arial"/>
              <a:cs typeface="Arial"/>
            </a:endParaRP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DDB4A0F2-25EF-3643-4616-CD57527F8392}"/>
              </a:ext>
            </a:extLst>
          </p:cNvPr>
          <p:cNvSpPr txBox="1"/>
          <p:nvPr/>
        </p:nvSpPr>
        <p:spPr>
          <a:xfrm>
            <a:off x="5506934" y="5112863"/>
            <a:ext cx="3442421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spc="-211" dirty="0">
                <a:latin typeface="Arial"/>
                <a:cs typeface="Arial"/>
              </a:rPr>
              <a:t>São</a:t>
            </a:r>
            <a:r>
              <a:rPr sz="2114" spc="-21" dirty="0">
                <a:latin typeface="Arial"/>
                <a:cs typeface="Arial"/>
              </a:rPr>
              <a:t> </a:t>
            </a:r>
            <a:r>
              <a:rPr sz="2114" spc="-85" dirty="0">
                <a:latin typeface="Arial"/>
                <a:cs typeface="Arial"/>
              </a:rPr>
              <a:t>ignorados</a:t>
            </a:r>
            <a:r>
              <a:rPr sz="2114" spc="-11" dirty="0">
                <a:latin typeface="Arial"/>
                <a:cs typeface="Arial"/>
              </a:rPr>
              <a:t> </a:t>
            </a:r>
            <a:r>
              <a:rPr sz="2114" spc="-106" dirty="0">
                <a:latin typeface="Arial"/>
                <a:cs typeface="Arial"/>
              </a:rPr>
              <a:t>pelo</a:t>
            </a:r>
            <a:r>
              <a:rPr sz="2114" spc="-21" dirty="0">
                <a:latin typeface="Arial"/>
                <a:cs typeface="Arial"/>
              </a:rPr>
              <a:t> </a:t>
            </a:r>
            <a:r>
              <a:rPr sz="2114" spc="-42" dirty="0">
                <a:latin typeface="Arial"/>
                <a:cs typeface="Arial"/>
              </a:rPr>
              <a:t>compilador</a:t>
            </a:r>
            <a:endParaRPr sz="2114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425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348" y="1005083"/>
            <a:ext cx="3575748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pc="-42" dirty="0"/>
              <a:t>Saída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36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280468" y="2096747"/>
            <a:ext cx="8804008" cy="2336574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402" dirty="0">
                <a:latin typeface="Calibri"/>
                <a:cs typeface="Calibri"/>
              </a:rPr>
              <a:t>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resultado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do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processamento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de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algoritmo:</a:t>
            </a:r>
            <a:endParaRPr sz="2959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pode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ser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armazenado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em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uma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variável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e/ou.</a:t>
            </a:r>
            <a:r>
              <a:rPr sz="2536" spc="-359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.</a:t>
            </a:r>
            <a:r>
              <a:rPr sz="2536" spc="-370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.</a:t>
            </a:r>
            <a:endParaRPr sz="2536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pode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ser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exibido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diretamente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em</a:t>
            </a:r>
            <a:r>
              <a:rPr sz="2536" spc="-42" dirty="0">
                <a:latin typeface="Arial"/>
                <a:cs typeface="Arial"/>
              </a:rPr>
              <a:t> um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63" dirty="0">
                <a:latin typeface="Arial"/>
                <a:cs typeface="Arial"/>
              </a:rPr>
              <a:t>dispositivo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saída.</a:t>
            </a:r>
            <a:endParaRPr sz="2536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59" dirty="0">
                <a:latin typeface="Calibri"/>
                <a:cs typeface="Calibri"/>
              </a:rPr>
              <a:t>Monitor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spc="-296" dirty="0">
                <a:latin typeface="Arial"/>
                <a:cs typeface="Arial"/>
              </a:rPr>
              <a:t>é</a:t>
            </a:r>
            <a:r>
              <a:rPr sz="2959" spc="-32" dirty="0">
                <a:latin typeface="Arial"/>
                <a:cs typeface="Arial"/>
              </a:rPr>
              <a:t> </a:t>
            </a:r>
            <a:r>
              <a:rPr sz="2959" spc="-148" dirty="0">
                <a:latin typeface="Arial"/>
                <a:cs typeface="Arial"/>
              </a:rPr>
              <a:t>o</a:t>
            </a:r>
            <a:r>
              <a:rPr sz="2959" spc="-32" dirty="0">
                <a:latin typeface="Arial"/>
                <a:cs typeface="Arial"/>
              </a:rPr>
              <a:t> </a:t>
            </a:r>
            <a:r>
              <a:rPr sz="2959" spc="-53" dirty="0">
                <a:latin typeface="Arial"/>
                <a:cs typeface="Arial"/>
              </a:rPr>
              <a:t>dispositivo</a:t>
            </a:r>
            <a:r>
              <a:rPr sz="2959" spc="-32" dirty="0">
                <a:latin typeface="Arial"/>
                <a:cs typeface="Arial"/>
              </a:rPr>
              <a:t> </a:t>
            </a:r>
            <a:r>
              <a:rPr sz="2959" spc="-180" dirty="0">
                <a:latin typeface="Arial"/>
                <a:cs typeface="Arial"/>
              </a:rPr>
              <a:t>de</a:t>
            </a:r>
            <a:r>
              <a:rPr sz="2959" spc="-32" dirty="0">
                <a:latin typeface="Arial"/>
                <a:cs typeface="Arial"/>
              </a:rPr>
              <a:t> </a:t>
            </a:r>
            <a:r>
              <a:rPr sz="2959" spc="-159" dirty="0">
                <a:latin typeface="Arial"/>
                <a:cs typeface="Arial"/>
              </a:rPr>
              <a:t>saída</a:t>
            </a:r>
            <a:r>
              <a:rPr sz="2959" spc="-32" dirty="0">
                <a:latin typeface="Arial"/>
                <a:cs typeface="Arial"/>
              </a:rPr>
              <a:t> </a:t>
            </a:r>
            <a:r>
              <a:rPr sz="2959" spc="-21" dirty="0">
                <a:latin typeface="Arial"/>
                <a:cs typeface="Arial"/>
              </a:rPr>
              <a:t>padrão.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 sz="3804" dirty="0"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1054" y="124776"/>
            <a:ext cx="13983145" cy="344366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000" dirty="0"/>
              <a:t>Comando</a:t>
            </a:r>
            <a:r>
              <a:rPr sz="2000" spc="21" dirty="0"/>
              <a:t> </a:t>
            </a:r>
            <a:r>
              <a:rPr sz="2000" dirty="0"/>
              <a:t>de</a:t>
            </a:r>
            <a:r>
              <a:rPr sz="2000" spc="32" dirty="0"/>
              <a:t> </a:t>
            </a:r>
            <a:r>
              <a:rPr sz="2000" spc="-21" dirty="0"/>
              <a:t>saída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469" y="964085"/>
            <a:ext cx="11239873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351623" indent="-324782">
              <a:spcBef>
                <a:spcPts val="285"/>
              </a:spcBef>
              <a:buClr>
                <a:srgbClr val="00AC8C"/>
              </a:buClr>
              <a:buChar char="•"/>
              <a:tabLst>
                <a:tab pos="351623" algn="l"/>
              </a:tabLst>
            </a:pPr>
            <a:r>
              <a:rPr sz="2959" dirty="0">
                <a:latin typeface="Arial"/>
                <a:cs typeface="Arial"/>
              </a:rPr>
              <a:t>Utilizado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95" dirty="0">
                <a:latin typeface="Arial"/>
                <a:cs typeface="Arial"/>
              </a:rPr>
              <a:t>para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80" dirty="0">
                <a:latin typeface="Arial"/>
                <a:cs typeface="Arial"/>
              </a:rPr>
              <a:t>escrever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37" dirty="0">
                <a:latin typeface="Arial"/>
                <a:cs typeface="Arial"/>
              </a:rPr>
              <a:t>dados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296" dirty="0">
                <a:latin typeface="Arial"/>
                <a:cs typeface="Arial"/>
              </a:rPr>
              <a:t>e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85" dirty="0">
                <a:latin typeface="Arial"/>
                <a:cs typeface="Arial"/>
              </a:rPr>
              <a:t>resultados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74" dirty="0">
                <a:latin typeface="Arial"/>
                <a:cs typeface="Arial"/>
              </a:rPr>
              <a:t>na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59" dirty="0">
                <a:latin typeface="Arial"/>
                <a:cs typeface="Arial"/>
              </a:rPr>
              <a:t>saída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85" dirty="0">
                <a:latin typeface="Arial"/>
                <a:cs typeface="Arial"/>
              </a:rPr>
              <a:t>padrão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21" dirty="0">
                <a:latin typeface="Arial"/>
                <a:cs typeface="Arial"/>
              </a:rPr>
              <a:t>(monitor)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468" y="1688501"/>
            <a:ext cx="3457184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351623" indent="-324782">
              <a:spcBef>
                <a:spcPts val="201"/>
              </a:spcBef>
              <a:buClr>
                <a:srgbClr val="00AC8C"/>
              </a:buClr>
              <a:buSzPct val="140000"/>
              <a:buFont typeface="Arial"/>
              <a:buChar char="•"/>
              <a:tabLst>
                <a:tab pos="351623" algn="l"/>
              </a:tabLst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2114" spc="-21" dirty="0">
                <a:solidFill>
                  <a:srgbClr val="B25900"/>
                </a:solidFill>
                <a:latin typeface="BIZ UDGothic"/>
                <a:cs typeface="BIZ UDGothic"/>
              </a:rPr>
              <a:t>("")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2114">
              <a:latin typeface="BIZ UDGothic"/>
              <a:cs typeface="BIZ UD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64259" y="1548610"/>
            <a:ext cx="4616736" cy="1070975"/>
          </a:xfrm>
          <a:custGeom>
            <a:avLst/>
            <a:gdLst/>
            <a:ahLst/>
            <a:cxnLst/>
            <a:rect l="l" t="t" r="r" b="b"/>
            <a:pathLst>
              <a:path w="2184400" h="506730">
                <a:moveTo>
                  <a:pt x="879922" y="334524"/>
                </a:moveTo>
                <a:lnTo>
                  <a:pt x="762946" y="487103"/>
                </a:lnTo>
                <a:lnTo>
                  <a:pt x="754050" y="500232"/>
                </a:lnTo>
                <a:lnTo>
                  <a:pt x="752688" y="506168"/>
                </a:lnTo>
                <a:lnTo>
                  <a:pt x="758586" y="504645"/>
                </a:lnTo>
                <a:lnTo>
                  <a:pt x="771470" y="495397"/>
                </a:lnTo>
                <a:lnTo>
                  <a:pt x="969923" y="334524"/>
                </a:lnTo>
                <a:lnTo>
                  <a:pt x="2133707" y="334524"/>
                </a:lnTo>
                <a:lnTo>
                  <a:pt x="2153408" y="330547"/>
                </a:lnTo>
                <a:lnTo>
                  <a:pt x="2169495" y="319700"/>
                </a:lnTo>
                <a:lnTo>
                  <a:pt x="2180341" y="303613"/>
                </a:lnTo>
                <a:lnTo>
                  <a:pt x="2184318" y="283913"/>
                </a:lnTo>
                <a:lnTo>
                  <a:pt x="2184318" y="50610"/>
                </a:lnTo>
                <a:lnTo>
                  <a:pt x="2180341" y="30910"/>
                </a:lnTo>
                <a:lnTo>
                  <a:pt x="2169495" y="14823"/>
                </a:lnTo>
                <a:lnTo>
                  <a:pt x="2153408" y="3977"/>
                </a:lnTo>
                <a:lnTo>
                  <a:pt x="2133707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83913"/>
                </a:lnTo>
                <a:lnTo>
                  <a:pt x="3977" y="303613"/>
                </a:lnTo>
                <a:lnTo>
                  <a:pt x="14823" y="319700"/>
                </a:lnTo>
                <a:lnTo>
                  <a:pt x="30910" y="330547"/>
                </a:lnTo>
                <a:lnTo>
                  <a:pt x="50610" y="334524"/>
                </a:lnTo>
                <a:lnTo>
                  <a:pt x="879922" y="334524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6" name="object 6"/>
          <p:cNvSpPr txBox="1"/>
          <p:nvPr/>
        </p:nvSpPr>
        <p:spPr>
          <a:xfrm>
            <a:off x="6165706" y="1582867"/>
            <a:ext cx="4414080" cy="54955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 marR="10737" indent="132865">
              <a:lnSpc>
                <a:spcPts val="2008"/>
              </a:lnSpc>
              <a:spcBef>
                <a:spcPts val="285"/>
              </a:spcBef>
            </a:pPr>
            <a:r>
              <a:rPr sz="1691" spc="-74" dirty="0">
                <a:latin typeface="Arial"/>
                <a:cs typeface="Arial"/>
              </a:rPr>
              <a:t>Código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137" dirty="0">
                <a:latin typeface="Arial"/>
                <a:cs typeface="Arial"/>
              </a:rPr>
              <a:t>deve</a:t>
            </a:r>
            <a:r>
              <a:rPr sz="1691" dirty="0">
                <a:latin typeface="Arial"/>
                <a:cs typeface="Arial"/>
              </a:rPr>
              <a:t> </a:t>
            </a:r>
            <a:r>
              <a:rPr sz="1691" spc="-95" dirty="0">
                <a:latin typeface="Arial"/>
                <a:cs typeface="Arial"/>
              </a:rPr>
              <a:t>estar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116" dirty="0">
                <a:latin typeface="Arial"/>
                <a:cs typeface="Arial"/>
              </a:rPr>
              <a:t>armazenado</a:t>
            </a:r>
            <a:r>
              <a:rPr sz="1691" dirty="0">
                <a:latin typeface="Arial"/>
                <a:cs typeface="Arial"/>
              </a:rPr>
              <a:t> </a:t>
            </a:r>
            <a:r>
              <a:rPr sz="1691" spc="-137" dirty="0">
                <a:latin typeface="Arial"/>
                <a:cs typeface="Arial"/>
              </a:rPr>
              <a:t>em</a:t>
            </a:r>
            <a:r>
              <a:rPr sz="1691" spc="-11" dirty="0">
                <a:latin typeface="Arial"/>
                <a:cs typeface="Arial"/>
              </a:rPr>
              <a:t> </a:t>
            </a:r>
            <a:r>
              <a:rPr sz="1691" spc="-42" dirty="0">
                <a:latin typeface="Arial"/>
                <a:cs typeface="Arial"/>
              </a:rPr>
              <a:t>um</a:t>
            </a:r>
            <a:r>
              <a:rPr sz="1691" dirty="0">
                <a:latin typeface="Arial"/>
                <a:cs typeface="Arial"/>
              </a:rPr>
              <a:t> </a:t>
            </a:r>
            <a:r>
              <a:rPr sz="1691" spc="-21" dirty="0">
                <a:latin typeface="Arial"/>
                <a:cs typeface="Arial"/>
              </a:rPr>
              <a:t>arquivo </a:t>
            </a:r>
            <a:r>
              <a:rPr sz="1691" spc="-116" dirty="0">
                <a:latin typeface="Arial"/>
                <a:cs typeface="Arial"/>
              </a:rPr>
              <a:t>com</a:t>
            </a:r>
            <a:r>
              <a:rPr sz="1691" spc="-32" dirty="0">
                <a:latin typeface="Arial"/>
                <a:cs typeface="Arial"/>
              </a:rPr>
              <a:t> </a:t>
            </a:r>
            <a:r>
              <a:rPr sz="1691" spc="-127" dirty="0">
                <a:latin typeface="Arial"/>
                <a:cs typeface="Arial"/>
              </a:rPr>
              <a:t>o</a:t>
            </a:r>
            <a:r>
              <a:rPr sz="1691" spc="-21" dirty="0">
                <a:latin typeface="Arial"/>
                <a:cs typeface="Arial"/>
              </a:rPr>
              <a:t> </a:t>
            </a:r>
            <a:r>
              <a:rPr sz="1691" spc="-127" dirty="0">
                <a:latin typeface="Arial"/>
                <a:cs typeface="Arial"/>
              </a:rPr>
              <a:t>mesmo</a:t>
            </a:r>
            <a:r>
              <a:rPr sz="1691" spc="-21" dirty="0">
                <a:latin typeface="Arial"/>
                <a:cs typeface="Arial"/>
              </a:rPr>
              <a:t> </a:t>
            </a:r>
            <a:r>
              <a:rPr sz="1691" spc="-116" dirty="0">
                <a:latin typeface="Arial"/>
                <a:cs typeface="Arial"/>
              </a:rPr>
              <a:t>nome</a:t>
            </a:r>
            <a:r>
              <a:rPr sz="1691" spc="-21" dirty="0">
                <a:latin typeface="Arial"/>
                <a:cs typeface="Arial"/>
              </a:rPr>
              <a:t> </a:t>
            </a:r>
            <a:r>
              <a:rPr sz="1691" spc="-116" dirty="0">
                <a:latin typeface="Arial"/>
                <a:cs typeface="Arial"/>
              </a:rPr>
              <a:t>da</a:t>
            </a:r>
            <a:r>
              <a:rPr sz="1691" spc="-21" dirty="0">
                <a:latin typeface="Arial"/>
                <a:cs typeface="Arial"/>
              </a:rPr>
              <a:t> </a:t>
            </a:r>
            <a:r>
              <a:rPr sz="1691" spc="-127" dirty="0">
                <a:latin typeface="Arial"/>
                <a:cs typeface="Arial"/>
              </a:rPr>
              <a:t>classe:</a:t>
            </a:r>
            <a:r>
              <a:rPr sz="1691" spc="63" dirty="0">
                <a:latin typeface="Arial"/>
                <a:cs typeface="Arial"/>
              </a:rPr>
              <a:t> </a:t>
            </a:r>
            <a:r>
              <a:rPr sz="1691" spc="-106" dirty="0">
                <a:latin typeface="Arial"/>
                <a:cs typeface="Arial"/>
              </a:rPr>
              <a:t>ExemploSaida.java</a:t>
            </a:r>
            <a:endParaRPr sz="1691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310" y="5375974"/>
            <a:ext cx="11565997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9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8" name="object 8"/>
          <p:cNvSpPr txBox="1"/>
          <p:nvPr/>
        </p:nvSpPr>
        <p:spPr>
          <a:xfrm>
            <a:off x="676204" y="2132916"/>
            <a:ext cx="7915552" cy="4187449"/>
          </a:xfrm>
          <a:prstGeom prst="rect">
            <a:avLst/>
          </a:prstGeom>
        </p:spPr>
        <p:txBody>
          <a:bodyPr vert="horz" wrap="square" lIns="0" tIns="92603" rIns="0" bIns="0" rtlCol="0">
            <a:spAutoFit/>
          </a:bodyPr>
          <a:lstStyle/>
          <a:p>
            <a:pPr marL="26841">
              <a:spcBef>
                <a:spcPts val="729"/>
              </a:spcBef>
            </a:pPr>
            <a:r>
              <a:rPr sz="1691" spc="-21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1691" spc="-431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2114" b="1" spc="-74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2114" b="1" spc="-53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ExemploSaida</a:t>
            </a:r>
            <a:r>
              <a:rPr sz="2114" b="1" spc="-21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2114" dirty="0">
              <a:latin typeface="BIZ UDGothic"/>
              <a:cs typeface="BIZ UDGothic"/>
            </a:endParaRPr>
          </a:p>
          <a:p>
            <a:pPr marL="26841">
              <a:spcBef>
                <a:spcPts val="412"/>
              </a:spcBef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1691" dirty="0">
              <a:latin typeface="BIZ UDGothic"/>
              <a:cs typeface="BIZ UDGothic"/>
            </a:endParaRPr>
          </a:p>
          <a:p>
            <a:pPr marL="426779" indent="-399938">
              <a:lnSpc>
                <a:spcPts val="2536"/>
              </a:lnSpc>
              <a:spcBef>
                <a:spcPts val="74"/>
              </a:spcBef>
              <a:buClr>
                <a:srgbClr val="666666"/>
              </a:buClr>
              <a:buSzPct val="80000"/>
              <a:buFont typeface="BIZ UDGothic"/>
              <a:buAutoNum type="arabicPlain" startAt="3"/>
              <a:tabLst>
                <a:tab pos="426779" algn="l"/>
              </a:tabLst>
            </a:pP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2114" b="1" spc="-8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2114" b="1" spc="-8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2114" b="1" spc="-8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2114" spc="-8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2114" spc="-74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2114" dirty="0">
              <a:latin typeface="BIZ UDGothic"/>
              <a:cs typeface="BIZ UDGothic"/>
            </a:endParaRPr>
          </a:p>
          <a:p>
            <a:pPr marL="668352" indent="-641511">
              <a:lnSpc>
                <a:spcPts val="2526"/>
              </a:lnSpc>
              <a:buClr>
                <a:srgbClr val="666666"/>
              </a:buClr>
              <a:buSzPct val="80000"/>
              <a:buAutoNum type="arabicPlain" startAt="3"/>
              <a:tabLst>
                <a:tab pos="668352" algn="l"/>
              </a:tabLst>
            </a:pP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("Ola</a:t>
            </a:r>
            <a:r>
              <a:rPr sz="2114" spc="-254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B25900"/>
                </a:solidFill>
                <a:latin typeface="BIZ UDGothic"/>
                <a:cs typeface="BIZ UDGothic"/>
              </a:rPr>
              <a:t>Mundo")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2114" dirty="0">
              <a:latin typeface="BIZ UDGothic"/>
              <a:cs typeface="BIZ UDGothic"/>
            </a:endParaRPr>
          </a:p>
          <a:p>
            <a:pPr marL="668352" indent="-641511">
              <a:lnSpc>
                <a:spcPts val="2526"/>
              </a:lnSpc>
              <a:buClr>
                <a:srgbClr val="666666"/>
              </a:buClr>
              <a:buSzPct val="80000"/>
              <a:buAutoNum type="arabicPlain" startAt="3"/>
              <a:tabLst>
                <a:tab pos="668352" algn="l"/>
              </a:tabLst>
            </a:pP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2114" spc="-21" dirty="0">
                <a:solidFill>
                  <a:srgbClr val="B25900"/>
                </a:solidFill>
                <a:latin typeface="BIZ UDGothic"/>
                <a:cs typeface="BIZ UDGothic"/>
              </a:rPr>
              <a:t>("Minha 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idade</a:t>
            </a:r>
            <a:r>
              <a:rPr sz="2114" spc="11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é"</a:t>
            </a:r>
            <a:r>
              <a:rPr sz="2114" spc="11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2114" spc="11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18</a:t>
            </a:r>
            <a:r>
              <a:rPr sz="2114" spc="11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2114" spc="11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"</a:t>
            </a:r>
            <a:r>
              <a:rPr sz="2114" spc="11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B25900"/>
                </a:solidFill>
                <a:latin typeface="BIZ UDGothic"/>
                <a:cs typeface="BIZ UDGothic"/>
              </a:rPr>
              <a:t>anos")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2114" dirty="0">
              <a:latin typeface="BIZ UDGothic"/>
              <a:cs typeface="BIZ UDGothic"/>
            </a:endParaRPr>
          </a:p>
          <a:p>
            <a:pPr marL="668352" indent="-641511">
              <a:lnSpc>
                <a:spcPts val="2526"/>
              </a:lnSpc>
              <a:buClr>
                <a:srgbClr val="666666"/>
              </a:buClr>
              <a:buSzPct val="80000"/>
              <a:buAutoNum type="arabicPlain" startAt="3"/>
              <a:tabLst>
                <a:tab pos="668352" algn="l"/>
              </a:tabLst>
            </a:pP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("O</a:t>
            </a:r>
            <a:r>
              <a:rPr sz="2114" spc="-8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resultado</a:t>
            </a:r>
            <a:r>
              <a:rPr sz="2114" spc="-53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é:</a:t>
            </a:r>
            <a:r>
              <a:rPr sz="2114" spc="-63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"</a:t>
            </a:r>
            <a:r>
              <a:rPr sz="2114" spc="-53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2114" spc="-6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3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2114" spc="-6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5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&lt;=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22</a:t>
            </a:r>
            <a:r>
              <a:rPr sz="2114" spc="-21" dirty="0">
                <a:solidFill>
                  <a:srgbClr val="B25900"/>
                </a:solidFill>
                <a:latin typeface="BIZ UDGothic"/>
                <a:cs typeface="BIZ UDGothic"/>
              </a:rPr>
              <a:t>))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2114" dirty="0">
              <a:latin typeface="BIZ UDGothic"/>
              <a:cs typeface="BIZ UDGothic"/>
            </a:endParaRPr>
          </a:p>
          <a:p>
            <a:pPr marL="26841">
              <a:lnSpc>
                <a:spcPts val="2526"/>
              </a:lnSpc>
              <a:tabLst>
                <a:tab pos="426779" algn="l"/>
              </a:tabLst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7</a:t>
            </a:r>
            <a:r>
              <a:rPr sz="1691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2114" dirty="0">
              <a:latin typeface="BIZ UDGothic"/>
              <a:cs typeface="BIZ UDGothic"/>
            </a:endParaRPr>
          </a:p>
          <a:p>
            <a:pPr marL="26841">
              <a:lnSpc>
                <a:spcPts val="2536"/>
              </a:lnSpc>
            </a:pPr>
            <a:r>
              <a:rPr sz="1691" spc="-21" dirty="0">
                <a:solidFill>
                  <a:srgbClr val="666666"/>
                </a:solidFill>
                <a:latin typeface="BIZ UDGothic"/>
                <a:cs typeface="BIZ UDGothic"/>
              </a:rPr>
              <a:t>8</a:t>
            </a:r>
            <a:r>
              <a:rPr sz="1691" spc="-423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2114" dirty="0">
              <a:latin typeface="BIZ UDGothic"/>
              <a:cs typeface="BIZ UDGothic"/>
            </a:endParaRPr>
          </a:p>
          <a:p>
            <a:pPr>
              <a:lnSpc>
                <a:spcPct val="100000"/>
              </a:lnSpc>
            </a:pPr>
            <a:endParaRPr sz="1691" dirty="0">
              <a:latin typeface="BIZ UDGothic"/>
              <a:cs typeface="BIZ UDGothic"/>
            </a:endParaRPr>
          </a:p>
          <a:p>
            <a:pPr>
              <a:spcBef>
                <a:spcPts val="180"/>
              </a:spcBef>
            </a:pPr>
            <a:endParaRPr sz="1691" dirty="0">
              <a:latin typeface="BIZ UDGothic"/>
              <a:cs typeface="BIZ UDGothic"/>
            </a:endParaRPr>
          </a:p>
          <a:p>
            <a:pPr marL="186548">
              <a:lnSpc>
                <a:spcPts val="2536"/>
              </a:lnSpc>
            </a:pP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Ola</a:t>
            </a:r>
            <a:r>
              <a:rPr sz="2114" spc="-42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Mundo</a:t>
            </a:r>
            <a:endParaRPr sz="2114" dirty="0">
              <a:latin typeface="BIZ UDGothic"/>
              <a:cs typeface="BIZ UDGothic"/>
            </a:endParaRPr>
          </a:p>
          <a:p>
            <a:pPr marL="186548" marR="5036798">
              <a:lnSpc>
                <a:spcPts val="2536"/>
              </a:lnSpc>
              <a:spcBef>
                <a:spcPts val="85"/>
              </a:spcBef>
            </a:pP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Minha</a:t>
            </a:r>
            <a:r>
              <a:rPr sz="2114" spc="-6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 err="1">
                <a:solidFill>
                  <a:srgbClr val="595959"/>
                </a:solidFill>
                <a:latin typeface="BIZ UDGothic"/>
                <a:cs typeface="BIZ UDGothic"/>
              </a:rPr>
              <a:t>idade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é</a:t>
            </a:r>
            <a:r>
              <a:rPr lang="pt-BR" sz="2114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18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spc="-42" dirty="0" err="1">
                <a:solidFill>
                  <a:srgbClr val="595959"/>
                </a:solidFill>
                <a:latin typeface="BIZ UDGothic"/>
                <a:cs typeface="BIZ UDGothic"/>
              </a:rPr>
              <a:t>anos</a:t>
            </a:r>
            <a:r>
              <a:rPr lang="pt-BR" sz="2114" spc="-42" dirty="0">
                <a:solidFill>
                  <a:srgbClr val="595959"/>
                </a:solidFill>
                <a:latin typeface="BIZ UDGothic"/>
                <a:cs typeface="BIZ UDGothic"/>
              </a:rPr>
              <a:t>.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resultado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é: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b="1" spc="-42" dirty="0">
                <a:solidFill>
                  <a:srgbClr val="00AC8C"/>
                </a:solidFill>
                <a:latin typeface="BIZ UDGothic"/>
                <a:cs typeface="BIZ UDGothic"/>
              </a:rPr>
              <a:t>true</a:t>
            </a:r>
            <a:endParaRPr sz="2114" dirty="0">
              <a:latin typeface="BIZ UDGothic"/>
              <a:cs typeface="BIZ UD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063" y="940868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106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38</a:t>
            </a:fld>
            <a:endParaRPr spc="-53" dirty="0"/>
          </a:p>
        </p:txBody>
      </p:sp>
      <p:sp>
        <p:nvSpPr>
          <p:cNvPr id="3" name="object 3"/>
          <p:cNvSpPr/>
          <p:nvPr/>
        </p:nvSpPr>
        <p:spPr>
          <a:xfrm>
            <a:off x="7040821" y="1055664"/>
            <a:ext cx="5136119" cy="1128685"/>
          </a:xfrm>
          <a:custGeom>
            <a:avLst/>
            <a:gdLst/>
            <a:ahLst/>
            <a:cxnLst/>
            <a:rect l="l" t="t" r="r" b="b"/>
            <a:pathLst>
              <a:path w="2430145" h="534035">
                <a:moveTo>
                  <a:pt x="974868" y="390006"/>
                </a:moveTo>
                <a:lnTo>
                  <a:pt x="884608" y="514081"/>
                </a:lnTo>
                <a:lnTo>
                  <a:pt x="876147" y="527554"/>
                </a:lnTo>
                <a:lnTo>
                  <a:pt x="875213" y="533863"/>
                </a:lnTo>
                <a:lnTo>
                  <a:pt x="881482" y="532697"/>
                </a:lnTo>
                <a:lnTo>
                  <a:pt x="894634" y="523744"/>
                </a:lnTo>
                <a:lnTo>
                  <a:pt x="1064868" y="390006"/>
                </a:lnTo>
                <a:lnTo>
                  <a:pt x="2379072" y="390006"/>
                </a:lnTo>
                <a:lnTo>
                  <a:pt x="2398772" y="386029"/>
                </a:lnTo>
                <a:lnTo>
                  <a:pt x="2414860" y="375183"/>
                </a:lnTo>
                <a:lnTo>
                  <a:pt x="2425706" y="359095"/>
                </a:lnTo>
                <a:lnTo>
                  <a:pt x="2429683" y="339395"/>
                </a:lnTo>
                <a:lnTo>
                  <a:pt x="2429683" y="50610"/>
                </a:lnTo>
                <a:lnTo>
                  <a:pt x="2425706" y="30910"/>
                </a:lnTo>
                <a:lnTo>
                  <a:pt x="2414860" y="14823"/>
                </a:lnTo>
                <a:lnTo>
                  <a:pt x="2398772" y="3977"/>
                </a:lnTo>
                <a:lnTo>
                  <a:pt x="2379072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339395"/>
                </a:lnTo>
                <a:lnTo>
                  <a:pt x="3977" y="359095"/>
                </a:lnTo>
                <a:lnTo>
                  <a:pt x="14823" y="375183"/>
                </a:lnTo>
                <a:lnTo>
                  <a:pt x="30910" y="386029"/>
                </a:lnTo>
                <a:lnTo>
                  <a:pt x="50610" y="390006"/>
                </a:lnTo>
                <a:lnTo>
                  <a:pt x="974868" y="390006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4" name="object 4"/>
          <p:cNvSpPr txBox="1"/>
          <p:nvPr/>
        </p:nvSpPr>
        <p:spPr>
          <a:xfrm>
            <a:off x="7142818" y="1111142"/>
            <a:ext cx="4932123" cy="676439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 marR="10737" indent="585144">
              <a:spcBef>
                <a:spcPts val="201"/>
              </a:spcBef>
            </a:pPr>
            <a:r>
              <a:rPr sz="2114" spc="-74" dirty="0">
                <a:latin typeface="Arial"/>
                <a:cs typeface="Arial"/>
              </a:rPr>
              <a:t>Dica:</a:t>
            </a:r>
            <a:r>
              <a:rPr sz="2114" spc="21" dirty="0">
                <a:latin typeface="Arial"/>
                <a:cs typeface="Arial"/>
              </a:rPr>
              <a:t> </a:t>
            </a:r>
            <a:r>
              <a:rPr sz="2114" spc="-201" dirty="0">
                <a:latin typeface="Arial"/>
                <a:cs typeface="Arial"/>
              </a:rPr>
              <a:t>Você</a:t>
            </a:r>
            <a:r>
              <a:rPr sz="2114" spc="-53" dirty="0">
                <a:latin typeface="Arial"/>
                <a:cs typeface="Arial"/>
              </a:rPr>
              <a:t> </a:t>
            </a:r>
            <a:r>
              <a:rPr sz="2114" spc="-106" dirty="0">
                <a:latin typeface="Arial"/>
                <a:cs typeface="Arial"/>
              </a:rPr>
              <a:t>pode</a:t>
            </a:r>
            <a:r>
              <a:rPr sz="2114" spc="-63" dirty="0">
                <a:latin typeface="Arial"/>
                <a:cs typeface="Arial"/>
              </a:rPr>
              <a:t> </a:t>
            </a:r>
            <a:r>
              <a:rPr sz="2114" dirty="0">
                <a:latin typeface="Arial"/>
                <a:cs typeface="Arial"/>
              </a:rPr>
              <a:t>digitar</a:t>
            </a:r>
            <a:r>
              <a:rPr sz="2114" spc="-53" dirty="0">
                <a:latin typeface="Arial"/>
                <a:cs typeface="Arial"/>
              </a:rPr>
              <a:t> </a:t>
            </a:r>
            <a:r>
              <a:rPr sz="2114" spc="-180" dirty="0">
                <a:latin typeface="Arial"/>
                <a:cs typeface="Arial"/>
              </a:rPr>
              <a:t>os</a:t>
            </a:r>
            <a:r>
              <a:rPr sz="2114" spc="-53" dirty="0">
                <a:latin typeface="Arial"/>
                <a:cs typeface="Arial"/>
              </a:rPr>
              <a:t> </a:t>
            </a:r>
            <a:r>
              <a:rPr sz="2114" spc="-21" dirty="0">
                <a:latin typeface="Arial"/>
                <a:cs typeface="Arial"/>
              </a:rPr>
              <a:t>valores </a:t>
            </a:r>
            <a:r>
              <a:rPr sz="2114" spc="-63" dirty="0">
                <a:latin typeface="Arial"/>
                <a:cs typeface="Arial"/>
              </a:rPr>
              <a:t>diretamente</a:t>
            </a:r>
            <a:r>
              <a:rPr sz="2114" dirty="0">
                <a:latin typeface="Arial"/>
                <a:cs typeface="Arial"/>
              </a:rPr>
              <a:t> </a:t>
            </a:r>
            <a:r>
              <a:rPr sz="2114" spc="-106" dirty="0">
                <a:latin typeface="Arial"/>
                <a:cs typeface="Arial"/>
              </a:rPr>
              <a:t>na</a:t>
            </a:r>
            <a:r>
              <a:rPr sz="2114" dirty="0">
                <a:latin typeface="Arial"/>
                <a:cs typeface="Arial"/>
              </a:rPr>
              <a:t> </a:t>
            </a:r>
            <a:r>
              <a:rPr sz="2114" spc="-63" dirty="0">
                <a:latin typeface="Arial"/>
                <a:cs typeface="Arial"/>
              </a:rPr>
              <a:t>instrução</a:t>
            </a:r>
            <a:r>
              <a:rPr sz="2114" dirty="0">
                <a:latin typeface="Arial"/>
                <a:cs typeface="Arial"/>
              </a:rPr>
              <a:t> </a:t>
            </a:r>
            <a:r>
              <a:rPr sz="2114" spc="-53" dirty="0">
                <a:latin typeface="Arial"/>
                <a:cs typeface="Arial"/>
              </a:rPr>
              <a:t>System.out.println</a:t>
            </a:r>
            <a:endParaRPr sz="2114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9191" y="4608869"/>
            <a:ext cx="4506686" cy="1289733"/>
          </a:xfrm>
          <a:custGeom>
            <a:avLst/>
            <a:gdLst/>
            <a:ahLst/>
            <a:cxnLst/>
            <a:rect l="l" t="t" r="r" b="b"/>
            <a:pathLst>
              <a:path w="2132329" h="610235">
                <a:moveTo>
                  <a:pt x="840592" y="68725"/>
                </a:moveTo>
                <a:lnTo>
                  <a:pt x="748291" y="7346"/>
                </a:lnTo>
                <a:lnTo>
                  <a:pt x="733658" y="0"/>
                </a:lnTo>
                <a:lnTo>
                  <a:pt x="725090" y="804"/>
                </a:lnTo>
                <a:lnTo>
                  <a:pt x="723220" y="9203"/>
                </a:lnTo>
                <a:lnTo>
                  <a:pt x="728677" y="24641"/>
                </a:lnTo>
                <a:lnTo>
                  <a:pt x="750591" y="68725"/>
                </a:lnTo>
                <a:lnTo>
                  <a:pt x="50610" y="68725"/>
                </a:lnTo>
                <a:lnTo>
                  <a:pt x="30910" y="72702"/>
                </a:lnTo>
                <a:lnTo>
                  <a:pt x="14823" y="83548"/>
                </a:lnTo>
                <a:lnTo>
                  <a:pt x="3977" y="99635"/>
                </a:lnTo>
                <a:lnTo>
                  <a:pt x="0" y="119336"/>
                </a:lnTo>
                <a:lnTo>
                  <a:pt x="0" y="559320"/>
                </a:lnTo>
                <a:lnTo>
                  <a:pt x="3977" y="579020"/>
                </a:lnTo>
                <a:lnTo>
                  <a:pt x="14823" y="595108"/>
                </a:lnTo>
                <a:lnTo>
                  <a:pt x="30910" y="605954"/>
                </a:lnTo>
                <a:lnTo>
                  <a:pt x="50610" y="609931"/>
                </a:lnTo>
                <a:lnTo>
                  <a:pt x="2081697" y="609931"/>
                </a:lnTo>
                <a:lnTo>
                  <a:pt x="2101397" y="605954"/>
                </a:lnTo>
                <a:lnTo>
                  <a:pt x="2117484" y="595108"/>
                </a:lnTo>
                <a:lnTo>
                  <a:pt x="2128331" y="579020"/>
                </a:lnTo>
                <a:lnTo>
                  <a:pt x="2132308" y="559320"/>
                </a:lnTo>
                <a:lnTo>
                  <a:pt x="2132308" y="119336"/>
                </a:lnTo>
                <a:lnTo>
                  <a:pt x="2128331" y="99635"/>
                </a:lnTo>
                <a:lnTo>
                  <a:pt x="2117484" y="83548"/>
                </a:lnTo>
                <a:lnTo>
                  <a:pt x="2101397" y="72702"/>
                </a:lnTo>
                <a:lnTo>
                  <a:pt x="2081697" y="68725"/>
                </a:lnTo>
                <a:lnTo>
                  <a:pt x="840592" y="6872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6" name="object 6"/>
          <p:cNvSpPr txBox="1"/>
          <p:nvPr/>
        </p:nvSpPr>
        <p:spPr>
          <a:xfrm>
            <a:off x="280469" y="1981030"/>
            <a:ext cx="10244054" cy="3825315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22" dirty="0">
                <a:latin typeface="Calibri"/>
                <a:cs typeface="Calibri"/>
              </a:rPr>
              <a:t>imprimir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em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cada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linha: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seu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nome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completo;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01" dirty="0" err="1">
                <a:latin typeface="Arial"/>
                <a:cs typeface="Arial"/>
              </a:rPr>
              <a:t>seu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lang="pt-BR" sz="2536" spc="-53" dirty="0">
                <a:latin typeface="Arial"/>
                <a:cs typeface="Arial"/>
              </a:rPr>
              <a:t>Registro Acadêmico RA</a:t>
            </a:r>
            <a:r>
              <a:rPr sz="2536" spc="-53" dirty="0">
                <a:latin typeface="Arial"/>
                <a:cs typeface="Arial"/>
              </a:rPr>
              <a:t>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seu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curso.</a:t>
            </a:r>
            <a:endParaRPr sz="2536" dirty="0">
              <a:latin typeface="Arial"/>
              <a:cs typeface="Arial"/>
            </a:endParaRPr>
          </a:p>
          <a:p>
            <a:pPr>
              <a:spcBef>
                <a:spcPts val="1712"/>
              </a:spcBef>
            </a:pPr>
            <a:endParaRPr sz="2536" dirty="0">
              <a:latin typeface="Arial"/>
              <a:cs typeface="Arial"/>
            </a:endParaRPr>
          </a:p>
          <a:p>
            <a:pPr marL="5966854" marR="10737" algn="ctr"/>
            <a:r>
              <a:rPr sz="2114" spc="-74" dirty="0">
                <a:latin typeface="Arial"/>
                <a:cs typeface="Arial"/>
              </a:rPr>
              <a:t>Dica:</a:t>
            </a:r>
            <a:r>
              <a:rPr sz="2114" spc="42" dirty="0">
                <a:latin typeface="Arial"/>
                <a:cs typeface="Arial"/>
              </a:rPr>
              <a:t> </a:t>
            </a:r>
            <a:r>
              <a:rPr sz="2114" spc="-159" dirty="0">
                <a:latin typeface="Arial"/>
                <a:cs typeface="Arial"/>
              </a:rPr>
              <a:t>Também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222" dirty="0">
                <a:latin typeface="Arial"/>
                <a:cs typeface="Arial"/>
              </a:rPr>
              <a:t>é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127" dirty="0">
                <a:latin typeface="Arial"/>
                <a:cs typeface="Arial"/>
              </a:rPr>
              <a:t>possível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106" dirty="0">
                <a:latin typeface="Arial"/>
                <a:cs typeface="Arial"/>
              </a:rPr>
              <a:t>armazenar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116" dirty="0">
                <a:latin typeface="Arial"/>
                <a:cs typeface="Arial"/>
              </a:rPr>
              <a:t>os </a:t>
            </a:r>
            <a:r>
              <a:rPr sz="2114" spc="-106" dirty="0">
                <a:latin typeface="Arial"/>
                <a:cs typeface="Arial"/>
              </a:rPr>
              <a:t>valores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159" dirty="0">
                <a:latin typeface="Arial"/>
                <a:cs typeface="Arial"/>
              </a:rPr>
              <a:t>em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95" dirty="0">
                <a:latin typeface="Arial"/>
                <a:cs typeface="Arial"/>
              </a:rPr>
              <a:t>variáveis</a:t>
            </a:r>
            <a:r>
              <a:rPr sz="2114" spc="-32" dirty="0">
                <a:latin typeface="Arial"/>
                <a:cs typeface="Arial"/>
              </a:rPr>
              <a:t> </a:t>
            </a:r>
            <a:r>
              <a:rPr sz="2114" spc="-222" dirty="0">
                <a:latin typeface="Arial"/>
                <a:cs typeface="Arial"/>
              </a:rPr>
              <a:t>e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21" dirty="0">
                <a:latin typeface="Arial"/>
                <a:cs typeface="Arial"/>
              </a:rPr>
              <a:t>depois</a:t>
            </a:r>
            <a:endParaRPr sz="2114" dirty="0">
              <a:latin typeface="Arial"/>
              <a:cs typeface="Arial"/>
            </a:endParaRPr>
          </a:p>
          <a:p>
            <a:pPr marL="5940013" algn="ctr">
              <a:lnSpc>
                <a:spcPts val="2515"/>
              </a:lnSpc>
            </a:pPr>
            <a:r>
              <a:rPr sz="2114" dirty="0">
                <a:latin typeface="Arial"/>
                <a:cs typeface="Arial"/>
              </a:rPr>
              <a:t>imprimir</a:t>
            </a:r>
            <a:r>
              <a:rPr sz="2114" spc="-21" dirty="0">
                <a:latin typeface="Arial"/>
                <a:cs typeface="Arial"/>
              </a:rPr>
              <a:t> </a:t>
            </a:r>
            <a:r>
              <a:rPr sz="2114" spc="-116" dirty="0">
                <a:latin typeface="Arial"/>
                <a:cs typeface="Arial"/>
              </a:rPr>
              <a:t>o</a:t>
            </a:r>
            <a:r>
              <a:rPr sz="2114" spc="-21" dirty="0">
                <a:latin typeface="Arial"/>
                <a:cs typeface="Arial"/>
              </a:rPr>
              <a:t> </a:t>
            </a:r>
            <a:r>
              <a:rPr sz="2114" spc="-85" dirty="0">
                <a:latin typeface="Arial"/>
                <a:cs typeface="Arial"/>
              </a:rPr>
              <a:t>conteúdo</a:t>
            </a:r>
            <a:r>
              <a:rPr sz="2114" spc="-11" dirty="0">
                <a:latin typeface="Arial"/>
                <a:cs typeface="Arial"/>
              </a:rPr>
              <a:t> </a:t>
            </a:r>
            <a:r>
              <a:rPr sz="2114" spc="-159" dirty="0">
                <a:latin typeface="Arial"/>
                <a:cs typeface="Arial"/>
              </a:rPr>
              <a:t>das</a:t>
            </a:r>
            <a:r>
              <a:rPr sz="2114" spc="-21" dirty="0">
                <a:latin typeface="Arial"/>
                <a:cs typeface="Arial"/>
              </a:rPr>
              <a:t> variáveis</a:t>
            </a:r>
            <a:endParaRPr sz="2114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036" y="943495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106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3418" y="2126926"/>
            <a:ext cx="8873796" cy="3152952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22" dirty="0">
                <a:latin typeface="Calibri"/>
                <a:cs typeface="Calibri"/>
              </a:rPr>
              <a:t>imprimir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em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cada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linha: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sua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idade;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sua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altura;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seu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status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na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aula:</a:t>
            </a:r>
            <a:endParaRPr sz="2536" dirty="0">
              <a:latin typeface="Arial"/>
              <a:cs typeface="Arial"/>
            </a:endParaRPr>
          </a:p>
          <a:p>
            <a:pPr marL="634800">
              <a:spcBef>
                <a:spcPts val="951"/>
              </a:spcBef>
            </a:pPr>
            <a:r>
              <a:rPr lang="pt-BR" sz="2114" spc="-116" dirty="0">
                <a:solidFill>
                  <a:srgbClr val="00AC8C"/>
                </a:solidFill>
                <a:latin typeface="Arial"/>
                <a:cs typeface="Arial"/>
              </a:rPr>
              <a:t>"Presente”</a:t>
            </a:r>
            <a:endParaRPr sz="2114" dirty="0">
              <a:latin typeface="Arial"/>
              <a:cs typeface="Arial"/>
            </a:endParaRPr>
          </a:p>
          <a:p>
            <a:pPr marL="634800">
              <a:spcBef>
                <a:spcPts val="1046"/>
              </a:spcBef>
            </a:pPr>
            <a:r>
              <a:rPr lang="pt-BR" sz="2114" spc="-21" dirty="0">
                <a:solidFill>
                  <a:srgbClr val="00AC8C"/>
                </a:solidFill>
                <a:latin typeface="Arial"/>
                <a:cs typeface="Arial"/>
              </a:rPr>
              <a:t>“Ausente”</a:t>
            </a:r>
            <a:endParaRPr sz="2114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B64659-CCAA-FCC8-2AEC-6B6CE3710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49" y="956310"/>
            <a:ext cx="10829925" cy="59093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O método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printf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 em Java é usado para 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formatar a saída no console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. Ele faz parte da classe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PrintStream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 (que é a classe de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System.out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).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A principal vantagem do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printf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 é permitir que a saída seja formatada de forma clara, com controle sobre casas decimais, alinhamento de texto e preenchimento de valores.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A estrutura básica é: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System.out.printf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("formato", valores); 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"formato" →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 que define como os valores serão exibidos.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valores → variáveis ou literais que substituem os marcadores dentro da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42A4797-B81B-F34D-391C-0CA83BCE8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0739"/>
            <a:ext cx="1543049" cy="7397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printf</a:t>
            </a: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900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CCE9-714D-42FA-1509-95DF850C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8B2EAF-ADCC-B5BC-07F2-0AFFBD646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1" y="1030207"/>
            <a:ext cx="9725024" cy="7397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printf</a:t>
            </a: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A33F65F-DC04-E097-9907-C65F78814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1" y="1846065"/>
            <a:ext cx="10020300" cy="4308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Principais especificadores: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%d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 números inteiros (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int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long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%f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 números reais (ponto flutuante: 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float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double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%s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%c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 caractere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%.2f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 número decimal com 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casas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%n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→ quebra de linha (equivalente a 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\n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mas independente do SO</a:t>
            </a: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057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43AAC-1509-E123-2C0A-A137020D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465603-3270-F1E7-E850-3D3A91D64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1" y="660330"/>
            <a:ext cx="9725024" cy="7397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printf</a:t>
            </a: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3541BF2-C5AC-025A-763E-695F5BDEA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14" y="1654441"/>
            <a:ext cx="9220200" cy="48320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Exemplo 1 – Inteiros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Exemplo1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static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void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main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String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[]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args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idade = 25;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System.out.printf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("Eu tenho %d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anos.%n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", idade);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	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} 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      Saída: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Eu tenho 25 anos.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1487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5015-158F-B08D-4B74-4967714DD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34937-9307-1C99-C98C-F85DDAF77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1" y="1030207"/>
            <a:ext cx="9725024" cy="7397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printf</a:t>
            </a: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ED8640-E75F-9CB2-0C5F-A99DEEFC7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1" y="2190693"/>
            <a:ext cx="10125776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Exemplo 2 – Números decimais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Exemplo2 {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static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void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main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[]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args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double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nota = 8.567;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System.out.printf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("A nota final foi %.2f.%n", nota);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} 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Saída: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A nota final foi 8.57.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382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B03E-143F-21B4-3427-69FC7CF8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F0B573-EA63-C1B1-C3D8-9CDF86F04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48" y="885827"/>
            <a:ext cx="9725024" cy="7397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printf</a:t>
            </a:r>
            <a:endParaRPr kumimoji="0" lang="pt-BR" altLang="pt-BR" sz="32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3C5282-9AEB-F7AC-DB58-01CF42340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011" y="1466677"/>
            <a:ext cx="10866922" cy="48936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Exemplo 3 –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alinhamento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b="1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Exemplo3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static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void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main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[]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args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nome = "Ana";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idade = 20;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System.out.printf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("Nome: %-10s Idade: %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d%n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", nome, idade);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} 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      Saída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Observe o alinhamento com 10 espaços para o nome: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Nome: Ana Idade: 20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333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49C9F-882D-7AB2-8B2B-19501820D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5F7AB2-FB14-2F2B-44A7-F49D53686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48" y="963317"/>
            <a:ext cx="9725024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defTabSz="914400"/>
            <a:r>
              <a:rPr lang="pt-BR" altLang="pt-BR" sz="3200" b="1" dirty="0">
                <a:solidFill>
                  <a:srgbClr val="222222"/>
                </a:solidFill>
                <a:cs typeface="Arial" panose="020B0604020202020204" pitchFamily="34" charset="0"/>
              </a:rPr>
              <a:t>Exercícios com </a:t>
            </a:r>
            <a:r>
              <a:rPr lang="pt-BR" altLang="pt-BR" sz="1600" b="1" dirty="0" err="1">
                <a:solidFill>
                  <a:srgbClr val="222222"/>
                </a:solidFill>
                <a:latin typeface="Arial Unicode MS" panose="020B0604020202020204" pitchFamily="34" charset="-128"/>
                <a:cs typeface="Arial" panose="020B0604020202020204" pitchFamily="34" charset="0"/>
              </a:rPr>
              <a:t>printf</a:t>
            </a:r>
            <a:endParaRPr lang="pt-BR" altLang="pt-BR" sz="3200" b="1" dirty="0">
              <a:solidFill>
                <a:srgbClr val="222222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DC8217-3AF3-4414-89CA-C118E6CA1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548" y="1592822"/>
            <a:ext cx="11077575" cy="1446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pt-BR" altLang="pt-BR" sz="9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Exercício 1 – Tabuada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Imprima a tabuada do 5 usando 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  <a:cs typeface="Arial" panose="020B0604020202020204" pitchFamily="34" charset="0"/>
              </a:rPr>
              <a:t>printf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Picture 2" descr="✍️">
            <a:extLst>
              <a:ext uri="{FF2B5EF4-FFF2-40B4-BE49-F238E27FC236}">
                <a16:creationId xmlns:a16="http://schemas.microsoft.com/office/drawing/2014/main" id="{47370A7C-3081-2E26-7B45-E9431A19D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484" y="963317"/>
            <a:ext cx="252641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46EE38C-6D23-BCA5-9F7E-DD8686C3F076}"/>
              </a:ext>
            </a:extLst>
          </p:cNvPr>
          <p:cNvSpPr txBox="1"/>
          <p:nvPr/>
        </p:nvSpPr>
        <p:spPr>
          <a:xfrm>
            <a:off x="559593" y="3586359"/>
            <a:ext cx="109561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Exercicio1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static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void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main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String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[]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args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numero = 5; for 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 i = 1; i &lt;= 10; i++) {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System.out.printf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("%d x %d = %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d%n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", numero, i, numero * i);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 panose="020B0604020202020204" pitchFamily="34" charset="-128"/>
              </a:rPr>
              <a:t>}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6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70779" y="1235079"/>
            <a:ext cx="11354304" cy="1199289"/>
          </a:xfrm>
          <a:prstGeom prst="rect">
            <a:avLst/>
          </a:prstGeom>
        </p:spPr>
        <p:txBody>
          <a:bodyPr vert="horz" wrap="square" lIns="0" tIns="527353" rIns="0" bIns="0" rtlCol="0" anchor="t">
            <a:spAutoFit/>
          </a:bodyPr>
          <a:lstStyle/>
          <a:p>
            <a:pPr marL="249625" algn="ctr">
              <a:lnSpc>
                <a:spcPct val="100000"/>
              </a:lnSpc>
              <a:spcBef>
                <a:spcPts val="241"/>
              </a:spcBef>
            </a:pPr>
            <a:r>
              <a:rPr sz="4333" b="0" spc="-201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Comando</a:t>
            </a:r>
            <a:r>
              <a:rPr sz="4333" b="0" spc="-8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4333" b="0" spc="-27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de</a:t>
            </a:r>
            <a:r>
              <a:rPr sz="4333" b="0" spc="-53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4333" b="0" spc="-106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Entrada</a:t>
            </a:r>
            <a:endParaRPr sz="4333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773006" y="9240641"/>
            <a:ext cx="10602269" cy="465511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41604" marR="10737" indent="-16105">
              <a:lnSpc>
                <a:spcPct val="100800"/>
              </a:lnSpc>
              <a:spcBef>
                <a:spcPts val="232"/>
              </a:spcBef>
            </a:pP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Tipos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dados,</a:t>
            </a:r>
            <a:r>
              <a:rPr sz="2959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operadores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e</a:t>
            </a:r>
            <a:r>
              <a:rPr sz="2959" spc="13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782" dirty="0">
                <a:solidFill>
                  <a:srgbClr val="FFFFFF"/>
                </a:solidFill>
                <a:latin typeface="PMingLiU"/>
                <a:cs typeface="PMingLiU"/>
              </a:rPr>
              <a:t>co�</a:t>
            </a:r>
            <a:r>
              <a:rPr sz="2959" spc="-63" dirty="0">
                <a:solidFill>
                  <a:srgbClr val="FFFFFF"/>
                </a:solidFill>
                <a:latin typeface="PMingLiU"/>
                <a:cs typeface="PMingLiU"/>
              </a:rPr>
              <a:t> mandos</a:t>
            </a:r>
            <a:r>
              <a:rPr sz="2959" spc="15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21" dirty="0">
                <a:solidFill>
                  <a:srgbClr val="FFFFFF"/>
                </a:solidFill>
                <a:latin typeface="PMingLiU"/>
                <a:cs typeface="PMingLiU"/>
              </a:rPr>
              <a:t>saida�entrada</a:t>
            </a:r>
            <a:endParaRPr sz="2959">
              <a:latin typeface="PMingLiU"/>
              <a:cs typeface="PMingLiU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096" y="966089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Comando</a:t>
            </a:r>
            <a:r>
              <a:rPr spc="21" dirty="0"/>
              <a:t> </a:t>
            </a:r>
            <a:r>
              <a:rPr dirty="0"/>
              <a:t>de</a:t>
            </a:r>
            <a:r>
              <a:rPr spc="32" dirty="0"/>
              <a:t> </a:t>
            </a:r>
            <a:r>
              <a:rPr spc="-21" dirty="0"/>
              <a:t>entrada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47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280468" y="2570589"/>
            <a:ext cx="7816241" cy="1701626"/>
          </a:xfrm>
          <a:prstGeom prst="rect">
            <a:avLst/>
          </a:prstGeom>
        </p:spPr>
        <p:txBody>
          <a:bodyPr vert="horz" wrap="square" lIns="0" tIns="179838" rIns="0" bIns="0" rtlCol="0">
            <a:spAutoFit/>
          </a:bodyPr>
          <a:lstStyle/>
          <a:p>
            <a:pPr marL="351623" indent="-324782">
              <a:spcBef>
                <a:spcPts val="1416"/>
              </a:spcBef>
              <a:buClr>
                <a:srgbClr val="00AC8C"/>
              </a:buClr>
              <a:buChar char="•"/>
              <a:tabLst>
                <a:tab pos="351623" algn="l"/>
              </a:tabLst>
            </a:pPr>
            <a:r>
              <a:rPr sz="2959" spc="-53" dirty="0">
                <a:latin typeface="Arial"/>
                <a:cs typeface="Arial"/>
              </a:rPr>
              <a:t>Permite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90" dirty="0">
                <a:latin typeface="Arial"/>
                <a:cs typeface="Arial"/>
              </a:rPr>
              <a:t>a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leitura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80" dirty="0">
                <a:latin typeface="Arial"/>
                <a:cs typeface="Arial"/>
              </a:rPr>
              <a:t>de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137" dirty="0">
                <a:latin typeface="Arial"/>
                <a:cs typeface="Arial"/>
              </a:rPr>
              <a:t>dados</a:t>
            </a:r>
            <a:r>
              <a:rPr sz="2959" spc="-63" dirty="0">
                <a:latin typeface="Arial"/>
                <a:cs typeface="Arial"/>
              </a:rPr>
              <a:t> </a:t>
            </a:r>
            <a:r>
              <a:rPr sz="2959" spc="-21" dirty="0">
                <a:latin typeface="Arial"/>
                <a:cs typeface="Arial"/>
              </a:rPr>
              <a:t>via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21" dirty="0">
                <a:latin typeface="Arial"/>
                <a:cs typeface="Arial"/>
              </a:rPr>
              <a:t>teclado;</a:t>
            </a:r>
            <a:endParaRPr sz="2959">
              <a:latin typeface="Arial"/>
              <a:cs typeface="Arial"/>
            </a:endParaRPr>
          </a:p>
          <a:p>
            <a:pPr marL="351623" indent="-324782">
              <a:spcBef>
                <a:spcPts val="1236"/>
              </a:spcBef>
              <a:buClr>
                <a:srgbClr val="00AC8C"/>
              </a:buClr>
              <a:buChar char="•"/>
              <a:tabLst>
                <a:tab pos="351623" algn="l"/>
              </a:tabLst>
            </a:pPr>
            <a:r>
              <a:rPr sz="2959" dirty="0">
                <a:latin typeface="Arial"/>
                <a:cs typeface="Arial"/>
              </a:rPr>
              <a:t>O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06" dirty="0">
                <a:latin typeface="Arial"/>
                <a:cs typeface="Arial"/>
              </a:rPr>
              <a:t>dado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lido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69" dirty="0">
                <a:latin typeface="Arial"/>
                <a:cs typeface="Arial"/>
              </a:rPr>
              <a:t>será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16" dirty="0">
                <a:latin typeface="Arial"/>
                <a:cs typeface="Arial"/>
              </a:rPr>
              <a:t>armazenado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48" dirty="0">
                <a:latin typeface="Arial"/>
                <a:cs typeface="Arial"/>
              </a:rPr>
              <a:t>em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53" dirty="0">
                <a:latin typeface="Arial"/>
                <a:cs typeface="Arial"/>
              </a:rPr>
              <a:t>uma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42" dirty="0">
                <a:latin typeface="Arial"/>
                <a:cs typeface="Arial"/>
              </a:rPr>
              <a:t>variável.</a:t>
            </a:r>
            <a:endParaRPr sz="2959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0" y="114820"/>
            <a:ext cx="17269270" cy="405922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400" dirty="0"/>
              <a:t>Comando</a:t>
            </a:r>
            <a:r>
              <a:rPr sz="2400" spc="21" dirty="0"/>
              <a:t> </a:t>
            </a:r>
            <a:r>
              <a:rPr sz="2400" dirty="0"/>
              <a:t>de</a:t>
            </a:r>
            <a:r>
              <a:rPr sz="2400" spc="32" dirty="0"/>
              <a:t> </a:t>
            </a:r>
            <a:r>
              <a:rPr sz="2400" spc="-21" dirty="0"/>
              <a:t>entrada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581" y="1128457"/>
            <a:ext cx="11473394" cy="1896305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350281" marR="1559488" indent="-324782">
              <a:lnSpc>
                <a:spcPct val="100800"/>
              </a:lnSpc>
              <a:spcBef>
                <a:spcPts val="254"/>
              </a:spcBef>
              <a:buClr>
                <a:srgbClr val="00AC8C"/>
              </a:buClr>
              <a:buChar char="•"/>
              <a:tabLst>
                <a:tab pos="354307" algn="l"/>
              </a:tabLst>
            </a:pPr>
            <a:r>
              <a:rPr sz="2959" spc="-95" dirty="0">
                <a:latin typeface="Arial"/>
                <a:cs typeface="Arial"/>
              </a:rPr>
              <a:t>Mas,</a:t>
            </a:r>
            <a:r>
              <a:rPr sz="2959" spc="-116" dirty="0">
                <a:latin typeface="Arial"/>
                <a:cs typeface="Arial"/>
              </a:rPr>
              <a:t> como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ler</a:t>
            </a:r>
            <a:r>
              <a:rPr sz="2959" spc="-116" dirty="0">
                <a:latin typeface="Arial"/>
                <a:cs typeface="Arial"/>
              </a:rPr>
              <a:t> </a:t>
            </a:r>
            <a:r>
              <a:rPr sz="2959" spc="-211" dirty="0">
                <a:latin typeface="Arial"/>
                <a:cs typeface="Arial"/>
              </a:rPr>
              <a:t>os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137" dirty="0">
                <a:latin typeface="Arial"/>
                <a:cs typeface="Arial"/>
              </a:rPr>
              <a:t>dados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42" dirty="0">
                <a:latin typeface="Arial"/>
                <a:cs typeface="Arial"/>
              </a:rPr>
              <a:t>do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63" dirty="0">
                <a:latin typeface="Arial"/>
                <a:cs typeface="Arial"/>
              </a:rPr>
              <a:t>teclado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296" dirty="0">
                <a:latin typeface="Arial"/>
                <a:cs typeface="Arial"/>
              </a:rPr>
              <a:t>e</a:t>
            </a:r>
            <a:r>
              <a:rPr sz="2959" spc="-74" dirty="0">
                <a:latin typeface="Arial"/>
                <a:cs typeface="Arial"/>
              </a:rPr>
              <a:t> </a:t>
            </a:r>
            <a:r>
              <a:rPr sz="2959" spc="-53" dirty="0">
                <a:latin typeface="Arial"/>
                <a:cs typeface="Arial"/>
              </a:rPr>
              <a:t>guardar</a:t>
            </a:r>
            <a:r>
              <a:rPr sz="2959" spc="-95" dirty="0">
                <a:latin typeface="Arial"/>
                <a:cs typeface="Arial"/>
              </a:rPr>
              <a:t> </a:t>
            </a:r>
            <a:r>
              <a:rPr sz="2959" spc="-74" dirty="0">
                <a:latin typeface="Arial"/>
                <a:cs typeface="Arial"/>
              </a:rPr>
              <a:t>na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63" dirty="0">
                <a:latin typeface="Arial"/>
                <a:cs typeface="Arial"/>
              </a:rPr>
              <a:t>memória</a:t>
            </a:r>
            <a:r>
              <a:rPr sz="2959" spc="-85" dirty="0">
                <a:latin typeface="Arial"/>
                <a:cs typeface="Arial"/>
              </a:rPr>
              <a:t> </a:t>
            </a:r>
            <a:r>
              <a:rPr sz="2959" spc="-53" dirty="0">
                <a:latin typeface="Arial"/>
                <a:cs typeface="Arial"/>
              </a:rPr>
              <a:t>do 	</a:t>
            </a:r>
            <a:r>
              <a:rPr sz="2959" spc="-21" dirty="0">
                <a:latin typeface="Arial"/>
                <a:cs typeface="Arial"/>
              </a:rPr>
              <a:t>computador?</a:t>
            </a:r>
            <a:endParaRPr sz="2959" dirty="0">
              <a:latin typeface="Arial"/>
              <a:cs typeface="Arial"/>
            </a:endParaRPr>
          </a:p>
          <a:p>
            <a:pPr marL="661642" marR="10737" indent="-332834">
              <a:lnSpc>
                <a:spcPct val="117600"/>
              </a:lnSpc>
              <a:spcBef>
                <a:spcPts val="516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92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338" dirty="0">
                <a:latin typeface="Arial"/>
                <a:cs typeface="Arial"/>
              </a:rPr>
              <a:t>É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necessário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criar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buffer </a:t>
            </a:r>
            <a:r>
              <a:rPr sz="2536" spc="-116" dirty="0">
                <a:latin typeface="Arial"/>
                <a:cs typeface="Arial"/>
              </a:rPr>
              <a:t>para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guardar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32" dirty="0">
                <a:latin typeface="Arial"/>
                <a:cs typeface="Arial"/>
              </a:rPr>
              <a:t>os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dados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63" dirty="0">
                <a:latin typeface="Arial"/>
                <a:cs typeface="Arial"/>
              </a:rPr>
              <a:t>digitados </a:t>
            </a:r>
            <a:r>
              <a:rPr sz="2536" spc="-106" dirty="0">
                <a:latin typeface="Arial"/>
                <a:cs typeface="Arial"/>
              </a:rPr>
              <a:t>no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teclado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depois </a:t>
            </a:r>
            <a:r>
              <a:rPr sz="2536" spc="-63" dirty="0">
                <a:latin typeface="Arial"/>
                <a:cs typeface="Arial"/>
              </a:rPr>
              <a:t>transferi-</a:t>
            </a:r>
            <a:r>
              <a:rPr sz="2536" spc="-42" dirty="0">
                <a:latin typeface="Arial"/>
                <a:cs typeface="Arial"/>
              </a:rPr>
              <a:t>los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para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memória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(variável)</a:t>
            </a:r>
            <a:endParaRPr sz="2536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9146" y="3260967"/>
            <a:ext cx="6433905" cy="20050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303938" y="5802535"/>
            <a:ext cx="2120477" cy="575750"/>
          </a:xfrm>
          <a:custGeom>
            <a:avLst/>
            <a:gdLst/>
            <a:ahLst/>
            <a:cxnLst/>
            <a:rect l="l" t="t" r="r" b="b"/>
            <a:pathLst>
              <a:path w="1003300" h="272414">
                <a:moveTo>
                  <a:pt x="251301" y="68435"/>
                </a:moveTo>
                <a:lnTo>
                  <a:pt x="20761" y="3982"/>
                </a:lnTo>
                <a:lnTo>
                  <a:pt x="5466" y="195"/>
                </a:lnTo>
                <a:lnTo>
                  <a:pt x="0" y="0"/>
                </a:lnTo>
                <a:lnTo>
                  <a:pt x="4425" y="3214"/>
                </a:lnTo>
                <a:lnTo>
                  <a:pt x="18805" y="9655"/>
                </a:lnTo>
                <a:lnTo>
                  <a:pt x="161301" y="68435"/>
                </a:lnTo>
                <a:lnTo>
                  <a:pt x="71671" y="68435"/>
                </a:lnTo>
                <a:lnTo>
                  <a:pt x="51970" y="72412"/>
                </a:lnTo>
                <a:lnTo>
                  <a:pt x="35883" y="83258"/>
                </a:lnTo>
                <a:lnTo>
                  <a:pt x="25037" y="99346"/>
                </a:lnTo>
                <a:lnTo>
                  <a:pt x="21060" y="119046"/>
                </a:lnTo>
                <a:lnTo>
                  <a:pt x="21060" y="221672"/>
                </a:lnTo>
                <a:lnTo>
                  <a:pt x="25037" y="241372"/>
                </a:lnTo>
                <a:lnTo>
                  <a:pt x="35883" y="257459"/>
                </a:lnTo>
                <a:lnTo>
                  <a:pt x="51970" y="268305"/>
                </a:lnTo>
                <a:lnTo>
                  <a:pt x="71671" y="272282"/>
                </a:lnTo>
                <a:lnTo>
                  <a:pt x="952387" y="272282"/>
                </a:lnTo>
                <a:lnTo>
                  <a:pt x="972087" y="268305"/>
                </a:lnTo>
                <a:lnTo>
                  <a:pt x="988174" y="257459"/>
                </a:lnTo>
                <a:lnTo>
                  <a:pt x="999020" y="241372"/>
                </a:lnTo>
                <a:lnTo>
                  <a:pt x="1002997" y="221672"/>
                </a:lnTo>
                <a:lnTo>
                  <a:pt x="1002997" y="119046"/>
                </a:lnTo>
                <a:lnTo>
                  <a:pt x="999020" y="99346"/>
                </a:lnTo>
                <a:lnTo>
                  <a:pt x="988174" y="83258"/>
                </a:lnTo>
                <a:lnTo>
                  <a:pt x="972087" y="72412"/>
                </a:lnTo>
                <a:lnTo>
                  <a:pt x="952387" y="68435"/>
                </a:lnTo>
                <a:lnTo>
                  <a:pt x="251301" y="68435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6" name="object 6"/>
          <p:cNvSpPr txBox="1"/>
          <p:nvPr/>
        </p:nvSpPr>
        <p:spPr>
          <a:xfrm>
            <a:off x="1282006" y="5487914"/>
            <a:ext cx="5536057" cy="81647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Scanner</a:t>
            </a:r>
            <a:r>
              <a:rPr sz="2114" spc="-6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entrada</a:t>
            </a:r>
            <a:r>
              <a:rPr sz="2114" spc="-5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2114" spc="-63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new</a:t>
            </a:r>
            <a:r>
              <a:rPr sz="2114" b="1" spc="-53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Scanner</a:t>
            </a:r>
            <a:r>
              <a:rPr sz="2114" spc="-21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System.in</a:t>
            </a:r>
            <a:r>
              <a:rPr sz="2114" spc="-21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2114">
              <a:latin typeface="BIZ UDGothic"/>
              <a:cs typeface="BIZ UDGothic"/>
            </a:endParaRPr>
          </a:p>
          <a:p>
            <a:pPr marL="1194445">
              <a:spcBef>
                <a:spcPts val="1553"/>
              </a:spcBef>
            </a:pPr>
            <a:r>
              <a:rPr sz="1691" spc="-254" dirty="0">
                <a:latin typeface="Arial"/>
                <a:cs typeface="Arial"/>
              </a:rPr>
              <a:t>É</a:t>
            </a:r>
            <a:r>
              <a:rPr sz="1691" spc="-32" dirty="0">
                <a:latin typeface="Arial"/>
                <a:cs typeface="Arial"/>
              </a:rPr>
              <a:t> </a:t>
            </a:r>
            <a:r>
              <a:rPr sz="1691" spc="-127" dirty="0">
                <a:latin typeface="Arial"/>
                <a:cs typeface="Arial"/>
              </a:rPr>
              <a:t>o</a:t>
            </a:r>
            <a:r>
              <a:rPr sz="1691" spc="-21" dirty="0">
                <a:latin typeface="Arial"/>
                <a:cs typeface="Arial"/>
              </a:rPr>
              <a:t> </a:t>
            </a:r>
            <a:r>
              <a:rPr sz="1691" spc="-53" dirty="0">
                <a:latin typeface="Arial"/>
                <a:cs typeface="Arial"/>
              </a:rPr>
              <a:t>buffer</a:t>
            </a:r>
            <a:r>
              <a:rPr sz="1691" spc="-21" dirty="0">
                <a:latin typeface="Arial"/>
                <a:cs typeface="Arial"/>
              </a:rPr>
              <a:t> </a:t>
            </a:r>
            <a:r>
              <a:rPr sz="1691" spc="-106" dirty="0">
                <a:latin typeface="Arial"/>
                <a:cs typeface="Arial"/>
              </a:rPr>
              <a:t>do</a:t>
            </a:r>
            <a:r>
              <a:rPr sz="1691" spc="-21" dirty="0">
                <a:latin typeface="Arial"/>
                <a:cs typeface="Arial"/>
              </a:rPr>
              <a:t> teclado</a:t>
            </a:r>
            <a:endParaRPr sz="1691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2826" y="202956"/>
            <a:ext cx="4216254" cy="344366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000" dirty="0"/>
              <a:t>Comando</a:t>
            </a:r>
            <a:r>
              <a:rPr sz="2000" spc="21" dirty="0"/>
              <a:t> </a:t>
            </a:r>
            <a:r>
              <a:rPr sz="2000" dirty="0"/>
              <a:t>de</a:t>
            </a:r>
            <a:r>
              <a:rPr sz="2000" spc="32" dirty="0"/>
              <a:t> </a:t>
            </a:r>
            <a:r>
              <a:rPr sz="2000" spc="-21" dirty="0"/>
              <a:t>entrada</a:t>
            </a:r>
          </a:p>
        </p:txBody>
      </p:sp>
      <p:sp>
        <p:nvSpPr>
          <p:cNvPr id="3" name="object 3"/>
          <p:cNvSpPr/>
          <p:nvPr/>
        </p:nvSpPr>
        <p:spPr>
          <a:xfrm>
            <a:off x="2219553" y="2673061"/>
            <a:ext cx="7741083" cy="29526"/>
          </a:xfrm>
          <a:custGeom>
            <a:avLst/>
            <a:gdLst/>
            <a:ahLst/>
            <a:cxnLst/>
            <a:rect l="l" t="t" r="r" b="b"/>
            <a:pathLst>
              <a:path w="3662679" h="13969">
                <a:moveTo>
                  <a:pt x="3662451" y="0"/>
                </a:moveTo>
                <a:lnTo>
                  <a:pt x="0" y="0"/>
                </a:lnTo>
                <a:lnTo>
                  <a:pt x="0" y="13893"/>
                </a:lnTo>
                <a:lnTo>
                  <a:pt x="3662451" y="13893"/>
                </a:lnTo>
                <a:lnTo>
                  <a:pt x="36624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4" name="object 4"/>
          <p:cNvSpPr txBox="1"/>
          <p:nvPr/>
        </p:nvSpPr>
        <p:spPr>
          <a:xfrm>
            <a:off x="273376" y="859708"/>
            <a:ext cx="12867589" cy="2426343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Após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80" dirty="0">
                <a:latin typeface="Calibri"/>
                <a:cs typeface="Calibri"/>
              </a:rPr>
              <a:t>criar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o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buffer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do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85" dirty="0">
                <a:latin typeface="Calibri"/>
                <a:cs typeface="Calibri"/>
              </a:rPr>
              <a:t>teclado: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37" dirty="0">
                <a:latin typeface="Arial"/>
                <a:cs typeface="Arial"/>
              </a:rPr>
              <a:t>basta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transferir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esse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dado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para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variável;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80" dirty="0">
                <a:latin typeface="Arial"/>
                <a:cs typeface="Arial"/>
              </a:rPr>
              <a:t>devemos</a:t>
            </a:r>
            <a:r>
              <a:rPr sz="2536" spc="3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associar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b="1" dirty="0">
                <a:latin typeface="Calibri"/>
                <a:cs typeface="Calibri"/>
              </a:rPr>
              <a:t>tipo</a:t>
            </a:r>
            <a:r>
              <a:rPr sz="2536" b="1" spc="190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de</a:t>
            </a:r>
            <a:r>
              <a:rPr sz="2536" b="1" spc="180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entrada</a:t>
            </a:r>
            <a:r>
              <a:rPr sz="2536" b="1" spc="180" dirty="0">
                <a:latin typeface="Calibri"/>
                <a:cs typeface="Calibri"/>
              </a:rPr>
              <a:t> </a:t>
            </a:r>
            <a:r>
              <a:rPr sz="2536" spc="-180" dirty="0">
                <a:latin typeface="Arial"/>
                <a:cs typeface="Arial"/>
              </a:rPr>
              <a:t>ao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b="1" dirty="0">
                <a:latin typeface="Calibri"/>
                <a:cs typeface="Calibri"/>
              </a:rPr>
              <a:t>tipo</a:t>
            </a:r>
            <a:r>
              <a:rPr sz="2536" b="1" spc="180" dirty="0">
                <a:latin typeface="Calibri"/>
                <a:cs typeface="Calibri"/>
              </a:rPr>
              <a:t> </a:t>
            </a:r>
            <a:r>
              <a:rPr sz="2536" b="1" dirty="0">
                <a:latin typeface="Calibri"/>
                <a:cs typeface="Calibri"/>
              </a:rPr>
              <a:t>da</a:t>
            </a:r>
            <a:r>
              <a:rPr sz="2536" b="1" spc="190" dirty="0">
                <a:latin typeface="Calibri"/>
                <a:cs typeface="Calibri"/>
              </a:rPr>
              <a:t> </a:t>
            </a:r>
            <a:r>
              <a:rPr sz="2536" b="1" spc="116" dirty="0">
                <a:latin typeface="Calibri"/>
                <a:cs typeface="Calibri"/>
              </a:rPr>
              <a:t>variável</a:t>
            </a:r>
            <a:r>
              <a:rPr sz="2536" b="1" spc="180" dirty="0">
                <a:latin typeface="Calibri"/>
                <a:cs typeface="Calibri"/>
              </a:rPr>
              <a:t> </a:t>
            </a:r>
            <a:r>
              <a:rPr sz="2536" spc="-148" dirty="0">
                <a:latin typeface="Arial"/>
                <a:cs typeface="Arial"/>
              </a:rPr>
              <a:t>que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receberá</a:t>
            </a:r>
            <a:r>
              <a:rPr sz="2536" spc="5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63" dirty="0">
                <a:latin typeface="Arial"/>
                <a:cs typeface="Arial"/>
              </a:rPr>
              <a:t> </a:t>
            </a:r>
            <a:r>
              <a:rPr sz="2536" spc="-63" dirty="0">
                <a:latin typeface="Arial"/>
                <a:cs typeface="Arial"/>
              </a:rPr>
              <a:t>dado.</a:t>
            </a:r>
            <a:endParaRPr sz="2536" dirty="0">
              <a:latin typeface="Arial"/>
              <a:cs typeface="Arial"/>
            </a:endParaRPr>
          </a:p>
          <a:p>
            <a:pPr marL="2099001">
              <a:spcBef>
                <a:spcPts val="1987"/>
              </a:spcBef>
              <a:tabLst>
                <a:tab pos="4705306" algn="l"/>
              </a:tabLst>
            </a:pPr>
            <a:r>
              <a:rPr sz="2959" b="1" spc="222" dirty="0">
                <a:latin typeface="Calibri"/>
                <a:cs typeface="Calibri"/>
              </a:rPr>
              <a:t>Tipo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de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06" dirty="0">
                <a:latin typeface="Calibri"/>
                <a:cs typeface="Calibri"/>
              </a:rPr>
              <a:t>dado</a:t>
            </a:r>
            <a:r>
              <a:rPr sz="2959" b="1" dirty="0">
                <a:latin typeface="Calibri"/>
                <a:cs typeface="Calibri"/>
              </a:rPr>
              <a:t>	</a:t>
            </a:r>
            <a:r>
              <a:rPr lang="pt-BR" sz="2959" b="1" dirty="0">
                <a:latin typeface="Calibri"/>
                <a:cs typeface="Calibri"/>
              </a:rPr>
              <a:t>   </a:t>
            </a:r>
            <a:r>
              <a:rPr sz="2959" b="1" spc="106" dirty="0">
                <a:latin typeface="Calibri"/>
                <a:cs typeface="Calibri"/>
              </a:rPr>
              <a:t>Usar</a:t>
            </a:r>
            <a:endParaRPr sz="2959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19553" y="3341414"/>
            <a:ext cx="7741083" cy="0"/>
          </a:xfrm>
          <a:custGeom>
            <a:avLst/>
            <a:gdLst/>
            <a:ahLst/>
            <a:cxnLst/>
            <a:rect l="l" t="t" r="r" b="b"/>
            <a:pathLst>
              <a:path w="3662679">
                <a:moveTo>
                  <a:pt x="0" y="0"/>
                </a:moveTo>
                <a:lnTo>
                  <a:pt x="3662451" y="0"/>
                </a:lnTo>
              </a:path>
            </a:pathLst>
          </a:custGeom>
          <a:ln w="8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6" name="object 6"/>
          <p:cNvSpPr txBox="1"/>
          <p:nvPr/>
        </p:nvSpPr>
        <p:spPr>
          <a:xfrm>
            <a:off x="2353169" y="3365381"/>
            <a:ext cx="1402468" cy="2815787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26841" marR="10737">
              <a:lnSpc>
                <a:spcPct val="100800"/>
              </a:lnSpc>
              <a:spcBef>
                <a:spcPts val="254"/>
              </a:spcBef>
            </a:pPr>
            <a:r>
              <a:rPr sz="2959" spc="-21" dirty="0">
                <a:latin typeface="BIZ UDGothic"/>
                <a:cs typeface="BIZ UDGothic"/>
              </a:rPr>
              <a:t>String </a:t>
            </a:r>
            <a:endParaRPr lang="pt-BR" sz="2959" spc="-21" dirty="0">
              <a:latin typeface="BIZ UDGothic"/>
              <a:cs typeface="BIZ UDGothic"/>
            </a:endParaRPr>
          </a:p>
          <a:p>
            <a:pPr marL="26841" marR="10737">
              <a:lnSpc>
                <a:spcPct val="100800"/>
              </a:lnSpc>
              <a:spcBef>
                <a:spcPts val="254"/>
              </a:spcBef>
            </a:pPr>
            <a:r>
              <a:rPr sz="2959" spc="-53" dirty="0">
                <a:latin typeface="BIZ UDGothic"/>
                <a:cs typeface="BIZ UDGothic"/>
              </a:rPr>
              <a:t>int </a:t>
            </a:r>
            <a:r>
              <a:rPr sz="2959" spc="-21" dirty="0">
                <a:latin typeface="BIZ UDGothic"/>
                <a:cs typeface="BIZ UDGothic"/>
              </a:rPr>
              <a:t>double float </a:t>
            </a:r>
            <a:r>
              <a:rPr sz="2959" spc="-42" dirty="0">
                <a:latin typeface="BIZ UDGothic"/>
                <a:cs typeface="BIZ UDGothic"/>
              </a:rPr>
              <a:t>char </a:t>
            </a:r>
            <a:r>
              <a:rPr sz="2959" spc="-21" dirty="0">
                <a:latin typeface="BIZ UDGothic"/>
                <a:cs typeface="BIZ UDGothic"/>
              </a:rPr>
              <a:t>boolean</a:t>
            </a:r>
            <a:endParaRPr sz="2959" dirty="0">
              <a:latin typeface="BIZ UDGothic"/>
              <a:cs typeface="BIZ UD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9477" y="3365381"/>
            <a:ext cx="4867704" cy="2777315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26841" marR="10737">
              <a:lnSpc>
                <a:spcPct val="100800"/>
              </a:lnSpc>
              <a:spcBef>
                <a:spcPts val="254"/>
              </a:spcBef>
            </a:pPr>
            <a:r>
              <a:rPr sz="2959" spc="-21" dirty="0">
                <a:latin typeface="BIZ UDGothic"/>
                <a:cs typeface="BIZ UDGothic"/>
              </a:rPr>
              <a:t>entrada.nextLine(); entrada.nextInt(); entrada.nextDouble(); entrada.nextFloat(); entrada.next().charAt(0); entrada.nextBoolean();</a:t>
            </a:r>
            <a:endParaRPr sz="2959" dirty="0">
              <a:latin typeface="BIZ UDGothic"/>
              <a:cs typeface="BIZ UD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19553" y="6253422"/>
            <a:ext cx="7741083" cy="29526"/>
          </a:xfrm>
          <a:custGeom>
            <a:avLst/>
            <a:gdLst/>
            <a:ahLst/>
            <a:cxnLst/>
            <a:rect l="l" t="t" r="r" b="b"/>
            <a:pathLst>
              <a:path w="3662679" h="13969">
                <a:moveTo>
                  <a:pt x="3662451" y="0"/>
                </a:moveTo>
                <a:lnTo>
                  <a:pt x="0" y="0"/>
                </a:lnTo>
                <a:lnTo>
                  <a:pt x="0" y="13893"/>
                </a:lnTo>
                <a:lnTo>
                  <a:pt x="3662451" y="13893"/>
                </a:lnTo>
                <a:lnTo>
                  <a:pt x="36624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9" name="object 9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531" y="994052"/>
            <a:ext cx="9900483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dirty="0"/>
              <a:t>Comando</a:t>
            </a:r>
            <a:r>
              <a:rPr spc="21" dirty="0"/>
              <a:t> </a:t>
            </a:r>
            <a:r>
              <a:rPr dirty="0"/>
              <a:t>de</a:t>
            </a:r>
            <a:r>
              <a:rPr spc="32" dirty="0"/>
              <a:t> </a:t>
            </a:r>
            <a:r>
              <a:rPr spc="-21" dirty="0"/>
              <a:t>entrada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531" y="1786949"/>
            <a:ext cx="9900483" cy="2961746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59" dirty="0">
                <a:latin typeface="Calibri"/>
                <a:cs typeface="Calibri"/>
              </a:rPr>
              <a:t>Para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usar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a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106" dirty="0">
                <a:latin typeface="Calibri"/>
                <a:cs typeface="Calibri"/>
              </a:rPr>
              <a:t>classe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Scanner:</a:t>
            </a:r>
            <a:endParaRPr sz="2959" dirty="0">
              <a:latin typeface="Calibri"/>
              <a:cs typeface="Calibri"/>
            </a:endParaRPr>
          </a:p>
          <a:p>
            <a:pPr marL="330150">
              <a:spcBef>
                <a:spcPts val="1057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92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é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necessário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fazer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import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pacote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antes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da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definição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da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classe.</a:t>
            </a:r>
            <a:endParaRPr sz="2536" dirty="0">
              <a:latin typeface="Arial"/>
              <a:cs typeface="Arial"/>
            </a:endParaRPr>
          </a:p>
          <a:p>
            <a:pPr marL="626748">
              <a:spcBef>
                <a:spcPts val="1162"/>
              </a:spcBef>
              <a:tabLst>
                <a:tab pos="1028025" algn="l"/>
              </a:tabLst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1691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import</a:t>
            </a:r>
            <a:r>
              <a:rPr sz="2114" b="1" spc="-74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java.util.Scanner;</a:t>
            </a:r>
            <a:endParaRPr sz="2114" dirty="0">
              <a:latin typeface="BIZ UDGothic"/>
              <a:cs typeface="BIZ UDGothic"/>
            </a:endParaRPr>
          </a:p>
          <a:p>
            <a:pPr marL="626748">
              <a:spcBef>
                <a:spcPts val="423"/>
              </a:spcBef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1691" dirty="0">
              <a:latin typeface="BIZ UDGothic"/>
              <a:cs typeface="BIZ UDGothic"/>
            </a:endParaRPr>
          </a:p>
          <a:p>
            <a:pPr marL="626748">
              <a:spcBef>
                <a:spcPts val="74"/>
              </a:spcBef>
              <a:tabLst>
                <a:tab pos="1028025" algn="l"/>
              </a:tabLst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1691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2114" b="1" spc="-74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2114" b="1" spc="-63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2114" spc="-21" dirty="0">
                <a:solidFill>
                  <a:srgbClr val="595959"/>
                </a:solidFill>
                <a:latin typeface="BIZ UDGothic"/>
                <a:cs typeface="BIZ UDGothic"/>
              </a:rPr>
              <a:t>Exemplo</a:t>
            </a:r>
            <a:r>
              <a:rPr sz="2114" b="1" spc="-21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2114" dirty="0">
              <a:latin typeface="BIZ UDGothic"/>
              <a:cs typeface="BIZ UDGothic"/>
            </a:endParaRPr>
          </a:p>
          <a:p>
            <a:pPr marL="626748">
              <a:spcBef>
                <a:spcPts val="412"/>
              </a:spcBef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1691" dirty="0">
              <a:latin typeface="BIZ UDGothic"/>
              <a:cs typeface="BIZ UDGothic"/>
            </a:endParaRPr>
          </a:p>
          <a:p>
            <a:pPr marL="626748">
              <a:spcBef>
                <a:spcPts val="74"/>
              </a:spcBef>
              <a:tabLst>
                <a:tab pos="1028025" algn="l"/>
              </a:tabLst>
            </a:pPr>
            <a:r>
              <a:rPr sz="1691" spc="-106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r>
              <a:rPr sz="1691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2114" b="1" spc="-106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2114" dirty="0">
              <a:latin typeface="BIZ UDGothic"/>
              <a:cs typeface="BIZ UD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366" y="1136406"/>
            <a:ext cx="803944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pc="-21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366" y="2112832"/>
            <a:ext cx="9530070" cy="2245780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27" dirty="0">
                <a:latin typeface="Calibri"/>
                <a:cs typeface="Calibri"/>
              </a:rPr>
              <a:t>Vamos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fazer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80" dirty="0">
                <a:latin typeface="Calibri"/>
                <a:cs typeface="Calibri"/>
              </a:rPr>
              <a:t>programa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em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-42" dirty="0">
                <a:latin typeface="Calibri"/>
                <a:cs typeface="Calibri"/>
              </a:rPr>
              <a:t>que: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16" dirty="0">
                <a:latin typeface="Arial"/>
                <a:cs typeface="Arial"/>
              </a:rPr>
              <a:t>pedimos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para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usário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que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informe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nome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63" dirty="0">
                <a:latin typeface="Arial"/>
                <a:cs typeface="Arial"/>
              </a:rPr>
              <a:t>valor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duas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notas;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06" dirty="0">
                <a:latin typeface="Arial"/>
                <a:cs typeface="Arial"/>
              </a:rPr>
              <a:t>calcule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média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das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notas;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1" dirty="0">
                <a:latin typeface="Arial"/>
                <a:cs typeface="Arial"/>
              </a:rPr>
              <a:t>imprima</a:t>
            </a:r>
            <a:r>
              <a:rPr sz="2536" spc="-95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média.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981470"/>
            <a:ext cx="17907445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pc="-21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300" y="2384457"/>
            <a:ext cx="8453726" cy="1714481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37" dirty="0">
                <a:latin typeface="Calibri"/>
                <a:cs typeface="Calibri"/>
              </a:rPr>
              <a:t>Antes</a:t>
            </a:r>
            <a:r>
              <a:rPr sz="2959" b="1" spc="116" dirty="0">
                <a:latin typeface="Calibri"/>
                <a:cs typeface="Calibri"/>
              </a:rPr>
              <a:t> de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começar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90" dirty="0">
                <a:latin typeface="Calibri"/>
                <a:cs typeface="Calibri"/>
              </a:rPr>
              <a:t>programar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-63" dirty="0">
                <a:latin typeface="Calibri"/>
                <a:cs typeface="Calibri"/>
              </a:rPr>
              <a:t>.</a:t>
            </a:r>
            <a:r>
              <a:rPr sz="2959" b="1" spc="-275" dirty="0">
                <a:latin typeface="Calibri"/>
                <a:cs typeface="Calibri"/>
              </a:rPr>
              <a:t> </a:t>
            </a:r>
            <a:r>
              <a:rPr sz="2959" b="1" spc="-63" dirty="0">
                <a:latin typeface="Calibri"/>
                <a:cs typeface="Calibri"/>
              </a:rPr>
              <a:t>.</a:t>
            </a:r>
            <a:r>
              <a:rPr sz="2959" b="1" spc="-275" dirty="0">
                <a:latin typeface="Calibri"/>
                <a:cs typeface="Calibri"/>
              </a:rPr>
              <a:t> </a:t>
            </a:r>
            <a:r>
              <a:rPr sz="2959" b="1" spc="-63" dirty="0">
                <a:latin typeface="Calibri"/>
                <a:cs typeface="Calibri"/>
              </a:rPr>
              <a:t>.</a:t>
            </a:r>
            <a:r>
              <a:rPr sz="2959" b="1" spc="-285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pare </a:t>
            </a:r>
            <a:r>
              <a:rPr sz="2959" b="1" dirty="0">
                <a:latin typeface="Calibri"/>
                <a:cs typeface="Calibri"/>
              </a:rPr>
              <a:t>e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95" dirty="0">
                <a:latin typeface="Calibri"/>
                <a:cs typeface="Calibri"/>
              </a:rPr>
              <a:t>pense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80" dirty="0">
                <a:latin typeface="Arial"/>
                <a:cs typeface="Arial"/>
              </a:rPr>
              <a:t>Q</a:t>
            </a:r>
            <a:r>
              <a:rPr lang="pt-BR" sz="2536" spc="-180" dirty="0">
                <a:latin typeface="Arial"/>
                <a:cs typeface="Arial"/>
              </a:rPr>
              <a:t>u</a:t>
            </a:r>
            <a:r>
              <a:rPr sz="2536" spc="-180" dirty="0" err="1">
                <a:latin typeface="Arial"/>
                <a:cs typeface="Arial"/>
              </a:rPr>
              <a:t>antas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variáveis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37" dirty="0" err="1">
                <a:latin typeface="Arial"/>
                <a:cs typeface="Arial"/>
              </a:rPr>
              <a:t>precisaremos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lang="pt-BR" sz="2536" spc="-21" dirty="0">
                <a:latin typeface="Arial"/>
                <a:cs typeface="Arial"/>
              </a:rPr>
              <a:t>d</a:t>
            </a:r>
            <a:r>
              <a:rPr sz="2536" spc="-21" dirty="0" err="1">
                <a:latin typeface="Arial"/>
                <a:cs typeface="Arial"/>
              </a:rPr>
              <a:t>eclarar</a:t>
            </a:r>
            <a:r>
              <a:rPr sz="2536" spc="-21" dirty="0">
                <a:latin typeface="Arial"/>
                <a:cs typeface="Arial"/>
              </a:rPr>
              <a:t>?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22" dirty="0">
                <a:latin typeface="Arial"/>
                <a:cs typeface="Arial"/>
              </a:rPr>
              <a:t>Q</a:t>
            </a:r>
            <a:r>
              <a:rPr lang="pt-BR" sz="2536" spc="-222" dirty="0">
                <a:latin typeface="Arial"/>
                <a:cs typeface="Arial"/>
              </a:rPr>
              <a:t>u</a:t>
            </a:r>
            <a:r>
              <a:rPr sz="2536" spc="-222" dirty="0">
                <a:latin typeface="Arial"/>
                <a:cs typeface="Arial"/>
              </a:rPr>
              <a:t>ais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são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232" dirty="0">
                <a:latin typeface="Arial"/>
                <a:cs typeface="Arial"/>
              </a:rPr>
              <a:t>os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232" dirty="0">
                <a:latin typeface="Arial"/>
                <a:cs typeface="Arial"/>
              </a:rPr>
              <a:t>passos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necessários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para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fazer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esse</a:t>
            </a:r>
            <a:r>
              <a:rPr sz="2536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programa?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9763" y="-36743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pc="-21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136" y="826775"/>
            <a:ext cx="4391267" cy="1303166"/>
          </a:xfrm>
          <a:prstGeom prst="rect">
            <a:avLst/>
          </a:prstGeom>
        </p:spPr>
        <p:txBody>
          <a:bodyPr vert="horz" wrap="square" lIns="0" tIns="77840" rIns="0" bIns="0" rtlCol="0">
            <a:spAutoFit/>
          </a:bodyPr>
          <a:lstStyle/>
          <a:p>
            <a:pPr marL="26841">
              <a:spcBef>
                <a:spcPts val="613"/>
              </a:spcBef>
            </a:pPr>
            <a:r>
              <a:rPr sz="1268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1268" spc="-317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1585" b="1" dirty="0">
                <a:solidFill>
                  <a:srgbClr val="00AC8C"/>
                </a:solidFill>
                <a:latin typeface="BIZ UDGothic"/>
                <a:cs typeface="BIZ UDGothic"/>
              </a:rPr>
              <a:t>import </a:t>
            </a:r>
            <a:r>
              <a:rPr sz="1585" spc="-21" dirty="0">
                <a:solidFill>
                  <a:srgbClr val="595959"/>
                </a:solidFill>
                <a:latin typeface="BIZ UDGothic"/>
                <a:cs typeface="BIZ UDGothic"/>
              </a:rPr>
              <a:t>java.util.Scanner;</a:t>
            </a:r>
            <a:endParaRPr sz="1585" dirty="0">
              <a:latin typeface="BIZ UDGothic"/>
              <a:cs typeface="BIZ UDGothic"/>
            </a:endParaRPr>
          </a:p>
          <a:p>
            <a:pPr marL="26841">
              <a:spcBef>
                <a:spcPts val="317"/>
              </a:spcBef>
            </a:pPr>
            <a:r>
              <a:rPr sz="1268" spc="-106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1268" dirty="0">
              <a:latin typeface="BIZ UDGothic"/>
              <a:cs typeface="BIZ UDGothic"/>
            </a:endParaRPr>
          </a:p>
          <a:p>
            <a:pPr marL="26841">
              <a:spcBef>
                <a:spcPts val="63"/>
              </a:spcBef>
            </a:pPr>
            <a:r>
              <a:rPr sz="1268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1268" spc="-317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1585" b="1" dirty="0">
                <a:solidFill>
                  <a:srgbClr val="00AC8C"/>
                </a:solidFill>
                <a:latin typeface="BIZ UDGothic"/>
                <a:cs typeface="BIZ UDGothic"/>
              </a:rPr>
              <a:t>public class </a:t>
            </a:r>
            <a:r>
              <a:rPr sz="1585" dirty="0">
                <a:solidFill>
                  <a:srgbClr val="595959"/>
                </a:solidFill>
                <a:latin typeface="BIZ UDGothic"/>
                <a:cs typeface="BIZ UDGothic"/>
              </a:rPr>
              <a:t>MediaExemplo </a:t>
            </a:r>
            <a:r>
              <a:rPr sz="1585" b="1" spc="-106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1585" dirty="0">
              <a:latin typeface="BIZ UDGothic"/>
              <a:cs typeface="BIZ UDGothic"/>
            </a:endParaRPr>
          </a:p>
          <a:p>
            <a:pPr marL="26841">
              <a:spcBef>
                <a:spcPts val="328"/>
              </a:spcBef>
            </a:pPr>
            <a:r>
              <a:rPr sz="1268" spc="-106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1268" dirty="0">
              <a:latin typeface="BIZ UDGothic"/>
              <a:cs typeface="BIZ UDGothic"/>
            </a:endParaRPr>
          </a:p>
          <a:p>
            <a:pPr marL="26841">
              <a:spcBef>
                <a:spcPts val="63"/>
              </a:spcBef>
            </a:pPr>
            <a:r>
              <a:rPr sz="1268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r>
              <a:rPr sz="1268" spc="232" dirty="0">
                <a:solidFill>
                  <a:srgbClr val="666666"/>
                </a:solidFill>
                <a:latin typeface="BIZ UDGothic"/>
                <a:cs typeface="BIZ UDGothic"/>
              </a:rPr>
              <a:t>  </a:t>
            </a:r>
            <a:r>
              <a:rPr sz="1585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1585" b="1" spc="11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585" b="1" dirty="0">
                <a:solidFill>
                  <a:srgbClr val="00AC8C"/>
                </a:solidFill>
                <a:latin typeface="BIZ UDGothic"/>
                <a:cs typeface="BIZ UDGothic"/>
              </a:rPr>
              <a:t>static void </a:t>
            </a:r>
            <a:r>
              <a:rPr sz="1585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1585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1585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1585" dirty="0">
                <a:solidFill>
                  <a:srgbClr val="B25900"/>
                </a:solidFill>
                <a:latin typeface="BIZ UDGothic"/>
                <a:cs typeface="BIZ UDGothic"/>
              </a:rPr>
              <a:t>[] </a:t>
            </a:r>
            <a:r>
              <a:rPr sz="1585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1585" dirty="0">
                <a:solidFill>
                  <a:srgbClr val="B25900"/>
                </a:solidFill>
                <a:latin typeface="BIZ UDGothic"/>
                <a:cs typeface="BIZ UDGothic"/>
              </a:rPr>
              <a:t>) </a:t>
            </a:r>
            <a:r>
              <a:rPr sz="1585" b="1" spc="-106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1585" dirty="0">
              <a:latin typeface="BIZ UDGothic"/>
              <a:cs typeface="BIZ UD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220786"/>
              </p:ext>
            </p:extLst>
          </p:nvPr>
        </p:nvGraphicFramePr>
        <p:xfrm>
          <a:off x="685284" y="2429582"/>
          <a:ext cx="5542767" cy="4248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6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522">
                <a:tc>
                  <a:txBody>
                    <a:bodyPr/>
                    <a:lstStyle/>
                    <a:p>
                      <a:pPr marR="8255" algn="ctr">
                        <a:lnSpc>
                          <a:spcPts val="585"/>
                        </a:lnSpc>
                      </a:pPr>
                      <a:r>
                        <a:rPr sz="13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13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731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3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322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69"/>
                        </a:lnSpc>
                      </a:pP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 entrada = </a:t>
                      </a:r>
                      <a:r>
                        <a:rPr sz="16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new 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1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System.in</a:t>
                      </a:r>
                      <a:r>
                        <a:rPr sz="1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6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098">
                <a:tc>
                  <a:txBody>
                    <a:bodyPr/>
                    <a:lstStyle/>
                    <a:p>
                      <a:pPr marR="8255" algn="ctr">
                        <a:lnSpc>
                          <a:spcPts val="690"/>
                        </a:lnSpc>
                        <a:spcBef>
                          <a:spcPts val="30"/>
                        </a:spcBef>
                      </a:pPr>
                      <a:r>
                        <a:rPr sz="13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8052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15">
                <a:tc>
                  <a:txBody>
                    <a:bodyPr/>
                    <a:lstStyle/>
                    <a:p>
                      <a:pPr marR="8255" algn="ctr">
                        <a:lnSpc>
                          <a:spcPts val="695"/>
                        </a:lnSpc>
                        <a:spcBef>
                          <a:spcPts val="110"/>
                        </a:spcBef>
                      </a:pPr>
                      <a:r>
                        <a:rPr sz="13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2952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05"/>
                        </a:lnSpc>
                      </a:pP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1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("Digite a primeira </a:t>
                      </a:r>
                      <a:r>
                        <a:rPr sz="1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nota")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6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705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281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60"/>
                        </a:lnSpc>
                      </a:pPr>
                      <a:r>
                        <a:rPr sz="16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double </a:t>
                      </a: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nota1 = 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entrada.nextDouble</a:t>
                      </a:r>
                      <a:r>
                        <a:rPr sz="1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6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098">
                <a:tc>
                  <a:txBody>
                    <a:bodyPr/>
                    <a:lstStyle/>
                    <a:p>
                      <a:pPr marR="46355" algn="ctr">
                        <a:lnSpc>
                          <a:spcPts val="690"/>
                        </a:lnSpc>
                        <a:spcBef>
                          <a:spcPts val="30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8052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915">
                <a:tc>
                  <a:txBody>
                    <a:bodyPr/>
                    <a:lstStyle/>
                    <a:p>
                      <a:pPr marR="46355" algn="ctr">
                        <a:lnSpc>
                          <a:spcPts val="695"/>
                        </a:lnSpc>
                        <a:spcBef>
                          <a:spcPts val="110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12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2952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05"/>
                        </a:lnSpc>
                      </a:pP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1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("Digite a segunda </a:t>
                      </a:r>
                      <a:r>
                        <a:rPr sz="1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nota")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6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705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13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281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60"/>
                        </a:lnSpc>
                      </a:pPr>
                      <a:r>
                        <a:rPr sz="16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double </a:t>
                      </a: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nota2 = 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entrada.nextDouble</a:t>
                      </a:r>
                      <a:r>
                        <a:rPr sz="1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6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609">
                <a:tc>
                  <a:txBody>
                    <a:bodyPr/>
                    <a:lstStyle/>
                    <a:p>
                      <a:pPr marR="46355" algn="ctr">
                        <a:lnSpc>
                          <a:spcPts val="680"/>
                        </a:lnSpc>
                        <a:spcBef>
                          <a:spcPts val="30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14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8052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731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15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322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69"/>
                        </a:lnSpc>
                      </a:pPr>
                      <a:r>
                        <a:rPr sz="16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double </a:t>
                      </a: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media = </a:t>
                      </a:r>
                      <a:r>
                        <a:rPr sz="1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nota1 + nota2</a:t>
                      </a:r>
                      <a:r>
                        <a:rPr sz="1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 </a:t>
                      </a: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/ </a:t>
                      </a:r>
                      <a:r>
                        <a:rPr sz="16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2;</a:t>
                      </a:r>
                      <a:endParaRPr sz="16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098">
                <a:tc>
                  <a:txBody>
                    <a:bodyPr/>
                    <a:lstStyle/>
                    <a:p>
                      <a:pPr marR="46355" algn="ctr">
                        <a:lnSpc>
                          <a:spcPts val="690"/>
                        </a:lnSpc>
                        <a:spcBef>
                          <a:spcPts val="30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16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8052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705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17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2952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60"/>
                        </a:lnSpc>
                      </a:pP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1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("Media das notas: " </a:t>
                      </a:r>
                      <a:r>
                        <a:rPr sz="1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+ 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media</a:t>
                      </a:r>
                      <a:r>
                        <a:rPr sz="1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6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442">
                <a:tc>
                  <a:txBody>
                    <a:bodyPr/>
                    <a:lstStyle/>
                    <a:p>
                      <a:pPr marR="46355" algn="ctr">
                        <a:lnSpc>
                          <a:spcPts val="690"/>
                        </a:lnSpc>
                        <a:spcBef>
                          <a:spcPts val="35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18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93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705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19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29526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60"/>
                        </a:lnSpc>
                      </a:pP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entrada.close</a:t>
                      </a:r>
                      <a:r>
                        <a:rPr sz="1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1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6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8758">
                <a:tc>
                  <a:txBody>
                    <a:bodyPr/>
                    <a:lstStyle/>
                    <a:p>
                      <a:pPr marR="46355" algn="ctr">
                        <a:lnSpc>
                          <a:spcPts val="680"/>
                        </a:lnSpc>
                        <a:spcBef>
                          <a:spcPts val="35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20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</a:txBody>
                  <a:tcPr marL="0" marR="0" marT="93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37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3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21</a:t>
                      </a:r>
                      <a:endParaRPr sz="1300">
                        <a:latin typeface="BIZ UDGothic"/>
                        <a:cs typeface="BIZ UDGothic"/>
                      </a:endParaRPr>
                    </a:p>
                    <a:p>
                      <a:pPr marL="31750">
                        <a:lnSpc>
                          <a:spcPts val="795"/>
                        </a:lnSpc>
                        <a:spcBef>
                          <a:spcPts val="30"/>
                        </a:spcBef>
                      </a:pPr>
                      <a:r>
                        <a:rPr sz="130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22</a:t>
                      </a:r>
                      <a:r>
                        <a:rPr sz="1300" spc="-1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600">
                        <a:latin typeface="BIZ UDGothic"/>
                        <a:cs typeface="BIZ UDGothic"/>
                      </a:endParaRPr>
                    </a:p>
                  </a:txBody>
                  <a:tcPr marL="0" marR="0" marT="3221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69"/>
                        </a:lnSpc>
                      </a:pPr>
                      <a:r>
                        <a:rPr sz="16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1510" y="1252919"/>
            <a:ext cx="3856539" cy="652143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4000" b="1" dirty="0">
                <a:solidFill>
                  <a:srgbClr val="002060"/>
                </a:solidFill>
                <a:latin typeface="Palatino Linotype"/>
                <a:cs typeface="Palatino Linotype"/>
              </a:rPr>
              <a:t>Exercício</a:t>
            </a:r>
            <a:r>
              <a:rPr sz="4000" b="1" spc="454" dirty="0">
                <a:solidFill>
                  <a:srgbClr val="002060"/>
                </a:solidFill>
                <a:latin typeface="Palatino Linotype"/>
                <a:cs typeface="Palatino Linotype"/>
              </a:rPr>
              <a:t> </a:t>
            </a:r>
            <a:r>
              <a:rPr sz="4000" b="1" spc="-106" dirty="0">
                <a:solidFill>
                  <a:srgbClr val="002060"/>
                </a:solidFill>
                <a:latin typeface="Palatino Linotype"/>
                <a:cs typeface="Palatino Linotype"/>
              </a:rPr>
              <a:t>3</a:t>
            </a:r>
            <a:endParaRPr sz="4000" dirty="0">
              <a:solidFill>
                <a:srgbClr val="002060"/>
              </a:solidFill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0468" y="2557697"/>
            <a:ext cx="10009191" cy="1183182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201" dirty="0">
                <a:latin typeface="Calibri"/>
                <a:cs typeface="Calibri"/>
              </a:rPr>
              <a:t>Construir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ler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dois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números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85" dirty="0">
                <a:latin typeface="Calibri"/>
                <a:cs typeface="Calibri"/>
              </a:rPr>
              <a:t>inteiros:</a:t>
            </a:r>
            <a:endParaRPr sz="2959" dirty="0">
              <a:latin typeface="Calibri"/>
              <a:cs typeface="Calibri"/>
            </a:endParaRPr>
          </a:p>
          <a:p>
            <a:pPr marL="330150">
              <a:spcBef>
                <a:spcPts val="1057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613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imprimir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seu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produto.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982" y="0"/>
            <a:ext cx="0" cy="721688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80524">
              <a:spcBef>
                <a:spcPts val="254"/>
              </a:spcBef>
            </a:pPr>
            <a:endParaRPr lang="pt-BR" spc="-53" dirty="0"/>
          </a:p>
          <a:p>
            <a:pPr marL="80524">
              <a:spcBef>
                <a:spcPts val="254"/>
              </a:spcBef>
            </a:pPr>
            <a:endParaRPr spc="-53" dirty="0"/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775" y="1034321"/>
            <a:ext cx="4439095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106" dirty="0"/>
              <a:t>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55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280468" y="2586577"/>
            <a:ext cx="9574359" cy="1183182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que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leia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quatro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59" dirty="0">
                <a:latin typeface="Calibri"/>
                <a:cs typeface="Calibri"/>
              </a:rPr>
              <a:t>números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85" dirty="0">
                <a:latin typeface="Calibri"/>
                <a:cs typeface="Calibri"/>
              </a:rPr>
              <a:t>inteiros.</a:t>
            </a:r>
            <a:endParaRPr sz="2959">
              <a:latin typeface="Calibri"/>
              <a:cs typeface="Calibri"/>
            </a:endParaRPr>
          </a:p>
          <a:p>
            <a:pPr marL="330150">
              <a:spcBef>
                <a:spcPts val="1057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602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calcule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mostre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soma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41" dirty="0">
                <a:latin typeface="Arial"/>
                <a:cs typeface="Arial"/>
              </a:rPr>
              <a:t>desses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números.</a:t>
            </a:r>
            <a:endParaRPr sz="253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250" y="1048947"/>
            <a:ext cx="6429820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106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669" y="2767552"/>
            <a:ext cx="9309970" cy="1183182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48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48" dirty="0">
                <a:latin typeface="Calibri"/>
                <a:cs typeface="Calibri"/>
              </a:rPr>
              <a:t> que </a:t>
            </a:r>
            <a:r>
              <a:rPr sz="2959" b="1" spc="127" dirty="0">
                <a:latin typeface="Calibri"/>
                <a:cs typeface="Calibri"/>
              </a:rPr>
              <a:t>leia</a:t>
            </a:r>
            <a:r>
              <a:rPr sz="2959" b="1" spc="148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três</a:t>
            </a:r>
            <a:r>
              <a:rPr sz="2959" b="1" spc="148" dirty="0">
                <a:latin typeface="Calibri"/>
                <a:cs typeface="Calibri"/>
              </a:rPr>
              <a:t> </a:t>
            </a:r>
            <a:r>
              <a:rPr sz="2959" b="1" spc="106" dirty="0">
                <a:latin typeface="Calibri"/>
                <a:cs typeface="Calibri"/>
              </a:rPr>
              <a:t>notas</a:t>
            </a:r>
            <a:r>
              <a:rPr sz="2959" b="1" spc="148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de</a:t>
            </a:r>
            <a:r>
              <a:rPr sz="2959" b="1" spc="137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48" dirty="0">
                <a:latin typeface="Calibri"/>
                <a:cs typeface="Calibri"/>
              </a:rPr>
              <a:t> </a:t>
            </a:r>
            <a:r>
              <a:rPr sz="2959" b="1" spc="106" dirty="0">
                <a:latin typeface="Calibri"/>
                <a:cs typeface="Calibri"/>
              </a:rPr>
              <a:t>aluno:</a:t>
            </a:r>
            <a:endParaRPr sz="2959" dirty="0">
              <a:latin typeface="Calibri"/>
              <a:cs typeface="Calibri"/>
            </a:endParaRPr>
          </a:p>
          <a:p>
            <a:pPr marL="330150">
              <a:spcBef>
                <a:spcPts val="1057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623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calcule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mostre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média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aritmética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do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aluno.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3044944" y="2325778"/>
            <a:ext cx="5369640" cy="1199289"/>
          </a:xfrm>
          <a:prstGeom prst="rect">
            <a:avLst/>
          </a:prstGeom>
        </p:spPr>
        <p:txBody>
          <a:bodyPr vert="horz" wrap="square" lIns="0" tIns="527353" rIns="0" bIns="0" rtlCol="0" anchor="t">
            <a:spAutoFit/>
          </a:bodyPr>
          <a:lstStyle/>
          <a:p>
            <a:pPr marL="1556804">
              <a:lnSpc>
                <a:spcPct val="100000"/>
              </a:lnSpc>
              <a:spcBef>
                <a:spcPts val="241"/>
              </a:spcBef>
            </a:pPr>
            <a:r>
              <a:rPr sz="4400" b="0" spc="-222" dirty="0">
                <a:solidFill>
                  <a:srgbClr val="002060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Exercícios</a:t>
            </a:r>
            <a:endParaRPr sz="44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773006" y="9240641"/>
            <a:ext cx="10602269" cy="465511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41604" marR="10737" indent="-16105">
              <a:lnSpc>
                <a:spcPct val="100800"/>
              </a:lnSpc>
              <a:spcBef>
                <a:spcPts val="232"/>
              </a:spcBef>
            </a:pP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Tipos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dados,</a:t>
            </a:r>
            <a:r>
              <a:rPr sz="2959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21" dirty="0">
                <a:solidFill>
                  <a:srgbClr val="FFFFFF"/>
                </a:solidFill>
                <a:latin typeface="PMingLiU"/>
                <a:cs typeface="PMingLiU"/>
              </a:rPr>
              <a:t>operadores</a:t>
            </a:r>
            <a:r>
              <a:rPr sz="2959" spc="127" dirty="0">
                <a:solidFill>
                  <a:srgbClr val="FFFFFF"/>
                </a:solidFill>
                <a:latin typeface="PMingLiU"/>
                <a:cs typeface="PMingLiU"/>
              </a:rPr>
              <a:t> e</a:t>
            </a:r>
            <a:r>
              <a:rPr sz="2959" spc="137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782" dirty="0">
                <a:solidFill>
                  <a:srgbClr val="FFFFFF"/>
                </a:solidFill>
                <a:latin typeface="PMingLiU"/>
                <a:cs typeface="PMingLiU"/>
              </a:rPr>
              <a:t>co�</a:t>
            </a:r>
            <a:r>
              <a:rPr sz="2959" spc="-63" dirty="0">
                <a:solidFill>
                  <a:srgbClr val="FFFFFF"/>
                </a:solidFill>
                <a:latin typeface="PMingLiU"/>
                <a:cs typeface="PMingLiU"/>
              </a:rPr>
              <a:t> mandos</a:t>
            </a:r>
            <a:r>
              <a:rPr sz="2959" spc="15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2959" spc="169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2959" spc="-21" dirty="0">
                <a:solidFill>
                  <a:srgbClr val="FFFFFF"/>
                </a:solidFill>
                <a:latin typeface="PMingLiU"/>
                <a:cs typeface="PMingLiU"/>
              </a:rPr>
              <a:t>saida�entrada</a:t>
            </a:r>
            <a:endParaRPr sz="2959">
              <a:latin typeface="PMingLiU"/>
              <a:cs typeface="PMingLiU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036" y="1007424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106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286" y="2185271"/>
            <a:ext cx="10374235" cy="3064765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350281" marR="10737" indent="-324782">
              <a:lnSpc>
                <a:spcPct val="100800"/>
              </a:lnSpc>
              <a:spcBef>
                <a:spcPts val="254"/>
              </a:spcBef>
              <a:buClr>
                <a:srgbClr val="00AC8C"/>
              </a:buClr>
              <a:buFont typeface="Arial"/>
              <a:buChar char="•"/>
              <a:tabLst>
                <a:tab pos="354307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que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calcule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01" dirty="0">
                <a:latin typeface="Calibri"/>
                <a:cs typeface="Calibri"/>
              </a:rPr>
              <a:t>imprima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o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valor</a:t>
            </a:r>
            <a:r>
              <a:rPr sz="2959" b="1" spc="116" dirty="0">
                <a:latin typeface="Calibri"/>
                <a:cs typeface="Calibri"/>
              </a:rPr>
              <a:t> de </a:t>
            </a:r>
            <a:r>
              <a:rPr sz="2959" b="1" spc="95" dirty="0">
                <a:latin typeface="Calibri"/>
                <a:cs typeface="Calibri"/>
              </a:rPr>
              <a:t>cada 	</a:t>
            </a:r>
            <a:r>
              <a:rPr sz="2959" b="1" spc="116" dirty="0">
                <a:latin typeface="Calibri"/>
                <a:cs typeface="Calibri"/>
              </a:rPr>
              <a:t>expressão</a:t>
            </a:r>
            <a:r>
              <a:rPr sz="2959" b="1" spc="159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a</a:t>
            </a:r>
            <a:r>
              <a:rPr sz="2959" b="1" spc="159" dirty="0">
                <a:latin typeface="Calibri"/>
                <a:cs typeface="Calibri"/>
              </a:rPr>
              <a:t> </a:t>
            </a:r>
            <a:r>
              <a:rPr sz="2959" b="1" spc="116" dirty="0">
                <a:latin typeface="Calibri"/>
                <a:cs typeface="Calibri"/>
              </a:rPr>
              <a:t>seguir:</a:t>
            </a:r>
            <a:endParaRPr sz="2959" dirty="0">
              <a:latin typeface="Calibri"/>
              <a:cs typeface="Calibri"/>
            </a:endParaRPr>
          </a:p>
          <a:p>
            <a:pPr marL="330150">
              <a:spcBef>
                <a:spcPts val="1046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5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(20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-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15)/2</a:t>
            </a:r>
            <a:endParaRPr sz="2536" dirty="0">
              <a:latin typeface="Arial"/>
              <a:cs typeface="Arial"/>
            </a:endParaRPr>
          </a:p>
          <a:p>
            <a:pPr marL="330150">
              <a:spcBef>
                <a:spcPts val="1141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602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254" dirty="0">
                <a:latin typeface="Arial"/>
                <a:cs typeface="Arial"/>
              </a:rPr>
              <a:t>2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296" dirty="0">
                <a:latin typeface="Verdana"/>
                <a:cs typeface="Verdana"/>
              </a:rPr>
              <a:t>ˆ</a:t>
            </a:r>
            <a:r>
              <a:rPr sz="2536" spc="-241" dirty="0">
                <a:latin typeface="Verdana"/>
                <a:cs typeface="Verdana"/>
              </a:rPr>
              <a:t> </a:t>
            </a:r>
            <a:r>
              <a:rPr sz="2536" spc="-148" dirty="0">
                <a:latin typeface="Arial"/>
                <a:cs typeface="Arial"/>
              </a:rPr>
              <a:t>(5/20)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+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54" dirty="0">
                <a:latin typeface="Arial"/>
                <a:cs typeface="Arial"/>
              </a:rPr>
              <a:t>30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/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(15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296" dirty="0">
                <a:latin typeface="Verdana"/>
                <a:cs typeface="Verdana"/>
              </a:rPr>
              <a:t>ˆ</a:t>
            </a:r>
            <a:r>
              <a:rPr sz="2536" spc="-241" dirty="0">
                <a:latin typeface="Verdana"/>
                <a:cs typeface="Verdana"/>
              </a:rPr>
              <a:t> </a:t>
            </a:r>
            <a:r>
              <a:rPr sz="2536" spc="-53" dirty="0">
                <a:latin typeface="Arial"/>
                <a:cs typeface="Arial"/>
              </a:rPr>
              <a:t>2)</a:t>
            </a:r>
            <a:endParaRPr sz="2536" dirty="0">
              <a:latin typeface="Arial"/>
              <a:cs typeface="Arial"/>
            </a:endParaRPr>
          </a:p>
          <a:p>
            <a:pPr marL="330150">
              <a:spcBef>
                <a:spcPts val="1131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92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254" dirty="0">
                <a:latin typeface="Arial"/>
                <a:cs typeface="Arial"/>
              </a:rPr>
              <a:t>35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/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(6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+</a:t>
            </a:r>
            <a:r>
              <a:rPr sz="2536" spc="-53" dirty="0">
                <a:latin typeface="Arial"/>
                <a:cs typeface="Arial"/>
              </a:rPr>
              <a:t> 2)</a:t>
            </a:r>
            <a:endParaRPr sz="2536" dirty="0">
              <a:latin typeface="Arial"/>
              <a:cs typeface="Arial"/>
            </a:endParaRPr>
          </a:p>
          <a:p>
            <a:pPr marL="330150">
              <a:spcBef>
                <a:spcPts val="1141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5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254" dirty="0">
                <a:latin typeface="Arial"/>
                <a:cs typeface="Arial"/>
              </a:rPr>
              <a:t>23</a:t>
            </a:r>
            <a:r>
              <a:rPr sz="2536" spc="-74" dirty="0">
                <a:latin typeface="Arial"/>
                <a:cs typeface="Arial"/>
              </a:rPr>
              <a:t> módulo </a:t>
            </a:r>
            <a:r>
              <a:rPr sz="2536" spc="-106" dirty="0">
                <a:latin typeface="Arial"/>
                <a:cs typeface="Arial"/>
              </a:rPr>
              <a:t>4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1638" y="-47461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106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5025" y="2363755"/>
            <a:ext cx="5299680" cy="1093642"/>
          </a:xfrm>
          <a:prstGeom prst="rect">
            <a:avLst/>
          </a:prstGeom>
        </p:spPr>
        <p:txBody>
          <a:bodyPr vert="horz" wrap="square" lIns="0" tIns="170443" rIns="0" bIns="0" rtlCol="0">
            <a:spAutoFit/>
          </a:bodyPr>
          <a:lstStyle/>
          <a:p>
            <a:pPr marL="26841">
              <a:spcBef>
                <a:spcPts val="1342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81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((120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dirty="0">
                <a:latin typeface="Arial"/>
                <a:cs typeface="Arial"/>
              </a:rPr>
              <a:t>-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30)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=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(3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296" dirty="0">
                <a:latin typeface="Verdana"/>
                <a:cs typeface="Verdana"/>
              </a:rPr>
              <a:t>ˆ</a:t>
            </a:r>
            <a:r>
              <a:rPr sz="2536" spc="-254" dirty="0">
                <a:latin typeface="Verdana"/>
                <a:cs typeface="Verdana"/>
              </a:rPr>
              <a:t> </a:t>
            </a:r>
            <a:r>
              <a:rPr sz="2536" spc="-42" dirty="0">
                <a:latin typeface="Arial"/>
                <a:cs typeface="Arial"/>
              </a:rPr>
              <a:t>30))</a:t>
            </a:r>
            <a:endParaRPr sz="2536" dirty="0">
              <a:latin typeface="Arial"/>
              <a:cs typeface="Arial"/>
            </a:endParaRPr>
          </a:p>
          <a:p>
            <a:pPr marL="26841">
              <a:spcBef>
                <a:spcPts val="1141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602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(não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((20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módulo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4)=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1)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ou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(9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!=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9))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3109" y="3457397"/>
            <a:ext cx="100656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0" y="0"/>
                </a:moveTo>
                <a:lnTo>
                  <a:pt x="47066" y="0"/>
                </a:lnTo>
              </a:path>
            </a:pathLst>
          </a:custGeom>
          <a:ln w="6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5" name="object 5"/>
          <p:cNvSpPr txBox="1"/>
          <p:nvPr/>
        </p:nvSpPr>
        <p:spPr>
          <a:xfrm>
            <a:off x="2456268" y="3407497"/>
            <a:ext cx="154339" cy="285947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691" spc="-106" dirty="0">
                <a:latin typeface="Candara"/>
                <a:cs typeface="Candara"/>
              </a:rPr>
              <a:t>2</a:t>
            </a:r>
            <a:endParaRPr sz="1691">
              <a:latin typeface="Candara"/>
              <a:cs typeface="Candar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1141" y="3808878"/>
            <a:ext cx="2823724" cy="41598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80524">
              <a:spcBef>
                <a:spcPts val="201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306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((5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módulo</a:t>
            </a:r>
            <a:r>
              <a:rPr sz="2536" spc="95" dirty="0">
                <a:latin typeface="Arial"/>
                <a:cs typeface="Arial"/>
              </a:rPr>
              <a:t> </a:t>
            </a:r>
            <a:r>
              <a:rPr sz="2536" spc="-32" baseline="31250" dirty="0">
                <a:latin typeface="Candara"/>
                <a:cs typeface="Candara"/>
              </a:rPr>
              <a:t>2</a:t>
            </a:r>
            <a:r>
              <a:rPr sz="2536" spc="-173" baseline="31250" dirty="0">
                <a:latin typeface="Candara"/>
                <a:cs typeface="Candara"/>
              </a:rPr>
              <a:t> </a:t>
            </a:r>
            <a:r>
              <a:rPr sz="2536" dirty="0">
                <a:latin typeface="Arial"/>
                <a:cs typeface="Arial"/>
              </a:rPr>
              <a:t>)</a:t>
            </a:r>
            <a:r>
              <a:rPr sz="2536" spc="-127" dirty="0">
                <a:latin typeface="Arial"/>
                <a:cs typeface="Arial"/>
              </a:rPr>
              <a:t> </a:t>
            </a:r>
            <a:r>
              <a:rPr sz="2536" spc="-264" dirty="0">
                <a:latin typeface="Arial"/>
                <a:cs typeface="Arial"/>
              </a:rPr>
              <a:t>&gt;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3)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1141" y="4386651"/>
            <a:ext cx="6743924" cy="2220659"/>
          </a:xfrm>
          <a:prstGeom prst="rect">
            <a:avLst/>
          </a:prstGeom>
        </p:spPr>
        <p:txBody>
          <a:bodyPr vert="horz" wrap="square" lIns="0" tIns="157023" rIns="0" bIns="0" rtlCol="0">
            <a:spAutoFit/>
          </a:bodyPr>
          <a:lstStyle/>
          <a:p>
            <a:pPr marL="330150">
              <a:spcBef>
                <a:spcPts val="1236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37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(a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=</a:t>
            </a:r>
            <a:r>
              <a:rPr sz="2536" spc="-74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A)</a:t>
            </a:r>
            <a:endParaRPr sz="2536" dirty="0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Dica:</a:t>
            </a:r>
            <a:r>
              <a:rPr sz="2959" b="1" spc="241" dirty="0">
                <a:latin typeface="Calibri"/>
                <a:cs typeface="Calibri"/>
              </a:rPr>
              <a:t> </a:t>
            </a:r>
            <a:r>
              <a:rPr sz="2959" spc="-232" dirty="0">
                <a:latin typeface="Arial"/>
                <a:cs typeface="Arial"/>
              </a:rPr>
              <a:t>Faça</a:t>
            </a:r>
            <a:r>
              <a:rPr sz="2959" spc="-53" dirty="0">
                <a:latin typeface="Arial"/>
                <a:cs typeface="Arial"/>
              </a:rPr>
              <a:t> uma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dirty="0">
                <a:latin typeface="Arial"/>
                <a:cs typeface="Arial"/>
              </a:rPr>
              <a:t>linha</a:t>
            </a:r>
            <a:r>
              <a:rPr sz="2959" spc="-42" dirty="0">
                <a:latin typeface="Arial"/>
                <a:cs typeface="Arial"/>
              </a:rPr>
              <a:t> </a:t>
            </a:r>
            <a:r>
              <a:rPr sz="2959" spc="-180" dirty="0">
                <a:latin typeface="Arial"/>
                <a:cs typeface="Arial"/>
              </a:rPr>
              <a:t>de</a:t>
            </a:r>
            <a:r>
              <a:rPr sz="2959" spc="-53" dirty="0">
                <a:latin typeface="Arial"/>
                <a:cs typeface="Arial"/>
              </a:rPr>
              <a:t> </a:t>
            </a:r>
            <a:r>
              <a:rPr sz="2959" spc="-159" dirty="0">
                <a:latin typeface="Arial"/>
                <a:cs typeface="Arial"/>
              </a:rPr>
              <a:t>cada</a:t>
            </a:r>
            <a:r>
              <a:rPr sz="2959" spc="-42" dirty="0">
                <a:latin typeface="Arial"/>
                <a:cs typeface="Arial"/>
              </a:rPr>
              <a:t> vez.</a:t>
            </a:r>
            <a:endParaRPr sz="2959" dirty="0">
              <a:latin typeface="Arial"/>
              <a:cs typeface="Arial"/>
            </a:endParaRPr>
          </a:p>
          <a:p>
            <a:pPr marL="662984" lvl="1" indent="-332834">
              <a:spcBef>
                <a:spcPts val="1046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faça,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teste,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avance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para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pŕoxima;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37" dirty="0">
                <a:latin typeface="Arial"/>
                <a:cs typeface="Arial"/>
              </a:rPr>
              <a:t>não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tente </a:t>
            </a:r>
            <a:r>
              <a:rPr sz="2536" spc="-127" dirty="0">
                <a:latin typeface="Arial"/>
                <a:cs typeface="Arial"/>
              </a:rPr>
              <a:t>fazer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todo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código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uma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única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vez.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64451" y="1937565"/>
            <a:ext cx="3281372" cy="777061"/>
          </a:xfrm>
          <a:custGeom>
            <a:avLst/>
            <a:gdLst/>
            <a:ahLst/>
            <a:cxnLst/>
            <a:rect l="l" t="t" r="r" b="b"/>
            <a:pathLst>
              <a:path w="1552575" h="367665">
                <a:moveTo>
                  <a:pt x="550192" y="95611"/>
                </a:moveTo>
                <a:lnTo>
                  <a:pt x="21203" y="11670"/>
                </a:lnTo>
                <a:lnTo>
                  <a:pt x="5541" y="9775"/>
                </a:lnTo>
                <a:lnTo>
                  <a:pt x="0" y="10505"/>
                </a:lnTo>
                <a:lnTo>
                  <a:pt x="4634" y="13626"/>
                </a:lnTo>
                <a:lnTo>
                  <a:pt x="19500" y="18906"/>
                </a:lnTo>
                <a:lnTo>
                  <a:pt x="550192" y="185612"/>
                </a:lnTo>
                <a:lnTo>
                  <a:pt x="550192" y="316873"/>
                </a:lnTo>
                <a:lnTo>
                  <a:pt x="554169" y="336574"/>
                </a:lnTo>
                <a:lnTo>
                  <a:pt x="565015" y="352661"/>
                </a:lnTo>
                <a:lnTo>
                  <a:pt x="581103" y="363507"/>
                </a:lnTo>
                <a:lnTo>
                  <a:pt x="600803" y="367484"/>
                </a:lnTo>
                <a:lnTo>
                  <a:pt x="1501661" y="367484"/>
                </a:lnTo>
                <a:lnTo>
                  <a:pt x="1521362" y="363507"/>
                </a:lnTo>
                <a:lnTo>
                  <a:pt x="1537449" y="352661"/>
                </a:lnTo>
                <a:lnTo>
                  <a:pt x="1548295" y="336574"/>
                </a:lnTo>
                <a:lnTo>
                  <a:pt x="1552272" y="316873"/>
                </a:lnTo>
                <a:lnTo>
                  <a:pt x="1552272" y="50610"/>
                </a:lnTo>
                <a:lnTo>
                  <a:pt x="1548295" y="30910"/>
                </a:lnTo>
                <a:lnTo>
                  <a:pt x="1537449" y="14823"/>
                </a:lnTo>
                <a:lnTo>
                  <a:pt x="1521362" y="3977"/>
                </a:lnTo>
                <a:lnTo>
                  <a:pt x="1501661" y="0"/>
                </a:lnTo>
                <a:lnTo>
                  <a:pt x="600803" y="0"/>
                </a:lnTo>
                <a:lnTo>
                  <a:pt x="581103" y="3977"/>
                </a:lnTo>
                <a:lnTo>
                  <a:pt x="565015" y="14823"/>
                </a:lnTo>
                <a:lnTo>
                  <a:pt x="554169" y="30910"/>
                </a:lnTo>
                <a:lnTo>
                  <a:pt x="550192" y="50610"/>
                </a:lnTo>
                <a:lnTo>
                  <a:pt x="550192" y="9561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  <p:sp>
        <p:nvSpPr>
          <p:cNvPr id="9" name="object 9"/>
          <p:cNvSpPr txBox="1"/>
          <p:nvPr/>
        </p:nvSpPr>
        <p:spPr>
          <a:xfrm>
            <a:off x="280469" y="1079022"/>
            <a:ext cx="10829198" cy="1234520"/>
          </a:xfrm>
          <a:prstGeom prst="rect">
            <a:avLst/>
          </a:prstGeom>
        </p:spPr>
        <p:txBody>
          <a:bodyPr vert="horz" wrap="square" lIns="0" tIns="32210" rIns="0" bIns="0" rtlCol="0">
            <a:spAutoFit/>
          </a:bodyPr>
          <a:lstStyle/>
          <a:p>
            <a:pPr marL="350281" marR="10737" indent="-324782">
              <a:lnSpc>
                <a:spcPct val="100800"/>
              </a:lnSpc>
              <a:spcBef>
                <a:spcPts val="254"/>
              </a:spcBef>
              <a:buClr>
                <a:srgbClr val="00AC8C"/>
              </a:buClr>
              <a:buFont typeface="Arial"/>
              <a:buChar char="•"/>
              <a:tabLst>
                <a:tab pos="354307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22" dirty="0">
                <a:latin typeface="Calibri"/>
                <a:cs typeface="Calibri"/>
              </a:rPr>
              <a:t>imprimir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em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cada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90" dirty="0">
                <a:latin typeface="Calibri"/>
                <a:cs typeface="Calibri"/>
              </a:rPr>
              <a:t>linha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95" dirty="0">
                <a:latin typeface="Calibri"/>
                <a:cs typeface="Calibri"/>
              </a:rPr>
              <a:t>resultado 	</a:t>
            </a:r>
            <a:r>
              <a:rPr sz="2959" b="1" spc="180" dirty="0">
                <a:latin typeface="Calibri"/>
                <a:cs typeface="Calibri"/>
              </a:rPr>
              <a:t>lógico</a:t>
            </a:r>
            <a:r>
              <a:rPr sz="2959" b="1" spc="74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das</a:t>
            </a:r>
            <a:r>
              <a:rPr sz="2959" b="1" spc="95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seguintes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74" dirty="0">
                <a:latin typeface="Calibri"/>
                <a:cs typeface="Calibri"/>
              </a:rPr>
              <a:t>expressões:</a:t>
            </a:r>
            <a:endParaRPr sz="2959" dirty="0">
              <a:latin typeface="Calibri"/>
              <a:cs typeface="Calibri"/>
            </a:endParaRPr>
          </a:p>
          <a:p>
            <a:pPr marR="1674906" algn="r">
              <a:lnSpc>
                <a:spcPts val="2219"/>
              </a:lnSpc>
            </a:pPr>
            <a:r>
              <a:rPr sz="2114" dirty="0">
                <a:latin typeface="Arial"/>
                <a:cs typeface="Arial"/>
              </a:rPr>
              <a:t>O</a:t>
            </a:r>
            <a:r>
              <a:rPr sz="2114" spc="-106" dirty="0">
                <a:latin typeface="Arial"/>
                <a:cs typeface="Arial"/>
              </a:rPr>
              <a:t> </a:t>
            </a:r>
            <a:r>
              <a:rPr sz="2114" spc="-74" dirty="0">
                <a:latin typeface="Arial"/>
                <a:cs typeface="Arial"/>
              </a:rPr>
              <a:t>resultado </a:t>
            </a:r>
            <a:r>
              <a:rPr sz="2114" spc="-42" dirty="0">
                <a:latin typeface="Arial"/>
                <a:cs typeface="Arial"/>
              </a:rPr>
              <a:t>deve</a:t>
            </a:r>
            <a:endParaRPr sz="2114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76050" y="2275927"/>
            <a:ext cx="1621226" cy="351093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2114" spc="-148" dirty="0">
                <a:latin typeface="Arial"/>
                <a:cs typeface="Arial"/>
              </a:rPr>
              <a:t>ser</a:t>
            </a:r>
            <a:r>
              <a:rPr sz="2114" spc="-53" dirty="0">
                <a:latin typeface="Arial"/>
                <a:cs typeface="Arial"/>
              </a:rPr>
              <a:t> </a:t>
            </a:r>
            <a:r>
              <a:rPr sz="2114" dirty="0">
                <a:latin typeface="Arial"/>
                <a:cs typeface="Arial"/>
              </a:rPr>
              <a:t>true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dirty="0">
                <a:latin typeface="Arial"/>
                <a:cs typeface="Arial"/>
              </a:rPr>
              <a:t>/</a:t>
            </a:r>
            <a:r>
              <a:rPr sz="2114" spc="-42" dirty="0">
                <a:latin typeface="Arial"/>
                <a:cs typeface="Arial"/>
              </a:rPr>
              <a:t> </a:t>
            </a:r>
            <a:r>
              <a:rPr sz="2114" spc="-74" dirty="0">
                <a:latin typeface="Arial"/>
                <a:cs typeface="Arial"/>
              </a:rPr>
              <a:t>false</a:t>
            </a:r>
            <a:endParaRPr sz="2114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" y="1000645"/>
            <a:ext cx="19922350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106" dirty="0"/>
              <a:t>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60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280468" y="2557051"/>
            <a:ext cx="7828318" cy="1183182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85" dirty="0">
                <a:latin typeface="Calibri"/>
                <a:cs typeface="Calibri"/>
              </a:rPr>
              <a:t>apresentar:</a:t>
            </a:r>
            <a:endParaRPr sz="2959">
              <a:latin typeface="Calibri"/>
              <a:cs typeface="Calibri"/>
            </a:endParaRPr>
          </a:p>
          <a:p>
            <a:pPr marL="330150">
              <a:spcBef>
                <a:spcPts val="1057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602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cálculo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da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média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das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seguintes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notas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8.0,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01" dirty="0">
                <a:latin typeface="Arial"/>
                <a:cs typeface="Arial"/>
              </a:rPr>
              <a:t>7.5,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4.5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53" dirty="0">
                <a:latin typeface="Arial"/>
                <a:cs typeface="Arial"/>
              </a:rPr>
              <a:t> 9.</a:t>
            </a:r>
            <a:endParaRPr sz="253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469" y="975596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106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405" y="2095419"/>
            <a:ext cx="8181285" cy="1573417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85" dirty="0">
                <a:latin typeface="Calibri"/>
                <a:cs typeface="Calibri"/>
              </a:rPr>
              <a:t>apresentar:</a:t>
            </a:r>
            <a:endParaRPr sz="2959" dirty="0">
              <a:latin typeface="Calibri"/>
              <a:cs typeface="Calibri"/>
            </a:endParaRPr>
          </a:p>
          <a:p>
            <a:pPr marL="330150">
              <a:spcBef>
                <a:spcPts val="1057"/>
              </a:spcBef>
            </a:pPr>
            <a:r>
              <a:rPr sz="2536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2536" spc="592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cálculo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da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área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quadrado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54" dirty="0">
                <a:latin typeface="Arial"/>
                <a:cs typeface="Arial"/>
              </a:rPr>
              <a:t>350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metros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53" dirty="0">
                <a:latin typeface="Arial"/>
                <a:cs typeface="Arial"/>
              </a:rPr>
              <a:t> lado.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849" y="943338"/>
            <a:ext cx="10199549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53" dirty="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571" y="3146696"/>
            <a:ext cx="9057660" cy="1714481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405306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405306" algn="l"/>
              </a:tabLst>
            </a:pPr>
            <a:r>
              <a:rPr sz="2959" b="1" spc="201" dirty="0">
                <a:latin typeface="Calibri"/>
                <a:cs typeface="Calibri"/>
              </a:rPr>
              <a:t>Construir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para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imprimir:</a:t>
            </a:r>
            <a:endParaRPr sz="2959" dirty="0">
              <a:latin typeface="Calibri"/>
              <a:cs typeface="Calibri"/>
            </a:endParaRPr>
          </a:p>
          <a:p>
            <a:pPr marL="716667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716667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95" dirty="0">
                <a:latin typeface="Arial"/>
                <a:cs typeface="Arial"/>
              </a:rPr>
              <a:t>cálculo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da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69" dirty="0">
                <a:latin typeface="Arial"/>
                <a:cs typeface="Arial"/>
              </a:rPr>
              <a:t>área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um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círculo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59" dirty="0">
                <a:latin typeface="Arial"/>
                <a:cs typeface="Arial"/>
              </a:rPr>
              <a:t>com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42" dirty="0">
                <a:latin typeface="Arial"/>
                <a:cs typeface="Arial"/>
              </a:rPr>
              <a:t>raio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254" dirty="0">
                <a:latin typeface="Arial"/>
                <a:cs typeface="Arial"/>
              </a:rPr>
              <a:t>5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cm.</a:t>
            </a:r>
            <a:r>
              <a:rPr sz="2536" spc="42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(</a:t>
            </a:r>
            <a:r>
              <a:rPr sz="2536" i="1" spc="-222" dirty="0">
                <a:latin typeface="Arial"/>
                <a:cs typeface="Arial"/>
              </a:rPr>
              <a:t>π</a:t>
            </a:r>
            <a:r>
              <a:rPr sz="2536" i="1" spc="21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=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3.14159)</a:t>
            </a:r>
            <a:endParaRPr sz="2536" dirty="0">
              <a:latin typeface="Arial"/>
              <a:cs typeface="Arial"/>
            </a:endParaRPr>
          </a:p>
          <a:p>
            <a:pPr marL="716667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716667" algn="l"/>
              </a:tabLst>
            </a:pPr>
            <a:r>
              <a:rPr sz="2536" spc="-169" dirty="0">
                <a:latin typeface="Arial"/>
                <a:cs typeface="Arial"/>
              </a:rPr>
              <a:t>área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do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74" dirty="0">
                <a:latin typeface="Arial"/>
                <a:cs typeface="Arial"/>
              </a:rPr>
              <a:t>círculo</a:t>
            </a:r>
            <a:r>
              <a:rPr sz="2536" spc="-63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=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i="1" spc="-317" dirty="0">
                <a:latin typeface="Arial"/>
                <a:cs typeface="Arial"/>
              </a:rPr>
              <a:t>π</a:t>
            </a:r>
            <a:r>
              <a:rPr sz="2536" i="1" spc="-32" dirty="0">
                <a:latin typeface="Arial"/>
                <a:cs typeface="Arial"/>
              </a:rPr>
              <a:t> </a:t>
            </a:r>
            <a:r>
              <a:rPr sz="2536" spc="296" dirty="0">
                <a:latin typeface="Verdana"/>
                <a:cs typeface="Verdana"/>
              </a:rPr>
              <a:t>ˆ</a:t>
            </a:r>
            <a:r>
              <a:rPr sz="2536" spc="-328" dirty="0">
                <a:latin typeface="Verdana"/>
                <a:cs typeface="Verdana"/>
              </a:rPr>
              <a:t> </a:t>
            </a:r>
            <a:r>
              <a:rPr sz="2536" i="1" spc="-53" dirty="0">
                <a:latin typeface="Kepler Std Scn Capt"/>
                <a:cs typeface="Kepler Std Scn Capt"/>
              </a:rPr>
              <a:t>r</a:t>
            </a:r>
            <a:r>
              <a:rPr sz="2536" spc="-78" baseline="31250" dirty="0">
                <a:latin typeface="Candara"/>
                <a:cs typeface="Candara"/>
              </a:rPr>
              <a:t>2</a:t>
            </a:r>
            <a:endParaRPr sz="2536" baseline="31250" dirty="0">
              <a:latin typeface="Candara"/>
              <a:cs typeface="Candar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036" y="925908"/>
            <a:ext cx="23613807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53" dirty="0"/>
              <a:t>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567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235">
              <a:spcBef>
                <a:spcPts val="120"/>
              </a:spcBef>
            </a:pPr>
            <a:fld id="{81D60167-4931-47E6-BA6A-407CBD079E47}" type="slidenum">
              <a:rPr lang="pt-BR" spc="-50" smtClean="0"/>
              <a:pPr marL="102235">
                <a:spcBef>
                  <a:spcPts val="120"/>
                </a:spcBef>
              </a:pPr>
              <a:t>63</a:t>
            </a:fld>
            <a:endParaRPr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280470" y="1890385"/>
            <a:ext cx="7299542" cy="2855050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201" dirty="0">
                <a:latin typeface="Calibri"/>
                <a:cs typeface="Calibri"/>
              </a:rPr>
              <a:t>Construir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que</a:t>
            </a:r>
            <a:r>
              <a:rPr sz="2959" b="1" spc="106" dirty="0">
                <a:latin typeface="Calibri"/>
                <a:cs typeface="Calibri"/>
              </a:rPr>
              <a:t> </a:t>
            </a:r>
            <a:r>
              <a:rPr sz="2959" b="1" spc="-21" dirty="0">
                <a:latin typeface="Calibri"/>
                <a:cs typeface="Calibri"/>
              </a:rPr>
              <a:t>leia: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ano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06" dirty="0">
                <a:latin typeface="Arial"/>
                <a:cs typeface="Arial"/>
              </a:rPr>
              <a:t>nascimento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de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uma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pessoa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85" dirty="0">
                <a:latin typeface="Arial"/>
                <a:cs typeface="Arial"/>
              </a:rPr>
              <a:t>e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48" dirty="0">
                <a:latin typeface="Arial"/>
                <a:cs typeface="Arial"/>
              </a:rPr>
              <a:t>o</a:t>
            </a:r>
            <a:r>
              <a:rPr sz="2536" spc="-53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ano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atual.</a:t>
            </a:r>
            <a:endParaRPr sz="2536" dirty="0">
              <a:latin typeface="Arial"/>
              <a:cs typeface="Arial"/>
            </a:endParaRPr>
          </a:p>
          <a:p>
            <a:pPr marL="351623" indent="-324782">
              <a:spcBef>
                <a:spcPts val="1310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211" dirty="0">
                <a:latin typeface="Calibri"/>
                <a:cs typeface="Calibri"/>
              </a:rPr>
              <a:t>Calcule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e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-21" dirty="0">
                <a:latin typeface="Calibri"/>
                <a:cs typeface="Calibri"/>
              </a:rPr>
              <a:t>mostre: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46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idade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232" dirty="0">
                <a:latin typeface="Arial"/>
                <a:cs typeface="Arial"/>
              </a:rPr>
              <a:t>dessa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pessoa;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95" dirty="0">
                <a:latin typeface="Arial"/>
                <a:cs typeface="Arial"/>
              </a:rPr>
              <a:t>quantos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anos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64" dirty="0">
                <a:latin typeface="Arial"/>
                <a:cs typeface="Arial"/>
              </a:rPr>
              <a:t>essa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22" dirty="0">
                <a:latin typeface="Arial"/>
                <a:cs typeface="Arial"/>
              </a:rPr>
              <a:t>pessoa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terá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90" dirty="0">
                <a:latin typeface="Arial"/>
                <a:cs typeface="Arial"/>
              </a:rPr>
              <a:t>em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2030.</a:t>
            </a:r>
            <a:endParaRPr sz="2536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755" y="881429"/>
            <a:ext cx="17183545" cy="713698"/>
          </a:xfrm>
          <a:prstGeom prst="rect">
            <a:avLst/>
          </a:prstGeom>
        </p:spPr>
        <p:txBody>
          <a:bodyPr vert="horz" wrap="square" lIns="0" tIns="36236" rIns="0" bIns="0" rtlCol="0" anchor="t">
            <a:spAutoFit/>
          </a:bodyPr>
          <a:lstStyle/>
          <a:p>
            <a:pPr marL="122129">
              <a:lnSpc>
                <a:spcPct val="100000"/>
              </a:lnSpc>
              <a:spcBef>
                <a:spcPts val="285"/>
              </a:spcBef>
            </a:pPr>
            <a:r>
              <a:rPr dirty="0"/>
              <a:t>Exercício</a:t>
            </a:r>
            <a:r>
              <a:rPr spc="454" dirty="0"/>
              <a:t> </a:t>
            </a:r>
            <a:r>
              <a:rPr spc="-53" dirty="0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755" y="1621651"/>
            <a:ext cx="10916433" cy="2777080"/>
          </a:xfrm>
          <a:prstGeom prst="rect">
            <a:avLst/>
          </a:prstGeom>
        </p:spPr>
        <p:txBody>
          <a:bodyPr vert="horz" wrap="square" lIns="0" tIns="194601" rIns="0" bIns="0" rtlCol="0">
            <a:spAutoFit/>
          </a:bodyPr>
          <a:lstStyle/>
          <a:p>
            <a:pPr marL="351623" indent="-324782">
              <a:spcBef>
                <a:spcPts val="1532"/>
              </a:spcBef>
              <a:buClr>
                <a:srgbClr val="00AC8C"/>
              </a:buClr>
              <a:buFont typeface="Arial"/>
              <a:buChar char="•"/>
              <a:tabLst>
                <a:tab pos="351623" algn="l"/>
              </a:tabLst>
            </a:pPr>
            <a:r>
              <a:rPr sz="2959" b="1" spc="169" dirty="0">
                <a:latin typeface="Calibri"/>
                <a:cs typeface="Calibri"/>
              </a:rPr>
              <a:t>Faça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69" dirty="0">
                <a:latin typeface="Calibri"/>
                <a:cs typeface="Calibri"/>
              </a:rPr>
              <a:t>algoritmo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que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27" dirty="0">
                <a:latin typeface="Calibri"/>
                <a:cs typeface="Calibri"/>
              </a:rPr>
              <a:t>receba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232" dirty="0">
                <a:latin typeface="Calibri"/>
                <a:cs typeface="Calibri"/>
              </a:rPr>
              <a:t>um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137" dirty="0">
                <a:latin typeface="Calibri"/>
                <a:cs typeface="Calibri"/>
              </a:rPr>
              <a:t>número,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spc="148" dirty="0">
                <a:latin typeface="Calibri"/>
                <a:cs typeface="Calibri"/>
              </a:rPr>
              <a:t>calcule</a:t>
            </a:r>
            <a:r>
              <a:rPr sz="2959" b="1" spc="116" dirty="0">
                <a:latin typeface="Calibri"/>
                <a:cs typeface="Calibri"/>
              </a:rPr>
              <a:t> </a:t>
            </a:r>
            <a:r>
              <a:rPr sz="2959" b="1" dirty="0">
                <a:latin typeface="Calibri"/>
                <a:cs typeface="Calibri"/>
              </a:rPr>
              <a:t>e</a:t>
            </a:r>
            <a:r>
              <a:rPr sz="2959" b="1" spc="127" dirty="0">
                <a:latin typeface="Calibri"/>
                <a:cs typeface="Calibri"/>
              </a:rPr>
              <a:t> </a:t>
            </a:r>
            <a:r>
              <a:rPr sz="2959" b="1" spc="-21" dirty="0">
                <a:latin typeface="Calibri"/>
                <a:cs typeface="Calibri"/>
              </a:rPr>
              <a:t>mostre:</a:t>
            </a:r>
            <a:endParaRPr sz="2959" dirty="0">
              <a:latin typeface="Calibri"/>
              <a:cs typeface="Calibri"/>
            </a:endParaRPr>
          </a:p>
          <a:p>
            <a:pPr marL="662984" lvl="1" indent="-332834">
              <a:spcBef>
                <a:spcPts val="1057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27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número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elevado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ao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quadrado;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27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número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elevado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80" dirty="0">
                <a:latin typeface="Arial"/>
                <a:cs typeface="Arial"/>
              </a:rPr>
              <a:t>ao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cubo;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4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27" dirty="0">
                <a:latin typeface="Arial"/>
                <a:cs typeface="Arial"/>
              </a:rPr>
              <a:t>A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63" dirty="0">
                <a:latin typeface="Arial"/>
                <a:cs typeface="Arial"/>
              </a:rPr>
              <a:t>raiz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quadrada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27" dirty="0">
                <a:latin typeface="Arial"/>
                <a:cs typeface="Arial"/>
              </a:rPr>
              <a:t>do</a:t>
            </a:r>
            <a:r>
              <a:rPr sz="2536" spc="-21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número</a:t>
            </a:r>
            <a:r>
              <a:rPr sz="2536" spc="-11" dirty="0">
                <a:latin typeface="Arial"/>
                <a:cs typeface="Arial"/>
              </a:rPr>
              <a:t> </a:t>
            </a:r>
            <a:r>
              <a:rPr sz="2536" spc="-21" dirty="0">
                <a:latin typeface="Arial"/>
                <a:cs typeface="Arial"/>
              </a:rPr>
              <a:t>digitado;</a:t>
            </a:r>
            <a:endParaRPr sz="2536" dirty="0">
              <a:latin typeface="Arial"/>
              <a:cs typeface="Arial"/>
            </a:endParaRPr>
          </a:p>
          <a:p>
            <a:pPr marL="662984" lvl="1" indent="-332834">
              <a:spcBef>
                <a:spcPts val="1131"/>
              </a:spcBef>
              <a:buClr>
                <a:srgbClr val="00AC8C"/>
              </a:buClr>
              <a:buChar char="–"/>
              <a:tabLst>
                <a:tab pos="662984" algn="l"/>
              </a:tabLst>
            </a:pPr>
            <a:r>
              <a:rPr sz="2536" spc="-127" dirty="0">
                <a:latin typeface="Arial"/>
                <a:cs typeface="Arial"/>
              </a:rPr>
              <a:t>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16" dirty="0">
                <a:latin typeface="Arial"/>
                <a:cs typeface="Arial"/>
              </a:rPr>
              <a:t>número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137" dirty="0">
                <a:latin typeface="Arial"/>
                <a:cs typeface="Arial"/>
              </a:rPr>
              <a:t>elevado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211" dirty="0">
                <a:latin typeface="Arial"/>
                <a:cs typeface="Arial"/>
              </a:rPr>
              <a:t>a</a:t>
            </a:r>
            <a:r>
              <a:rPr sz="2536" spc="-32" dirty="0">
                <a:latin typeface="Arial"/>
                <a:cs typeface="Arial"/>
              </a:rPr>
              <a:t> </a:t>
            </a:r>
            <a:r>
              <a:rPr sz="2536" spc="-85" dirty="0">
                <a:latin typeface="Arial"/>
                <a:cs typeface="Arial"/>
              </a:rPr>
              <a:t>potência</a:t>
            </a:r>
            <a:r>
              <a:rPr sz="2536" spc="-42" dirty="0">
                <a:latin typeface="Arial"/>
                <a:cs typeface="Arial"/>
              </a:rPr>
              <a:t> </a:t>
            </a:r>
            <a:r>
              <a:rPr sz="2536" spc="-53" dirty="0">
                <a:latin typeface="Arial"/>
                <a:cs typeface="Arial"/>
              </a:rPr>
              <a:t>10;</a:t>
            </a:r>
            <a:endParaRPr sz="2536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480544"/>
              </p:ext>
            </p:extLst>
          </p:nvPr>
        </p:nvGraphicFramePr>
        <p:xfrm>
          <a:off x="372755" y="4840638"/>
          <a:ext cx="11501577" cy="1504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0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227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Método/Constante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4288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spc="45" dirty="0">
                          <a:latin typeface="Calibri"/>
                          <a:cs typeface="Calibri"/>
                        </a:rPr>
                        <a:t>Funcionalidade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4288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spc="85" dirty="0">
                          <a:latin typeface="Calibri"/>
                          <a:cs typeface="Calibri"/>
                        </a:rPr>
                        <a:t>Como</a:t>
                      </a:r>
                      <a:r>
                        <a:rPr sz="20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usar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4288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728">
                <a:tc>
                  <a:txBody>
                    <a:bodyPr/>
                    <a:lstStyle/>
                    <a:p>
                      <a:pPr marL="51435">
                        <a:lnSpc>
                          <a:spcPts val="1120"/>
                        </a:lnSpc>
                        <a:spcBef>
                          <a:spcPts val="15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Math.pow(double</a:t>
                      </a:r>
                      <a:r>
                        <a:rPr sz="20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75" dirty="0">
                          <a:latin typeface="Arial"/>
                          <a:cs typeface="Arial"/>
                        </a:rPr>
                        <a:t>base,</a:t>
                      </a:r>
                      <a:r>
                        <a:rPr sz="20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double</a:t>
                      </a:r>
                      <a:r>
                        <a:rPr sz="20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exp);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262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120"/>
                        </a:lnSpc>
                        <a:spcBef>
                          <a:spcPts val="15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calcula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uma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potência.</a:t>
                      </a:r>
                      <a:r>
                        <a:rPr sz="20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80" dirty="0">
                          <a:latin typeface="Arial"/>
                          <a:cs typeface="Arial"/>
                        </a:rPr>
                        <a:t>Base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45" dirty="0">
                          <a:latin typeface="Arial"/>
                          <a:cs typeface="Arial"/>
                        </a:rPr>
                        <a:t>elevada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5" dirty="0">
                          <a:latin typeface="Arial"/>
                          <a:cs typeface="Arial"/>
                        </a:rPr>
                        <a:t>ao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expoente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0262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120"/>
                        </a:lnSpc>
                        <a:spcBef>
                          <a:spcPts val="15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Math.pow(2,</a:t>
                      </a:r>
                      <a:r>
                        <a:rPr sz="20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10);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262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77">
                <a:tc>
                  <a:txBody>
                    <a:bodyPr/>
                    <a:lstStyle/>
                    <a:p>
                      <a:pPr marL="51435">
                        <a:lnSpc>
                          <a:spcPts val="105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Math.sqrt(double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v)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050"/>
                        </a:lnSpc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calcula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6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raiz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quadrada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um</a:t>
                      </a:r>
                      <a:r>
                        <a:rPr sz="20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valor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v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05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Math.sqrt(25);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33">
                <a:tc>
                  <a:txBody>
                    <a:bodyPr/>
                    <a:lstStyle/>
                    <a:p>
                      <a:pPr marL="51435">
                        <a:lnSpc>
                          <a:spcPts val="107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Math.PI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07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retorna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6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constante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110" dirty="0">
                          <a:latin typeface="Arial"/>
                          <a:cs typeface="Arial"/>
                        </a:rPr>
                        <a:t>π</a:t>
                      </a:r>
                      <a:r>
                        <a:rPr sz="2000" i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(3.1415)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07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Math.PI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983" y="6767517"/>
            <a:ext cx="12173957" cy="80524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206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 sz="3804"/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15385" y="2885881"/>
            <a:ext cx="8361229" cy="1086237"/>
          </a:xfrm>
        </p:spPr>
        <p:txBody>
          <a:bodyPr/>
          <a:lstStyle/>
          <a:p>
            <a:r>
              <a:rPr lang="pt-BR" sz="5400" dirty="0">
                <a:solidFill>
                  <a:schemeClr val="bg1"/>
                </a:solidFill>
              </a:rPr>
              <a:t>Obrigado!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94686" y="5365681"/>
            <a:ext cx="7205280" cy="1086237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Dr. Guilherme Duarte de Barros</a:t>
            </a:r>
          </a:p>
        </p:txBody>
      </p:sp>
      <p:pic>
        <p:nvPicPr>
          <p:cNvPr id="4" name="Picture 8" descr="Resultado de imagem para ícone e-mnail">
            <a:extLst>
              <a:ext uri="{FF2B5EF4-FFF2-40B4-BE49-F238E27FC236}">
                <a16:creationId xmlns:a16="http://schemas.microsoft.com/office/drawing/2014/main" id="{16FDF1DA-9C40-4F07-B135-0F74F9AC6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751" y="5539607"/>
            <a:ext cx="503777" cy="50377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479978710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ortar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{E900F7A4-3DB8-3144-926D-E48BE8D5CBA2}tf16401378</Template>
  <TotalTime>10901</TotalTime>
  <Words>3028</Words>
  <Application>Microsoft Office PowerPoint</Application>
  <PresentationFormat>Widescreen</PresentationFormat>
  <Paragraphs>637</Paragraphs>
  <Slides>65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65</vt:i4>
      </vt:variant>
    </vt:vector>
  </HeadingPairs>
  <TitlesOfParts>
    <vt:vector size="78" baseType="lpstr">
      <vt:lpstr>Arial Unicode MS</vt:lpstr>
      <vt:lpstr>PMingLiU</vt:lpstr>
      <vt:lpstr>Adobe Clean Han</vt:lpstr>
      <vt:lpstr>Arial</vt:lpstr>
      <vt:lpstr>BIZ UDGothic</vt:lpstr>
      <vt:lpstr>Calibri</vt:lpstr>
      <vt:lpstr>Candara</vt:lpstr>
      <vt:lpstr>Franklin Gothic Book</vt:lpstr>
      <vt:lpstr>Kepler Std Scn Capt</vt:lpstr>
      <vt:lpstr>Palatino Linotype</vt:lpstr>
      <vt:lpstr>Times New Roman</vt:lpstr>
      <vt:lpstr>Verdana</vt:lpstr>
      <vt:lpstr>Cortar</vt:lpstr>
      <vt:lpstr>Algoritmos e Programação I</vt:lpstr>
      <vt:lpstr>Tipos de dados, operadores e comandos de saída-entrada</vt:lpstr>
      <vt:lpstr>Agenda</vt:lpstr>
      <vt:lpstr>Apresentação do PowerPoint</vt:lpstr>
      <vt:lpstr>Tipos de dados  </vt:lpstr>
      <vt:lpstr>Tipos de dados</vt:lpstr>
      <vt:lpstr>Tipos de dados</vt:lpstr>
      <vt:lpstr>Será que entendi tudo?</vt:lpstr>
      <vt:lpstr>Operadores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Operadores Relacionais</vt:lpstr>
      <vt:lpstr>Apresentação do PowerPoint</vt:lpstr>
      <vt:lpstr>Apresentação do PowerPoint</vt:lpstr>
      <vt:lpstr>Operadores Lógicos</vt:lpstr>
      <vt:lpstr>Operadores Lógicos</vt:lpstr>
      <vt:lpstr>Operadores Lógicos</vt:lpstr>
      <vt:lpstr>Apresentação do PowerPoint</vt:lpstr>
      <vt:lpstr>Pense e reflita</vt:lpstr>
      <vt:lpstr>Variáveis</vt:lpstr>
      <vt:lpstr>Variáveis</vt:lpstr>
      <vt:lpstr>Regras para nomear variáveis</vt:lpstr>
      <vt:lpstr>Regras para nomear variáveis</vt:lpstr>
      <vt:lpstr>Será que entendi tudo?</vt:lpstr>
      <vt:lpstr>Estrutura de um programa/ comando de saída</vt:lpstr>
      <vt:lpstr>Estrutura de um programa Java</vt:lpstr>
      <vt:lpstr>Estrutura de um programa Java</vt:lpstr>
      <vt:lpstr>Apresentação do PowerPoint</vt:lpstr>
      <vt:lpstr>Saída</vt:lpstr>
      <vt:lpstr>Comando de saída</vt:lpstr>
      <vt:lpstr>Exercício 1</vt:lpstr>
      <vt:lpstr>Exercício 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Comando de Entrada</vt:lpstr>
      <vt:lpstr>Comando de entrada</vt:lpstr>
      <vt:lpstr>Comando de entrada</vt:lpstr>
      <vt:lpstr>Comando de entrada</vt:lpstr>
      <vt:lpstr>Comando de entrada</vt:lpstr>
      <vt:lpstr>Exemplo</vt:lpstr>
      <vt:lpstr>Exemplo</vt:lpstr>
      <vt:lpstr>Exemplo</vt:lpstr>
      <vt:lpstr>Apresentação do PowerPoint</vt:lpstr>
      <vt:lpstr>Exercício 4</vt:lpstr>
      <vt:lpstr>Exercício 5</vt:lpstr>
      <vt:lpstr>Exercícios</vt:lpstr>
      <vt:lpstr>Exercício 6</vt:lpstr>
      <vt:lpstr>Exercício 7</vt:lpstr>
      <vt:lpstr>Exercício 8</vt:lpstr>
      <vt:lpstr>Exercício 9</vt:lpstr>
      <vt:lpstr>Exercício 10</vt:lpstr>
      <vt:lpstr>Exercício 11</vt:lpstr>
      <vt:lpstr>Exercício 12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I</dc:title>
  <dc:creator>Carolina Elicker</dc:creator>
  <cp:lastModifiedBy>GUILHERME DUARTE DE BARROS</cp:lastModifiedBy>
  <cp:revision>265</cp:revision>
  <cp:lastPrinted>2018-08-06T18:14:56Z</cp:lastPrinted>
  <dcterms:created xsi:type="dcterms:W3CDTF">2018-02-12T14:56:57Z</dcterms:created>
  <dcterms:modified xsi:type="dcterms:W3CDTF">2026-02-25T11:13:04Z</dcterms:modified>
</cp:coreProperties>
</file>